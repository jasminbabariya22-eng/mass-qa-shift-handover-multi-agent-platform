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3"/>
  </p:notesMasterIdLst>
  <p:handoutMasterIdLst>
    <p:handoutMasterId r:id="rId74"/>
  </p:handoutMasterIdLst>
  <p:sldIdLst>
    <p:sldId id="379" r:id="rId2"/>
    <p:sldId id="266" r:id="rId3"/>
    <p:sldId id="341" r:id="rId4"/>
    <p:sldId id="353" r:id="rId5"/>
    <p:sldId id="351" r:id="rId6"/>
    <p:sldId id="270" r:id="rId7"/>
    <p:sldId id="271" r:id="rId8"/>
    <p:sldId id="355" r:id="rId9"/>
    <p:sldId id="360" r:id="rId10"/>
    <p:sldId id="359" r:id="rId11"/>
    <p:sldId id="361" r:id="rId12"/>
    <p:sldId id="362" r:id="rId13"/>
    <p:sldId id="363" r:id="rId14"/>
    <p:sldId id="364" r:id="rId15"/>
    <p:sldId id="365" r:id="rId16"/>
    <p:sldId id="272" r:id="rId17"/>
    <p:sldId id="273" r:id="rId18"/>
    <p:sldId id="274" r:id="rId19"/>
    <p:sldId id="357" r:id="rId20"/>
    <p:sldId id="275" r:id="rId21"/>
    <p:sldId id="276" r:id="rId22"/>
    <p:sldId id="328" r:id="rId23"/>
    <p:sldId id="280" r:id="rId24"/>
    <p:sldId id="281" r:id="rId25"/>
    <p:sldId id="282" r:id="rId26"/>
    <p:sldId id="334" r:id="rId27"/>
    <p:sldId id="284" r:id="rId28"/>
    <p:sldId id="285" r:id="rId29"/>
    <p:sldId id="330" r:id="rId30"/>
    <p:sldId id="331" r:id="rId31"/>
    <p:sldId id="332" r:id="rId32"/>
    <p:sldId id="289" r:id="rId33"/>
    <p:sldId id="327" r:id="rId34"/>
    <p:sldId id="290" r:id="rId35"/>
    <p:sldId id="367" r:id="rId36"/>
    <p:sldId id="335" r:id="rId37"/>
    <p:sldId id="336" r:id="rId38"/>
    <p:sldId id="294" r:id="rId39"/>
    <p:sldId id="295" r:id="rId40"/>
    <p:sldId id="377" r:id="rId41"/>
    <p:sldId id="337" r:id="rId42"/>
    <p:sldId id="296" r:id="rId43"/>
    <p:sldId id="297" r:id="rId44"/>
    <p:sldId id="298" r:id="rId45"/>
    <p:sldId id="299" r:id="rId46"/>
    <p:sldId id="300" r:id="rId47"/>
    <p:sldId id="301" r:id="rId48"/>
    <p:sldId id="302" r:id="rId49"/>
    <p:sldId id="303" r:id="rId50"/>
    <p:sldId id="304" r:id="rId51"/>
    <p:sldId id="339" r:id="rId52"/>
    <p:sldId id="340" r:id="rId53"/>
    <p:sldId id="312" r:id="rId54"/>
    <p:sldId id="313" r:id="rId55"/>
    <p:sldId id="342" r:id="rId56"/>
    <p:sldId id="310" r:id="rId57"/>
    <p:sldId id="345" r:id="rId58"/>
    <p:sldId id="305" r:id="rId59"/>
    <p:sldId id="306" r:id="rId60"/>
    <p:sldId id="307" r:id="rId61"/>
    <p:sldId id="320" r:id="rId62"/>
    <p:sldId id="321" r:id="rId63"/>
    <p:sldId id="346" r:id="rId64"/>
    <p:sldId id="378" r:id="rId65"/>
    <p:sldId id="347" r:id="rId66"/>
    <p:sldId id="356" r:id="rId67"/>
    <p:sldId id="375" r:id="rId68"/>
    <p:sldId id="376" r:id="rId69"/>
    <p:sldId id="371" r:id="rId70"/>
    <p:sldId id="372" r:id="rId71"/>
    <p:sldId id="267" r:id="rId7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30A0"/>
    <a:srgbClr val="00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50" autoAdjust="0"/>
    <p:restoredTop sz="98901" autoAdjust="0"/>
  </p:normalViewPr>
  <p:slideViewPr>
    <p:cSldViewPr>
      <p:cViewPr>
        <p:scale>
          <a:sx n="80" d="100"/>
          <a:sy n="80" d="100"/>
        </p:scale>
        <p:origin x="-924" y="-696"/>
      </p:cViewPr>
      <p:guideLst>
        <p:guide orient="horz" pos="2160"/>
        <p:guide pos="2880"/>
      </p:guideLst>
    </p:cSldViewPr>
  </p:slideViewPr>
  <p:notesTextViewPr>
    <p:cViewPr>
      <p:scale>
        <a:sx n="1" d="1"/>
        <a:sy n="1" d="1"/>
      </p:scale>
      <p:origin x="0" y="0"/>
    </p:cViewPr>
  </p:notesTextViewPr>
  <p:sorterViewPr>
    <p:cViewPr>
      <p:scale>
        <a:sx n="137" d="100"/>
        <a:sy n="137" d="100"/>
      </p:scale>
      <p:origin x="0" y="54264"/>
    </p:cViewPr>
  </p:sorterViewPr>
  <p:notesViewPr>
    <p:cSldViewPr>
      <p:cViewPr varScale="1">
        <p:scale>
          <a:sx n="80" d="100"/>
          <a:sy n="80" d="100"/>
        </p:scale>
        <p:origin x="-1974"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12.xml.rels><?xml version="1.0" encoding="UTF-8" standalone="yes"?>
<Relationships xmlns="http://schemas.openxmlformats.org/package/2006/relationships"><Relationship Id="rId1" Type="http://schemas.openxmlformats.org/officeDocument/2006/relationships/slide" Target="../slides/slide70.xml"/></Relationships>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8E1436-D228-43E6-83CA-3EB4AD4F8AAF}" type="doc">
      <dgm:prSet loTypeId="urn:microsoft.com/office/officeart/2005/8/layout/radial6" loCatId="cycle" qsTypeId="urn:microsoft.com/office/officeart/2005/8/quickstyle/simple1" qsCatId="simple" csTypeId="urn:microsoft.com/office/officeart/2005/8/colors/accent4_2" csCatId="accent4" phldr="1"/>
      <dgm:spPr/>
      <dgm:t>
        <a:bodyPr/>
        <a:lstStyle/>
        <a:p>
          <a:endParaRPr lang="en-GB"/>
        </a:p>
      </dgm:t>
    </dgm:pt>
    <dgm:pt modelId="{53DF4F22-9645-4CDD-B05D-EDB1F85D943C}">
      <dgm:prSet phldrT="[Text]" custT="1"/>
      <dgm:spPr/>
      <dgm:t>
        <a:bodyPr/>
        <a:lstStyle/>
        <a:p>
          <a:r>
            <a:rPr lang="en-GB" sz="1600" b="1" dirty="0" smtClean="0">
              <a:solidFill>
                <a:schemeClr val="bg1"/>
              </a:solidFill>
              <a:cs typeface="Arial" pitchFamily="34" charset="0"/>
            </a:rPr>
            <a:t>Reassess every 3-5 years</a:t>
          </a:r>
          <a:endParaRPr lang="en-GB" sz="1600" dirty="0"/>
        </a:p>
      </dgm:t>
    </dgm:pt>
    <dgm:pt modelId="{80C7D39B-13EE-4144-9DF9-439B6835864B}" type="parTrans" cxnId="{C2B7B6FB-319D-423D-BE85-303A00AF385A}">
      <dgm:prSet/>
      <dgm:spPr/>
      <dgm:t>
        <a:bodyPr/>
        <a:lstStyle/>
        <a:p>
          <a:endParaRPr lang="en-GB"/>
        </a:p>
      </dgm:t>
    </dgm:pt>
    <dgm:pt modelId="{542AAD01-80BD-4C1B-8BB8-3A92C1B9EC24}" type="sibTrans" cxnId="{C2B7B6FB-319D-423D-BE85-303A00AF385A}">
      <dgm:prSet/>
      <dgm:spPr/>
      <dgm:t>
        <a:bodyPr/>
        <a:lstStyle/>
        <a:p>
          <a:endParaRPr lang="en-GB"/>
        </a:p>
      </dgm:t>
    </dgm:pt>
    <dgm:pt modelId="{3D780161-382B-44BF-BB1B-1E0E771E40F4}">
      <dgm:prSet phldrT="[Text]" custT="1"/>
      <dgm:spPr/>
      <dgm:t>
        <a:bodyPr/>
        <a:lstStyle/>
        <a:p>
          <a:r>
            <a:rPr lang="en-GB" sz="1000" b="1" dirty="0" smtClean="0"/>
            <a:t>Assessment of reserves and capabilities</a:t>
          </a:r>
          <a:endParaRPr lang="en-GB" sz="1000" dirty="0"/>
        </a:p>
      </dgm:t>
    </dgm:pt>
    <dgm:pt modelId="{8C73E0BA-9ABB-47BD-866E-E0DE4EF3256A}" type="parTrans" cxnId="{44BC20C5-F162-4514-9AAD-59FCD4D116AC}">
      <dgm:prSet/>
      <dgm:spPr/>
      <dgm:t>
        <a:bodyPr/>
        <a:lstStyle/>
        <a:p>
          <a:endParaRPr lang="en-GB"/>
        </a:p>
      </dgm:t>
    </dgm:pt>
    <dgm:pt modelId="{E4932E0B-49A2-45A0-8BB6-77AD4E9283EB}" type="sibTrans" cxnId="{44BC20C5-F162-4514-9AAD-59FCD4D116AC}">
      <dgm:prSet/>
      <dgm:spPr/>
      <dgm:t>
        <a:bodyPr/>
        <a:lstStyle/>
        <a:p>
          <a:endParaRPr lang="en-GB"/>
        </a:p>
      </dgm:t>
    </dgm:pt>
    <dgm:pt modelId="{96F13883-9233-49E6-8CA9-334467DD5C1A}">
      <dgm:prSet phldrT="[Text]" custT="1"/>
      <dgm:spPr/>
      <dgm:t>
        <a:bodyPr/>
        <a:lstStyle/>
        <a:p>
          <a:r>
            <a:rPr lang="en-GB" sz="1000" b="1" dirty="0" smtClean="0">
              <a:solidFill>
                <a:schemeClr val="bg1"/>
              </a:solidFill>
            </a:rPr>
            <a:t>Policy objectives</a:t>
          </a:r>
        </a:p>
        <a:p>
          <a:r>
            <a:rPr lang="en-GB" sz="1000" dirty="0" smtClean="0">
              <a:solidFill>
                <a:schemeClr val="bg1"/>
              </a:solidFill>
            </a:rPr>
            <a:t>Prioritization and attribution of roles and responsibilities</a:t>
          </a:r>
          <a:endParaRPr lang="en-GB" sz="1000" dirty="0">
            <a:solidFill>
              <a:schemeClr val="bg1"/>
            </a:solidFill>
          </a:endParaRPr>
        </a:p>
      </dgm:t>
    </dgm:pt>
    <dgm:pt modelId="{2886AFC0-4AA4-414E-8716-56D8347CB48B}" type="parTrans" cxnId="{2FDD096F-5C91-4CB5-A446-48A52EE6080D}">
      <dgm:prSet/>
      <dgm:spPr/>
      <dgm:t>
        <a:bodyPr/>
        <a:lstStyle/>
        <a:p>
          <a:endParaRPr lang="en-GB"/>
        </a:p>
      </dgm:t>
    </dgm:pt>
    <dgm:pt modelId="{B13240FE-2692-4928-8BCD-115F13EDD59C}" type="sibTrans" cxnId="{2FDD096F-5C91-4CB5-A446-48A52EE6080D}">
      <dgm:prSet/>
      <dgm:spPr/>
      <dgm:t>
        <a:bodyPr/>
        <a:lstStyle/>
        <a:p>
          <a:endParaRPr lang="en-GB"/>
        </a:p>
      </dgm:t>
    </dgm:pt>
    <dgm:pt modelId="{88976C4F-0D76-44A1-9DE6-6E7FD0418555}">
      <dgm:prSet phldrT="[Text]"/>
      <dgm:spPr/>
      <dgm:t>
        <a:bodyPr/>
        <a:lstStyle/>
        <a:p>
          <a:r>
            <a:rPr lang="en-GB" b="1" dirty="0" smtClean="0">
              <a:solidFill>
                <a:schemeClr val="bg1"/>
              </a:solidFill>
            </a:rPr>
            <a:t>Enablers</a:t>
          </a:r>
          <a:br>
            <a:rPr lang="en-GB" b="1" dirty="0" smtClean="0">
              <a:solidFill>
                <a:schemeClr val="bg1"/>
              </a:solidFill>
            </a:rPr>
          </a:br>
          <a:r>
            <a:rPr lang="en-GB" dirty="0" smtClean="0">
              <a:solidFill>
                <a:schemeClr val="bg1"/>
              </a:solidFill>
            </a:rPr>
            <a:t>Financing, capabilities, autonomy,</a:t>
          </a:r>
          <a:br>
            <a:rPr lang="en-GB" dirty="0" smtClean="0">
              <a:solidFill>
                <a:schemeClr val="bg1"/>
              </a:solidFill>
            </a:rPr>
          </a:br>
          <a:r>
            <a:rPr lang="en-GB" dirty="0" smtClean="0">
              <a:solidFill>
                <a:schemeClr val="bg1"/>
              </a:solidFill>
            </a:rPr>
            <a:t>governance</a:t>
          </a:r>
          <a:endParaRPr lang="en-GB" dirty="0">
            <a:solidFill>
              <a:schemeClr val="bg1"/>
            </a:solidFill>
          </a:endParaRPr>
        </a:p>
      </dgm:t>
    </dgm:pt>
    <dgm:pt modelId="{FDE9394F-D6D9-4BB7-BAD7-83678441C50E}" type="parTrans" cxnId="{1399E71B-8F13-4C05-AEB8-D314A733D187}">
      <dgm:prSet/>
      <dgm:spPr/>
      <dgm:t>
        <a:bodyPr/>
        <a:lstStyle/>
        <a:p>
          <a:endParaRPr lang="en-GB"/>
        </a:p>
      </dgm:t>
    </dgm:pt>
    <dgm:pt modelId="{9B0D715D-E217-4AA6-BBEA-8A056779ECF4}" type="sibTrans" cxnId="{1399E71B-8F13-4C05-AEB8-D314A733D187}">
      <dgm:prSet/>
      <dgm:spPr/>
      <dgm:t>
        <a:bodyPr/>
        <a:lstStyle/>
        <a:p>
          <a:endParaRPr lang="en-GB"/>
        </a:p>
      </dgm:t>
    </dgm:pt>
    <dgm:pt modelId="{5B4E9560-0EFB-4308-9705-412115AC8BD4}">
      <dgm:prSet phldrT="[Text]" custT="1"/>
      <dgm:spPr/>
      <dgm:t>
        <a:bodyPr/>
        <a:lstStyle/>
        <a:p>
          <a:r>
            <a:rPr lang="en-GB" sz="1000" dirty="0" smtClean="0">
              <a:solidFill>
                <a:schemeClr val="bg1"/>
              </a:solidFill>
            </a:rPr>
            <a:t/>
          </a:r>
          <a:br>
            <a:rPr lang="en-GB" sz="1000" dirty="0" smtClean="0">
              <a:solidFill>
                <a:schemeClr val="bg1"/>
              </a:solidFill>
            </a:rPr>
          </a:br>
          <a:r>
            <a:rPr lang="en-GB" sz="1000" b="1" dirty="0" smtClean="0">
              <a:solidFill>
                <a:schemeClr val="bg1"/>
              </a:solidFill>
            </a:rPr>
            <a:t>Accountability</a:t>
          </a:r>
        </a:p>
        <a:p>
          <a:r>
            <a:rPr lang="en-GB" sz="1000" dirty="0" smtClean="0">
              <a:solidFill>
                <a:schemeClr val="bg1"/>
              </a:solidFill>
            </a:rPr>
            <a:t>Organisations held to account for performance</a:t>
          </a:r>
        </a:p>
        <a:p>
          <a:endParaRPr lang="en-GB" sz="900" dirty="0">
            <a:solidFill>
              <a:schemeClr val="bg1"/>
            </a:solidFill>
          </a:endParaRPr>
        </a:p>
      </dgm:t>
    </dgm:pt>
    <dgm:pt modelId="{988AB594-4FBE-4792-ACE4-AB0B86D85A23}" type="parTrans" cxnId="{E1E59EFD-7C8C-4FF9-9193-F7A560F9F52E}">
      <dgm:prSet/>
      <dgm:spPr/>
      <dgm:t>
        <a:bodyPr/>
        <a:lstStyle/>
        <a:p>
          <a:endParaRPr lang="en-GB"/>
        </a:p>
      </dgm:t>
    </dgm:pt>
    <dgm:pt modelId="{6C64FE8F-F2A7-47C8-ADE2-3B4D0FF307BC}" type="sibTrans" cxnId="{E1E59EFD-7C8C-4FF9-9193-F7A560F9F52E}">
      <dgm:prSet/>
      <dgm:spPr/>
      <dgm:t>
        <a:bodyPr/>
        <a:lstStyle/>
        <a:p>
          <a:endParaRPr lang="en-GB"/>
        </a:p>
      </dgm:t>
    </dgm:pt>
    <dgm:pt modelId="{AF431C8E-8A7D-4BBF-B52C-D4627AAFDC75}" type="pres">
      <dgm:prSet presAssocID="{058E1436-D228-43E6-83CA-3EB4AD4F8AAF}" presName="Name0" presStyleCnt="0">
        <dgm:presLayoutVars>
          <dgm:chMax val="1"/>
          <dgm:dir/>
          <dgm:animLvl val="ctr"/>
          <dgm:resizeHandles val="exact"/>
        </dgm:presLayoutVars>
      </dgm:prSet>
      <dgm:spPr/>
      <dgm:t>
        <a:bodyPr/>
        <a:lstStyle/>
        <a:p>
          <a:endParaRPr lang="en-GB"/>
        </a:p>
      </dgm:t>
    </dgm:pt>
    <dgm:pt modelId="{C96DDA88-2A99-4DF1-AFA1-BBDEF7F63E7B}" type="pres">
      <dgm:prSet presAssocID="{53DF4F22-9645-4CDD-B05D-EDB1F85D943C}" presName="centerShape" presStyleLbl="node0" presStyleIdx="0" presStyleCnt="1"/>
      <dgm:spPr/>
      <dgm:t>
        <a:bodyPr/>
        <a:lstStyle/>
        <a:p>
          <a:endParaRPr lang="en-GB"/>
        </a:p>
      </dgm:t>
    </dgm:pt>
    <dgm:pt modelId="{4598B228-212F-4608-9543-D7FD4543CE1D}" type="pres">
      <dgm:prSet presAssocID="{3D780161-382B-44BF-BB1B-1E0E771E40F4}" presName="node" presStyleLbl="node1" presStyleIdx="0" presStyleCnt="4" custScaleX="119413" custScaleY="118209">
        <dgm:presLayoutVars>
          <dgm:bulletEnabled val="1"/>
        </dgm:presLayoutVars>
      </dgm:prSet>
      <dgm:spPr/>
      <dgm:t>
        <a:bodyPr/>
        <a:lstStyle/>
        <a:p>
          <a:endParaRPr lang="en-GB"/>
        </a:p>
      </dgm:t>
    </dgm:pt>
    <dgm:pt modelId="{B391F951-D6CF-4319-86D9-165E9F3415B7}" type="pres">
      <dgm:prSet presAssocID="{3D780161-382B-44BF-BB1B-1E0E771E40F4}" presName="dummy" presStyleCnt="0"/>
      <dgm:spPr/>
    </dgm:pt>
    <dgm:pt modelId="{F26C1664-C312-4364-85B5-2315E15261B0}" type="pres">
      <dgm:prSet presAssocID="{E4932E0B-49A2-45A0-8BB6-77AD4E9283EB}" presName="sibTrans" presStyleLbl="sibTrans2D1" presStyleIdx="0" presStyleCnt="4"/>
      <dgm:spPr/>
      <dgm:t>
        <a:bodyPr/>
        <a:lstStyle/>
        <a:p>
          <a:endParaRPr lang="en-GB"/>
        </a:p>
      </dgm:t>
    </dgm:pt>
    <dgm:pt modelId="{55C7D89D-1F30-4F87-90B6-6AEE2797E5CC}" type="pres">
      <dgm:prSet presAssocID="{96F13883-9233-49E6-8CA9-334467DD5C1A}" presName="node" presStyleLbl="node1" presStyleIdx="1" presStyleCnt="4" custScaleX="160891" custScaleY="152838" custRadScaleRad="110674">
        <dgm:presLayoutVars>
          <dgm:bulletEnabled val="1"/>
        </dgm:presLayoutVars>
      </dgm:prSet>
      <dgm:spPr/>
      <dgm:t>
        <a:bodyPr/>
        <a:lstStyle/>
        <a:p>
          <a:endParaRPr lang="en-GB"/>
        </a:p>
      </dgm:t>
    </dgm:pt>
    <dgm:pt modelId="{EF873E99-8063-4178-8ED2-8AA440D1062C}" type="pres">
      <dgm:prSet presAssocID="{96F13883-9233-49E6-8CA9-334467DD5C1A}" presName="dummy" presStyleCnt="0"/>
      <dgm:spPr/>
    </dgm:pt>
    <dgm:pt modelId="{CFB5BD3D-F71F-4D20-AB75-14ED646BCBE5}" type="pres">
      <dgm:prSet presAssocID="{B13240FE-2692-4928-8BCD-115F13EDD59C}" presName="sibTrans" presStyleLbl="sibTrans2D1" presStyleIdx="1" presStyleCnt="4"/>
      <dgm:spPr/>
      <dgm:t>
        <a:bodyPr/>
        <a:lstStyle/>
        <a:p>
          <a:endParaRPr lang="en-GB"/>
        </a:p>
      </dgm:t>
    </dgm:pt>
    <dgm:pt modelId="{058E5EBB-5922-4A43-B54C-609D743D17D8}" type="pres">
      <dgm:prSet presAssocID="{88976C4F-0D76-44A1-9DE6-6E7FD0418555}" presName="node" presStyleLbl="node1" presStyleIdx="2" presStyleCnt="4" custScaleX="131865" custScaleY="135095" custRadScaleRad="103906">
        <dgm:presLayoutVars>
          <dgm:bulletEnabled val="1"/>
        </dgm:presLayoutVars>
      </dgm:prSet>
      <dgm:spPr/>
      <dgm:t>
        <a:bodyPr/>
        <a:lstStyle/>
        <a:p>
          <a:endParaRPr lang="en-GB"/>
        </a:p>
      </dgm:t>
    </dgm:pt>
    <dgm:pt modelId="{68C1058A-F6AC-4147-8FA7-B04E46E5B8DB}" type="pres">
      <dgm:prSet presAssocID="{88976C4F-0D76-44A1-9DE6-6E7FD0418555}" presName="dummy" presStyleCnt="0"/>
      <dgm:spPr/>
    </dgm:pt>
    <dgm:pt modelId="{AE7221D1-BD93-4438-A4CC-B5FDD409697F}" type="pres">
      <dgm:prSet presAssocID="{9B0D715D-E217-4AA6-BBEA-8A056779ECF4}" presName="sibTrans" presStyleLbl="sibTrans2D1" presStyleIdx="2" presStyleCnt="4"/>
      <dgm:spPr/>
      <dgm:t>
        <a:bodyPr/>
        <a:lstStyle/>
        <a:p>
          <a:endParaRPr lang="en-GB"/>
        </a:p>
      </dgm:t>
    </dgm:pt>
    <dgm:pt modelId="{D68AA82D-02D2-4EC6-AADD-F20E464D2485}" type="pres">
      <dgm:prSet presAssocID="{5B4E9560-0EFB-4308-9705-412115AC8BD4}" presName="node" presStyleLbl="node1" presStyleIdx="3" presStyleCnt="4" custScaleX="143879" custScaleY="145043" custRadScaleRad="108184">
        <dgm:presLayoutVars>
          <dgm:bulletEnabled val="1"/>
        </dgm:presLayoutVars>
      </dgm:prSet>
      <dgm:spPr/>
      <dgm:t>
        <a:bodyPr/>
        <a:lstStyle/>
        <a:p>
          <a:endParaRPr lang="en-GB"/>
        </a:p>
      </dgm:t>
    </dgm:pt>
    <dgm:pt modelId="{05EDC1E2-29DC-49F0-9329-6C6BA34FC598}" type="pres">
      <dgm:prSet presAssocID="{5B4E9560-0EFB-4308-9705-412115AC8BD4}" presName="dummy" presStyleCnt="0"/>
      <dgm:spPr/>
    </dgm:pt>
    <dgm:pt modelId="{BD3FD16D-75BA-4552-B96E-7C88EC0BB622}" type="pres">
      <dgm:prSet presAssocID="{6C64FE8F-F2A7-47C8-ADE2-3B4D0FF307BC}" presName="sibTrans" presStyleLbl="sibTrans2D1" presStyleIdx="3" presStyleCnt="4"/>
      <dgm:spPr/>
      <dgm:t>
        <a:bodyPr/>
        <a:lstStyle/>
        <a:p>
          <a:endParaRPr lang="en-GB"/>
        </a:p>
      </dgm:t>
    </dgm:pt>
  </dgm:ptLst>
  <dgm:cxnLst>
    <dgm:cxn modelId="{7CA9CE00-463A-4957-8343-C9329AD47401}" type="presOf" srcId="{058E1436-D228-43E6-83CA-3EB4AD4F8AAF}" destId="{AF431C8E-8A7D-4BBF-B52C-D4627AAFDC75}" srcOrd="0" destOrd="0" presId="urn:microsoft.com/office/officeart/2005/8/layout/radial6"/>
    <dgm:cxn modelId="{C2B7B6FB-319D-423D-BE85-303A00AF385A}" srcId="{058E1436-D228-43E6-83CA-3EB4AD4F8AAF}" destId="{53DF4F22-9645-4CDD-B05D-EDB1F85D943C}" srcOrd="0" destOrd="0" parTransId="{80C7D39B-13EE-4144-9DF9-439B6835864B}" sibTransId="{542AAD01-80BD-4C1B-8BB8-3A92C1B9EC24}"/>
    <dgm:cxn modelId="{35367CD4-5F04-47D3-9318-98DAE421F3AE}" type="presOf" srcId="{5B4E9560-0EFB-4308-9705-412115AC8BD4}" destId="{D68AA82D-02D2-4EC6-AADD-F20E464D2485}" srcOrd="0" destOrd="0" presId="urn:microsoft.com/office/officeart/2005/8/layout/radial6"/>
    <dgm:cxn modelId="{5E8F1B23-6086-4E53-8268-6E3716FE6735}" type="presOf" srcId="{9B0D715D-E217-4AA6-BBEA-8A056779ECF4}" destId="{AE7221D1-BD93-4438-A4CC-B5FDD409697F}" srcOrd="0" destOrd="0" presId="urn:microsoft.com/office/officeart/2005/8/layout/radial6"/>
    <dgm:cxn modelId="{3A09319D-7D33-405B-B033-D69E35F0B2B6}" type="presOf" srcId="{6C64FE8F-F2A7-47C8-ADE2-3B4D0FF307BC}" destId="{BD3FD16D-75BA-4552-B96E-7C88EC0BB622}" srcOrd="0" destOrd="0" presId="urn:microsoft.com/office/officeart/2005/8/layout/radial6"/>
    <dgm:cxn modelId="{17A2CA01-EF1A-40EC-B7B1-AF24A04AA2B9}" type="presOf" srcId="{53DF4F22-9645-4CDD-B05D-EDB1F85D943C}" destId="{C96DDA88-2A99-4DF1-AFA1-BBDEF7F63E7B}" srcOrd="0" destOrd="0" presId="urn:microsoft.com/office/officeart/2005/8/layout/radial6"/>
    <dgm:cxn modelId="{1399E71B-8F13-4C05-AEB8-D314A733D187}" srcId="{53DF4F22-9645-4CDD-B05D-EDB1F85D943C}" destId="{88976C4F-0D76-44A1-9DE6-6E7FD0418555}" srcOrd="2" destOrd="0" parTransId="{FDE9394F-D6D9-4BB7-BAD7-83678441C50E}" sibTransId="{9B0D715D-E217-4AA6-BBEA-8A056779ECF4}"/>
    <dgm:cxn modelId="{64C1C81C-026E-4ADA-BE91-8D4142D5C11A}" type="presOf" srcId="{96F13883-9233-49E6-8CA9-334467DD5C1A}" destId="{55C7D89D-1F30-4F87-90B6-6AEE2797E5CC}" srcOrd="0" destOrd="0" presId="urn:microsoft.com/office/officeart/2005/8/layout/radial6"/>
    <dgm:cxn modelId="{27615C62-4C96-45C8-BC52-C3923828DFF5}" type="presOf" srcId="{B13240FE-2692-4928-8BCD-115F13EDD59C}" destId="{CFB5BD3D-F71F-4D20-AB75-14ED646BCBE5}" srcOrd="0" destOrd="0" presId="urn:microsoft.com/office/officeart/2005/8/layout/radial6"/>
    <dgm:cxn modelId="{6C2C9B2C-32D4-4A7A-9959-65990CAA81B7}" type="presOf" srcId="{3D780161-382B-44BF-BB1B-1E0E771E40F4}" destId="{4598B228-212F-4608-9543-D7FD4543CE1D}" srcOrd="0" destOrd="0" presId="urn:microsoft.com/office/officeart/2005/8/layout/radial6"/>
    <dgm:cxn modelId="{616CF488-0753-48EC-890E-AEF57A73C871}" type="presOf" srcId="{E4932E0B-49A2-45A0-8BB6-77AD4E9283EB}" destId="{F26C1664-C312-4364-85B5-2315E15261B0}" srcOrd="0" destOrd="0" presId="urn:microsoft.com/office/officeart/2005/8/layout/radial6"/>
    <dgm:cxn modelId="{44BC20C5-F162-4514-9AAD-59FCD4D116AC}" srcId="{53DF4F22-9645-4CDD-B05D-EDB1F85D943C}" destId="{3D780161-382B-44BF-BB1B-1E0E771E40F4}" srcOrd="0" destOrd="0" parTransId="{8C73E0BA-9ABB-47BD-866E-E0DE4EF3256A}" sibTransId="{E4932E0B-49A2-45A0-8BB6-77AD4E9283EB}"/>
    <dgm:cxn modelId="{C41B501B-8B34-475F-8D60-156FEBC3BF2A}" type="presOf" srcId="{88976C4F-0D76-44A1-9DE6-6E7FD0418555}" destId="{058E5EBB-5922-4A43-B54C-609D743D17D8}" srcOrd="0" destOrd="0" presId="urn:microsoft.com/office/officeart/2005/8/layout/radial6"/>
    <dgm:cxn modelId="{E1E59EFD-7C8C-4FF9-9193-F7A560F9F52E}" srcId="{53DF4F22-9645-4CDD-B05D-EDB1F85D943C}" destId="{5B4E9560-0EFB-4308-9705-412115AC8BD4}" srcOrd="3" destOrd="0" parTransId="{988AB594-4FBE-4792-ACE4-AB0B86D85A23}" sibTransId="{6C64FE8F-F2A7-47C8-ADE2-3B4D0FF307BC}"/>
    <dgm:cxn modelId="{2FDD096F-5C91-4CB5-A446-48A52EE6080D}" srcId="{53DF4F22-9645-4CDD-B05D-EDB1F85D943C}" destId="{96F13883-9233-49E6-8CA9-334467DD5C1A}" srcOrd="1" destOrd="0" parTransId="{2886AFC0-4AA4-414E-8716-56D8347CB48B}" sibTransId="{B13240FE-2692-4928-8BCD-115F13EDD59C}"/>
    <dgm:cxn modelId="{739BF0C1-0D39-4166-805C-64797F3241F9}" type="presParOf" srcId="{AF431C8E-8A7D-4BBF-B52C-D4627AAFDC75}" destId="{C96DDA88-2A99-4DF1-AFA1-BBDEF7F63E7B}" srcOrd="0" destOrd="0" presId="urn:microsoft.com/office/officeart/2005/8/layout/radial6"/>
    <dgm:cxn modelId="{E2B0BD06-B9C4-48AB-BDC0-B535C75C7DB0}" type="presParOf" srcId="{AF431C8E-8A7D-4BBF-B52C-D4627AAFDC75}" destId="{4598B228-212F-4608-9543-D7FD4543CE1D}" srcOrd="1" destOrd="0" presId="urn:microsoft.com/office/officeart/2005/8/layout/radial6"/>
    <dgm:cxn modelId="{36D6F6F9-6947-46DB-8758-4C2EDA40488A}" type="presParOf" srcId="{AF431C8E-8A7D-4BBF-B52C-D4627AAFDC75}" destId="{B391F951-D6CF-4319-86D9-165E9F3415B7}" srcOrd="2" destOrd="0" presId="urn:microsoft.com/office/officeart/2005/8/layout/radial6"/>
    <dgm:cxn modelId="{C08613A3-FBE5-4E9B-8C42-17D00CE9BADB}" type="presParOf" srcId="{AF431C8E-8A7D-4BBF-B52C-D4627AAFDC75}" destId="{F26C1664-C312-4364-85B5-2315E15261B0}" srcOrd="3" destOrd="0" presId="urn:microsoft.com/office/officeart/2005/8/layout/radial6"/>
    <dgm:cxn modelId="{80DE700A-7024-4CC6-B527-93C137596F4E}" type="presParOf" srcId="{AF431C8E-8A7D-4BBF-B52C-D4627AAFDC75}" destId="{55C7D89D-1F30-4F87-90B6-6AEE2797E5CC}" srcOrd="4" destOrd="0" presId="urn:microsoft.com/office/officeart/2005/8/layout/radial6"/>
    <dgm:cxn modelId="{42400967-A3D8-46E0-8135-E638ABD8552C}" type="presParOf" srcId="{AF431C8E-8A7D-4BBF-B52C-D4627AAFDC75}" destId="{EF873E99-8063-4178-8ED2-8AA440D1062C}" srcOrd="5" destOrd="0" presId="urn:microsoft.com/office/officeart/2005/8/layout/radial6"/>
    <dgm:cxn modelId="{25A36AAF-14A1-4ED3-9B61-6695D70920DE}" type="presParOf" srcId="{AF431C8E-8A7D-4BBF-B52C-D4627AAFDC75}" destId="{CFB5BD3D-F71F-4D20-AB75-14ED646BCBE5}" srcOrd="6" destOrd="0" presId="urn:microsoft.com/office/officeart/2005/8/layout/radial6"/>
    <dgm:cxn modelId="{CDCE7890-D3A2-42C2-98AD-46925BC6C58A}" type="presParOf" srcId="{AF431C8E-8A7D-4BBF-B52C-D4627AAFDC75}" destId="{058E5EBB-5922-4A43-B54C-609D743D17D8}" srcOrd="7" destOrd="0" presId="urn:microsoft.com/office/officeart/2005/8/layout/radial6"/>
    <dgm:cxn modelId="{B84C3610-AEE1-4FBB-965A-4646DA3C2E99}" type="presParOf" srcId="{AF431C8E-8A7D-4BBF-B52C-D4627AAFDC75}" destId="{68C1058A-F6AC-4147-8FA7-B04E46E5B8DB}" srcOrd="8" destOrd="0" presId="urn:microsoft.com/office/officeart/2005/8/layout/radial6"/>
    <dgm:cxn modelId="{AE33C904-E26A-448C-BD66-815225FA260A}" type="presParOf" srcId="{AF431C8E-8A7D-4BBF-B52C-D4627AAFDC75}" destId="{AE7221D1-BD93-4438-A4CC-B5FDD409697F}" srcOrd="9" destOrd="0" presId="urn:microsoft.com/office/officeart/2005/8/layout/radial6"/>
    <dgm:cxn modelId="{39E392F5-A91D-48F5-A2F2-138515477577}" type="presParOf" srcId="{AF431C8E-8A7D-4BBF-B52C-D4627AAFDC75}" destId="{D68AA82D-02D2-4EC6-AADD-F20E464D2485}" srcOrd="10" destOrd="0" presId="urn:microsoft.com/office/officeart/2005/8/layout/radial6"/>
    <dgm:cxn modelId="{27C7C707-DBCD-4655-A1AD-88798A788F65}" type="presParOf" srcId="{AF431C8E-8A7D-4BBF-B52C-D4627AAFDC75}" destId="{05EDC1E2-29DC-49F0-9329-6C6BA34FC598}" srcOrd="11" destOrd="0" presId="urn:microsoft.com/office/officeart/2005/8/layout/radial6"/>
    <dgm:cxn modelId="{065C6DFC-E027-4276-B283-7E0C2CE1055D}" type="presParOf" srcId="{AF431C8E-8A7D-4BBF-B52C-D4627AAFDC75}" destId="{BD3FD16D-75BA-4552-B96E-7C88EC0BB622}" srcOrd="12"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4F8096-41ED-DE4C-BED1-E2ACC9F9CE0F}" type="doc">
      <dgm:prSet loTypeId="urn:microsoft.com/office/officeart/2005/8/layout/balance1" loCatId="" qsTypeId="urn:microsoft.com/office/officeart/2005/8/quickstyle/simple1" qsCatId="simple" csTypeId="urn:microsoft.com/office/officeart/2005/8/colors/accent2_2" csCatId="accent2" phldr="1"/>
      <dgm:spPr/>
      <dgm:t>
        <a:bodyPr/>
        <a:lstStyle/>
        <a:p>
          <a:endParaRPr lang="en-US"/>
        </a:p>
      </dgm:t>
    </dgm:pt>
    <dgm:pt modelId="{A9B0D4AE-6B42-D64D-B43F-243B138097F4}">
      <dgm:prSet phldrT="[Text]" custT="1"/>
      <dgm:spPr>
        <a:solidFill>
          <a:schemeClr val="bg1">
            <a:lumMod val="85000"/>
            <a:alpha val="90000"/>
          </a:schemeClr>
        </a:solidFill>
      </dgm:spPr>
      <dgm:t>
        <a:bodyPr/>
        <a:lstStyle/>
        <a:p>
          <a:r>
            <a:rPr lang="en-US" sz="1500" dirty="0" smtClean="0"/>
            <a:t>Stimulates local industry</a:t>
          </a:r>
          <a:endParaRPr lang="en-US" sz="1500" dirty="0"/>
        </a:p>
      </dgm:t>
    </dgm:pt>
    <dgm:pt modelId="{5155B28F-4A6F-E146-9957-44017349FFEF}" type="parTrans" cxnId="{821868F7-F3CA-704D-9E2D-7927C4F9FD69}">
      <dgm:prSet/>
      <dgm:spPr/>
      <dgm:t>
        <a:bodyPr/>
        <a:lstStyle/>
        <a:p>
          <a:endParaRPr lang="en-US"/>
        </a:p>
      </dgm:t>
    </dgm:pt>
    <dgm:pt modelId="{9605D653-84BF-7349-AE7B-BC90FFE4370A}" type="sibTrans" cxnId="{821868F7-F3CA-704D-9E2D-7927C4F9FD69}">
      <dgm:prSet/>
      <dgm:spPr/>
      <dgm:t>
        <a:bodyPr/>
        <a:lstStyle/>
        <a:p>
          <a:endParaRPr lang="en-US"/>
        </a:p>
      </dgm:t>
    </dgm:pt>
    <dgm:pt modelId="{330DDAA6-9B9E-1544-8E38-7679BDAD4B3A}">
      <dgm:prSet phldrT="[Text]"/>
      <dgm:spPr>
        <a:solidFill>
          <a:srgbClr val="006699"/>
        </a:solidFill>
      </dgm:spPr>
      <dgm:t>
        <a:bodyPr/>
        <a:lstStyle/>
        <a:p>
          <a:r>
            <a:rPr lang="en-US" dirty="0" smtClean="0"/>
            <a:t>National participation in sector</a:t>
          </a:r>
          <a:endParaRPr lang="en-US" dirty="0"/>
        </a:p>
      </dgm:t>
    </dgm:pt>
    <dgm:pt modelId="{E7F15B7A-C03C-CA40-B15D-6287996C649E}" type="parTrans" cxnId="{AD9D3000-B102-E843-BB47-D8ADEB8EABF4}">
      <dgm:prSet/>
      <dgm:spPr/>
      <dgm:t>
        <a:bodyPr/>
        <a:lstStyle/>
        <a:p>
          <a:endParaRPr lang="en-US"/>
        </a:p>
      </dgm:t>
    </dgm:pt>
    <dgm:pt modelId="{FAF07116-11D4-254E-9408-2EA40F94BE2A}" type="sibTrans" cxnId="{AD9D3000-B102-E843-BB47-D8ADEB8EABF4}">
      <dgm:prSet/>
      <dgm:spPr/>
      <dgm:t>
        <a:bodyPr/>
        <a:lstStyle/>
        <a:p>
          <a:endParaRPr lang="en-US"/>
        </a:p>
      </dgm:t>
    </dgm:pt>
    <dgm:pt modelId="{6326CC70-3F91-4F4A-9DB6-BD9F87EE90B3}">
      <dgm:prSet phldrT="[Text]" custT="1"/>
      <dgm:spPr>
        <a:solidFill>
          <a:schemeClr val="bg1">
            <a:lumMod val="85000"/>
            <a:alpha val="90000"/>
          </a:schemeClr>
        </a:solidFill>
      </dgm:spPr>
      <dgm:t>
        <a:bodyPr/>
        <a:lstStyle/>
        <a:p>
          <a:r>
            <a:rPr lang="en-US" sz="1500" dirty="0" smtClean="0"/>
            <a:t>Possible Dutch disease</a:t>
          </a:r>
          <a:endParaRPr lang="en-US" sz="1500" dirty="0"/>
        </a:p>
      </dgm:t>
    </dgm:pt>
    <dgm:pt modelId="{779280C2-4675-5E42-A675-A91483218AF5}" type="parTrans" cxnId="{CD3DD68F-CF49-6C4C-8B00-07D82317540B}">
      <dgm:prSet/>
      <dgm:spPr/>
      <dgm:t>
        <a:bodyPr/>
        <a:lstStyle/>
        <a:p>
          <a:endParaRPr lang="en-US"/>
        </a:p>
      </dgm:t>
    </dgm:pt>
    <dgm:pt modelId="{28F07264-2530-7F4A-8BDD-2AF475C388BF}" type="sibTrans" cxnId="{CD3DD68F-CF49-6C4C-8B00-07D82317540B}">
      <dgm:prSet/>
      <dgm:spPr/>
      <dgm:t>
        <a:bodyPr/>
        <a:lstStyle/>
        <a:p>
          <a:endParaRPr lang="en-US"/>
        </a:p>
      </dgm:t>
    </dgm:pt>
    <dgm:pt modelId="{E90AB614-A012-8244-A4AD-2F9E55A5D645}">
      <dgm:prSet phldrT="[Text]"/>
      <dgm:spPr>
        <a:solidFill>
          <a:srgbClr val="006699"/>
        </a:solidFill>
      </dgm:spPr>
      <dgm:t>
        <a:bodyPr/>
        <a:lstStyle/>
        <a:p>
          <a:r>
            <a:rPr lang="en-US" dirty="0" smtClean="0"/>
            <a:t>↑ energy consumption</a:t>
          </a:r>
          <a:endParaRPr lang="en-US" dirty="0"/>
        </a:p>
      </dgm:t>
    </dgm:pt>
    <dgm:pt modelId="{72CA5406-C257-F843-B195-EDD38871F12D}" type="parTrans" cxnId="{B170A6B4-D440-4442-9AFF-21EDE70AC4EE}">
      <dgm:prSet/>
      <dgm:spPr/>
      <dgm:t>
        <a:bodyPr/>
        <a:lstStyle/>
        <a:p>
          <a:endParaRPr lang="en-US"/>
        </a:p>
      </dgm:t>
    </dgm:pt>
    <dgm:pt modelId="{E3E55FED-CCC8-8042-931E-CAF696FF5D8C}" type="sibTrans" cxnId="{B170A6B4-D440-4442-9AFF-21EDE70AC4EE}">
      <dgm:prSet/>
      <dgm:spPr/>
      <dgm:t>
        <a:bodyPr/>
        <a:lstStyle/>
        <a:p>
          <a:endParaRPr lang="en-US"/>
        </a:p>
      </dgm:t>
    </dgm:pt>
    <dgm:pt modelId="{9F4D56BD-29BE-4D47-BA62-A29180DFBD0C}" type="pres">
      <dgm:prSet presAssocID="{9D4F8096-41ED-DE4C-BED1-E2ACC9F9CE0F}" presName="outerComposite" presStyleCnt="0">
        <dgm:presLayoutVars>
          <dgm:chMax val="2"/>
          <dgm:animLvl val="lvl"/>
          <dgm:resizeHandles val="exact"/>
        </dgm:presLayoutVars>
      </dgm:prSet>
      <dgm:spPr/>
      <dgm:t>
        <a:bodyPr/>
        <a:lstStyle/>
        <a:p>
          <a:endParaRPr lang="en-US"/>
        </a:p>
      </dgm:t>
    </dgm:pt>
    <dgm:pt modelId="{B8512CC8-C509-A84C-8D7B-25E9DF19AAFA}" type="pres">
      <dgm:prSet presAssocID="{9D4F8096-41ED-DE4C-BED1-E2ACC9F9CE0F}" presName="dummyMaxCanvas" presStyleCnt="0"/>
      <dgm:spPr/>
    </dgm:pt>
    <dgm:pt modelId="{E96AEB81-09E1-DB46-9BE4-0D381A7DA98D}" type="pres">
      <dgm:prSet presAssocID="{9D4F8096-41ED-DE4C-BED1-E2ACC9F9CE0F}" presName="parentComposite" presStyleCnt="0"/>
      <dgm:spPr/>
    </dgm:pt>
    <dgm:pt modelId="{B34DE702-05BD-7746-846C-31FFD74AA418}" type="pres">
      <dgm:prSet presAssocID="{9D4F8096-41ED-DE4C-BED1-E2ACC9F9CE0F}" presName="parent1" presStyleLbl="alignAccFollowNode1" presStyleIdx="0" presStyleCnt="4" custScaleX="94863" custScaleY="117678" custLinFactY="9115" custLinFactNeighborX="-90253" custLinFactNeighborY="100000">
        <dgm:presLayoutVars>
          <dgm:chMax val="4"/>
        </dgm:presLayoutVars>
      </dgm:prSet>
      <dgm:spPr/>
      <dgm:t>
        <a:bodyPr/>
        <a:lstStyle/>
        <a:p>
          <a:endParaRPr lang="en-US"/>
        </a:p>
      </dgm:t>
    </dgm:pt>
    <dgm:pt modelId="{21CB3FE9-9334-FE4A-B256-E1EDDDC1264C}" type="pres">
      <dgm:prSet presAssocID="{9D4F8096-41ED-DE4C-BED1-E2ACC9F9CE0F}" presName="parent2" presStyleLbl="alignAccFollowNode1" presStyleIdx="1" presStyleCnt="4" custScaleY="106138" custLinFactY="13534" custLinFactNeighborX="86488" custLinFactNeighborY="100000">
        <dgm:presLayoutVars>
          <dgm:chMax val="4"/>
        </dgm:presLayoutVars>
      </dgm:prSet>
      <dgm:spPr/>
      <dgm:t>
        <a:bodyPr/>
        <a:lstStyle/>
        <a:p>
          <a:endParaRPr lang="en-US"/>
        </a:p>
      </dgm:t>
    </dgm:pt>
    <dgm:pt modelId="{0BED7882-2456-D64F-9399-A342F49F0B28}" type="pres">
      <dgm:prSet presAssocID="{9D4F8096-41ED-DE4C-BED1-E2ACC9F9CE0F}" presName="childrenComposite" presStyleCnt="0"/>
      <dgm:spPr/>
    </dgm:pt>
    <dgm:pt modelId="{AACC2726-9954-3F48-811C-93B2D3C52B22}" type="pres">
      <dgm:prSet presAssocID="{9D4F8096-41ED-DE4C-BED1-E2ACC9F9CE0F}" presName="dummyMaxCanvas_ChildArea" presStyleCnt="0"/>
      <dgm:spPr/>
    </dgm:pt>
    <dgm:pt modelId="{F8AAD5CC-CD24-1949-8D9A-05F36DE35359}" type="pres">
      <dgm:prSet presAssocID="{9D4F8096-41ED-DE4C-BED1-E2ACC9F9CE0F}" presName="fulcrum" presStyleLbl="alignAccFollowNode1" presStyleIdx="2" presStyleCnt="4"/>
      <dgm:spPr>
        <a:solidFill>
          <a:schemeClr val="bg1">
            <a:lumMod val="85000"/>
            <a:alpha val="90000"/>
          </a:schemeClr>
        </a:solidFill>
      </dgm:spPr>
      <dgm:t>
        <a:bodyPr/>
        <a:lstStyle/>
        <a:p>
          <a:endParaRPr lang="en-GB"/>
        </a:p>
      </dgm:t>
    </dgm:pt>
    <dgm:pt modelId="{5CEFDA7B-9F44-A34A-884E-BF6A9ED1CAB0}" type="pres">
      <dgm:prSet presAssocID="{9D4F8096-41ED-DE4C-BED1-E2ACC9F9CE0F}" presName="balance_11" presStyleLbl="alignAccFollowNode1" presStyleIdx="3" presStyleCnt="4" custScaleX="171882" custScaleY="112475">
        <dgm:presLayoutVars>
          <dgm:bulletEnabled val="1"/>
        </dgm:presLayoutVars>
      </dgm:prSet>
      <dgm:spPr>
        <a:solidFill>
          <a:schemeClr val="bg1">
            <a:lumMod val="85000"/>
            <a:alpha val="90000"/>
          </a:schemeClr>
        </a:solidFill>
      </dgm:spPr>
      <dgm:t>
        <a:bodyPr/>
        <a:lstStyle/>
        <a:p>
          <a:endParaRPr lang="en-GB"/>
        </a:p>
      </dgm:t>
    </dgm:pt>
    <dgm:pt modelId="{2BBAA51B-0145-2640-A0B1-DFCD7E073408}" type="pres">
      <dgm:prSet presAssocID="{9D4F8096-41ED-DE4C-BED1-E2ACC9F9CE0F}" presName="left_11_1" presStyleLbl="node1" presStyleIdx="0" presStyleCnt="2" custScaleY="50816" custLinFactNeighborX="-92630" custLinFactNeighborY="16650">
        <dgm:presLayoutVars>
          <dgm:bulletEnabled val="1"/>
        </dgm:presLayoutVars>
      </dgm:prSet>
      <dgm:spPr/>
      <dgm:t>
        <a:bodyPr/>
        <a:lstStyle/>
        <a:p>
          <a:endParaRPr lang="en-US"/>
        </a:p>
      </dgm:t>
    </dgm:pt>
    <dgm:pt modelId="{30416E8E-C506-0543-8405-255F618FB726}" type="pres">
      <dgm:prSet presAssocID="{9D4F8096-41ED-DE4C-BED1-E2ACC9F9CE0F}" presName="right_11_1" presStyleLbl="node1" presStyleIdx="1" presStyleCnt="2" custScaleY="50816" custLinFactNeighborX="85204" custLinFactNeighborY="16650">
        <dgm:presLayoutVars>
          <dgm:bulletEnabled val="1"/>
        </dgm:presLayoutVars>
      </dgm:prSet>
      <dgm:spPr/>
      <dgm:t>
        <a:bodyPr/>
        <a:lstStyle/>
        <a:p>
          <a:endParaRPr lang="en-US"/>
        </a:p>
      </dgm:t>
    </dgm:pt>
  </dgm:ptLst>
  <dgm:cxnLst>
    <dgm:cxn modelId="{0BF3DA47-59CD-4172-B0C9-B67D7D152A23}" type="presOf" srcId="{6326CC70-3F91-4F4A-9DB6-BD9F87EE90B3}" destId="{21CB3FE9-9334-FE4A-B256-E1EDDDC1264C}" srcOrd="0" destOrd="0" presId="urn:microsoft.com/office/officeart/2005/8/layout/balance1"/>
    <dgm:cxn modelId="{AD9D3000-B102-E843-BB47-D8ADEB8EABF4}" srcId="{A9B0D4AE-6B42-D64D-B43F-243B138097F4}" destId="{330DDAA6-9B9E-1544-8E38-7679BDAD4B3A}" srcOrd="0" destOrd="0" parTransId="{E7F15B7A-C03C-CA40-B15D-6287996C649E}" sibTransId="{FAF07116-11D4-254E-9408-2EA40F94BE2A}"/>
    <dgm:cxn modelId="{FD01BE89-C34F-43FC-9DC6-DA3D23A58FF7}" type="presOf" srcId="{9D4F8096-41ED-DE4C-BED1-E2ACC9F9CE0F}" destId="{9F4D56BD-29BE-4D47-BA62-A29180DFBD0C}" srcOrd="0" destOrd="0" presId="urn:microsoft.com/office/officeart/2005/8/layout/balance1"/>
    <dgm:cxn modelId="{00C5086C-EDFA-4E49-9509-A37EE32CDCC5}" type="presOf" srcId="{330DDAA6-9B9E-1544-8E38-7679BDAD4B3A}" destId="{2BBAA51B-0145-2640-A0B1-DFCD7E073408}" srcOrd="0" destOrd="0" presId="urn:microsoft.com/office/officeart/2005/8/layout/balance1"/>
    <dgm:cxn modelId="{04E016F6-3E27-48C3-AC36-1833CA603BC5}" type="presOf" srcId="{A9B0D4AE-6B42-D64D-B43F-243B138097F4}" destId="{B34DE702-05BD-7746-846C-31FFD74AA418}" srcOrd="0" destOrd="0" presId="urn:microsoft.com/office/officeart/2005/8/layout/balance1"/>
    <dgm:cxn modelId="{8F4F4B19-F2AB-4E35-AECB-35E70DF13FE2}" type="presOf" srcId="{E90AB614-A012-8244-A4AD-2F9E55A5D645}" destId="{30416E8E-C506-0543-8405-255F618FB726}" srcOrd="0" destOrd="0" presId="urn:microsoft.com/office/officeart/2005/8/layout/balance1"/>
    <dgm:cxn modelId="{CD3DD68F-CF49-6C4C-8B00-07D82317540B}" srcId="{9D4F8096-41ED-DE4C-BED1-E2ACC9F9CE0F}" destId="{6326CC70-3F91-4F4A-9DB6-BD9F87EE90B3}" srcOrd="1" destOrd="0" parTransId="{779280C2-4675-5E42-A675-A91483218AF5}" sibTransId="{28F07264-2530-7F4A-8BDD-2AF475C388BF}"/>
    <dgm:cxn modelId="{B170A6B4-D440-4442-9AFF-21EDE70AC4EE}" srcId="{6326CC70-3F91-4F4A-9DB6-BD9F87EE90B3}" destId="{E90AB614-A012-8244-A4AD-2F9E55A5D645}" srcOrd="0" destOrd="0" parTransId="{72CA5406-C257-F843-B195-EDD38871F12D}" sibTransId="{E3E55FED-CCC8-8042-931E-CAF696FF5D8C}"/>
    <dgm:cxn modelId="{821868F7-F3CA-704D-9E2D-7927C4F9FD69}" srcId="{9D4F8096-41ED-DE4C-BED1-E2ACC9F9CE0F}" destId="{A9B0D4AE-6B42-D64D-B43F-243B138097F4}" srcOrd="0" destOrd="0" parTransId="{5155B28F-4A6F-E146-9957-44017349FFEF}" sibTransId="{9605D653-84BF-7349-AE7B-BC90FFE4370A}"/>
    <dgm:cxn modelId="{E9EA65BA-CC5A-422A-B32B-B36787CB8D21}" type="presParOf" srcId="{9F4D56BD-29BE-4D47-BA62-A29180DFBD0C}" destId="{B8512CC8-C509-A84C-8D7B-25E9DF19AAFA}" srcOrd="0" destOrd="0" presId="urn:microsoft.com/office/officeart/2005/8/layout/balance1"/>
    <dgm:cxn modelId="{F66E0D5A-DAA1-48A9-B873-35EA8E9265F7}" type="presParOf" srcId="{9F4D56BD-29BE-4D47-BA62-A29180DFBD0C}" destId="{E96AEB81-09E1-DB46-9BE4-0D381A7DA98D}" srcOrd="1" destOrd="0" presId="urn:microsoft.com/office/officeart/2005/8/layout/balance1"/>
    <dgm:cxn modelId="{F01D56F6-7B79-4AC1-BB24-DD8E86A7C00C}" type="presParOf" srcId="{E96AEB81-09E1-DB46-9BE4-0D381A7DA98D}" destId="{B34DE702-05BD-7746-846C-31FFD74AA418}" srcOrd="0" destOrd="0" presId="urn:microsoft.com/office/officeart/2005/8/layout/balance1"/>
    <dgm:cxn modelId="{E97478DF-D269-412A-81F0-0471A4C380E8}" type="presParOf" srcId="{E96AEB81-09E1-DB46-9BE4-0D381A7DA98D}" destId="{21CB3FE9-9334-FE4A-B256-E1EDDDC1264C}" srcOrd="1" destOrd="0" presId="urn:microsoft.com/office/officeart/2005/8/layout/balance1"/>
    <dgm:cxn modelId="{866C0B3C-6C65-42DF-949C-DAD3F78193B7}" type="presParOf" srcId="{9F4D56BD-29BE-4D47-BA62-A29180DFBD0C}" destId="{0BED7882-2456-D64F-9399-A342F49F0B28}" srcOrd="2" destOrd="0" presId="urn:microsoft.com/office/officeart/2005/8/layout/balance1"/>
    <dgm:cxn modelId="{A90D694B-5628-4416-943D-6EDBCD2C2CF1}" type="presParOf" srcId="{0BED7882-2456-D64F-9399-A342F49F0B28}" destId="{AACC2726-9954-3F48-811C-93B2D3C52B22}" srcOrd="0" destOrd="0" presId="urn:microsoft.com/office/officeart/2005/8/layout/balance1"/>
    <dgm:cxn modelId="{D03C86B5-A991-4374-B00B-2CFCEA2F8E0C}" type="presParOf" srcId="{0BED7882-2456-D64F-9399-A342F49F0B28}" destId="{F8AAD5CC-CD24-1949-8D9A-05F36DE35359}" srcOrd="1" destOrd="0" presId="urn:microsoft.com/office/officeart/2005/8/layout/balance1"/>
    <dgm:cxn modelId="{CD91A000-2D59-4CCC-AEDB-7237A2E98DA4}" type="presParOf" srcId="{0BED7882-2456-D64F-9399-A342F49F0B28}" destId="{5CEFDA7B-9F44-A34A-884E-BF6A9ED1CAB0}" srcOrd="2" destOrd="0" presId="urn:microsoft.com/office/officeart/2005/8/layout/balance1"/>
    <dgm:cxn modelId="{4955BCCD-1E4F-4E30-9877-4A504BEB1CD4}" type="presParOf" srcId="{0BED7882-2456-D64F-9399-A342F49F0B28}" destId="{2BBAA51B-0145-2640-A0B1-DFCD7E073408}" srcOrd="3" destOrd="0" presId="urn:microsoft.com/office/officeart/2005/8/layout/balance1"/>
    <dgm:cxn modelId="{8EC5D33F-77AC-4A28-9E01-5D2C88AE61BA}" type="presParOf" srcId="{0BED7882-2456-D64F-9399-A342F49F0B28}" destId="{30416E8E-C506-0543-8405-255F618FB726}" srcOrd="4" destOrd="0" presId="urn:microsoft.com/office/officeart/2005/8/layout/balance1"/>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9D9079B-6A06-4987-8F98-8500465E0831}" type="doc">
      <dgm:prSet loTypeId="urn:microsoft.com/office/officeart/2005/8/layout/radial4" loCatId="relationship" qsTypeId="urn:microsoft.com/office/officeart/2005/8/quickstyle/simple2" qsCatId="simple" csTypeId="urn:microsoft.com/office/officeart/2005/8/colors/accent1_2" csCatId="accent1" phldr="1"/>
      <dgm:spPr/>
      <dgm:t>
        <a:bodyPr/>
        <a:lstStyle/>
        <a:p>
          <a:endParaRPr lang="en-US"/>
        </a:p>
      </dgm:t>
    </dgm:pt>
    <dgm:pt modelId="{F50CAE95-5032-49A0-BB4E-AD7D952687B2}">
      <dgm:prSet phldrT="[Text]" custT="1"/>
      <dgm:spPr/>
      <dgm:t>
        <a:bodyPr/>
        <a:lstStyle/>
        <a:p>
          <a:r>
            <a:rPr lang="en-US" sz="1500" dirty="0" smtClean="0"/>
            <a:t>Implementation</a:t>
          </a:r>
          <a:endParaRPr lang="en-US" sz="1500" dirty="0"/>
        </a:p>
      </dgm:t>
    </dgm:pt>
    <dgm:pt modelId="{0E9870FF-E734-4106-89F6-0811AB1E3D4B}" type="parTrans" cxnId="{85572A53-1012-4DDA-B98D-ADB930012AE8}">
      <dgm:prSet/>
      <dgm:spPr/>
      <dgm:t>
        <a:bodyPr/>
        <a:lstStyle/>
        <a:p>
          <a:endParaRPr lang="en-US"/>
        </a:p>
      </dgm:t>
    </dgm:pt>
    <dgm:pt modelId="{7005F4A8-C867-414B-9279-E20D1FAAB8DF}" type="sibTrans" cxnId="{85572A53-1012-4DDA-B98D-ADB930012AE8}">
      <dgm:prSet/>
      <dgm:spPr/>
      <dgm:t>
        <a:bodyPr/>
        <a:lstStyle/>
        <a:p>
          <a:endParaRPr lang="en-US"/>
        </a:p>
      </dgm:t>
    </dgm:pt>
    <dgm:pt modelId="{12209EE5-BF4F-4D44-B424-D26DF5875949}">
      <dgm:prSet phldrT="[Text]"/>
      <dgm:spPr/>
      <dgm:t>
        <a:bodyPr/>
        <a:lstStyle/>
        <a:p>
          <a:r>
            <a:rPr lang="en-US" dirty="0" smtClean="0"/>
            <a:t>Electoral cycles</a:t>
          </a:r>
          <a:endParaRPr lang="en-US" dirty="0"/>
        </a:p>
      </dgm:t>
    </dgm:pt>
    <dgm:pt modelId="{3DF48DDB-FF3D-4D0E-9323-428138426599}" type="parTrans" cxnId="{0C3FE0DA-9796-4828-A6B0-C13E70307796}">
      <dgm:prSet/>
      <dgm:spPr/>
      <dgm:t>
        <a:bodyPr/>
        <a:lstStyle/>
        <a:p>
          <a:endParaRPr lang="en-US"/>
        </a:p>
      </dgm:t>
    </dgm:pt>
    <dgm:pt modelId="{614C0029-3A43-480B-A476-9121B0F742ED}" type="sibTrans" cxnId="{0C3FE0DA-9796-4828-A6B0-C13E70307796}">
      <dgm:prSet/>
      <dgm:spPr/>
      <dgm:t>
        <a:bodyPr/>
        <a:lstStyle/>
        <a:p>
          <a:endParaRPr lang="en-US"/>
        </a:p>
      </dgm:t>
    </dgm:pt>
    <dgm:pt modelId="{EDF8C5CC-63C9-4616-A0E5-5C4C6E0B7E30}">
      <dgm:prSet phldrT="[Text]"/>
      <dgm:spPr/>
      <dgm:t>
        <a:bodyPr/>
        <a:lstStyle/>
        <a:p>
          <a:r>
            <a:rPr lang="en-US" dirty="0" smtClean="0"/>
            <a:t>Corruption</a:t>
          </a:r>
          <a:endParaRPr lang="en-US" dirty="0"/>
        </a:p>
      </dgm:t>
    </dgm:pt>
    <dgm:pt modelId="{555C46F4-07C2-4B83-93D1-5F64C445EC54}" type="parTrans" cxnId="{B0BBAC82-422D-4E01-8879-A98FEEF12A2D}">
      <dgm:prSet/>
      <dgm:spPr/>
      <dgm:t>
        <a:bodyPr/>
        <a:lstStyle/>
        <a:p>
          <a:endParaRPr lang="en-US"/>
        </a:p>
      </dgm:t>
    </dgm:pt>
    <dgm:pt modelId="{13852286-B8D7-4708-9386-EA1F8E1084A5}" type="sibTrans" cxnId="{B0BBAC82-422D-4E01-8879-A98FEEF12A2D}">
      <dgm:prSet/>
      <dgm:spPr/>
      <dgm:t>
        <a:bodyPr/>
        <a:lstStyle/>
        <a:p>
          <a:endParaRPr lang="en-US"/>
        </a:p>
      </dgm:t>
    </dgm:pt>
    <dgm:pt modelId="{4EDDBF52-0A64-4ED0-B4F8-C2E7AC62361D}">
      <dgm:prSet phldrT="[Text]"/>
      <dgm:spPr/>
      <dgm:t>
        <a:bodyPr/>
        <a:lstStyle/>
        <a:p>
          <a:r>
            <a:rPr lang="en-US" dirty="0" smtClean="0"/>
            <a:t>Changing development needs</a:t>
          </a:r>
          <a:endParaRPr lang="en-US" dirty="0"/>
        </a:p>
      </dgm:t>
    </dgm:pt>
    <dgm:pt modelId="{53819E2A-DF0D-41AC-8E43-1CC5936FA58C}" type="parTrans" cxnId="{4DC22EA9-49B2-4655-8324-3FD4E23000F8}">
      <dgm:prSet/>
      <dgm:spPr/>
      <dgm:t>
        <a:bodyPr/>
        <a:lstStyle/>
        <a:p>
          <a:endParaRPr lang="en-US"/>
        </a:p>
      </dgm:t>
    </dgm:pt>
    <dgm:pt modelId="{944DBDD2-5516-4110-9903-6CD78F7B2CAE}" type="sibTrans" cxnId="{4DC22EA9-49B2-4655-8324-3FD4E23000F8}">
      <dgm:prSet/>
      <dgm:spPr/>
      <dgm:t>
        <a:bodyPr/>
        <a:lstStyle/>
        <a:p>
          <a:endParaRPr lang="en-US"/>
        </a:p>
      </dgm:t>
    </dgm:pt>
    <dgm:pt modelId="{14FC7AC7-C08B-4A58-A9A3-79005C3423CD}">
      <dgm:prSet phldrT="[Text]"/>
      <dgm:spPr/>
      <dgm:t>
        <a:bodyPr/>
        <a:lstStyle/>
        <a:p>
          <a:r>
            <a:rPr lang="en-US" dirty="0" smtClean="0"/>
            <a:t>Institutions at crossed purpose</a:t>
          </a:r>
          <a:endParaRPr lang="en-US" dirty="0"/>
        </a:p>
      </dgm:t>
    </dgm:pt>
    <dgm:pt modelId="{738FAD2B-37E1-4F00-8784-20F7E7A2FD89}" type="parTrans" cxnId="{A29D6F11-CBE8-4628-B5B4-3487C216DB1D}">
      <dgm:prSet/>
      <dgm:spPr/>
      <dgm:t>
        <a:bodyPr/>
        <a:lstStyle/>
        <a:p>
          <a:endParaRPr lang="en-US"/>
        </a:p>
      </dgm:t>
    </dgm:pt>
    <dgm:pt modelId="{BA14DD86-432A-4BDF-AA49-2C0DB434B9AB}" type="sibTrans" cxnId="{A29D6F11-CBE8-4628-B5B4-3487C216DB1D}">
      <dgm:prSet/>
      <dgm:spPr/>
      <dgm:t>
        <a:bodyPr/>
        <a:lstStyle/>
        <a:p>
          <a:endParaRPr lang="en-US"/>
        </a:p>
      </dgm:t>
    </dgm:pt>
    <dgm:pt modelId="{97D84987-1AD0-4E18-A8AD-B83433DB7671}">
      <dgm:prSet phldrT="[Text]"/>
      <dgm:spPr/>
      <dgm:t>
        <a:bodyPr/>
        <a:lstStyle/>
        <a:p>
          <a:r>
            <a:rPr lang="en-US" dirty="0" smtClean="0"/>
            <a:t>Limited capacities</a:t>
          </a:r>
          <a:endParaRPr lang="en-US" dirty="0"/>
        </a:p>
      </dgm:t>
    </dgm:pt>
    <dgm:pt modelId="{74F412AD-DA22-4230-8107-E577B5ECAB79}" type="parTrans" cxnId="{A586259D-BE73-4226-A5CB-1798F61FB17F}">
      <dgm:prSet/>
      <dgm:spPr/>
      <dgm:t>
        <a:bodyPr/>
        <a:lstStyle/>
        <a:p>
          <a:endParaRPr lang="en-US"/>
        </a:p>
      </dgm:t>
    </dgm:pt>
    <dgm:pt modelId="{D93CEBDE-115F-435B-92AA-5856D9B0F6FC}" type="sibTrans" cxnId="{A586259D-BE73-4226-A5CB-1798F61FB17F}">
      <dgm:prSet/>
      <dgm:spPr/>
      <dgm:t>
        <a:bodyPr/>
        <a:lstStyle/>
        <a:p>
          <a:endParaRPr lang="en-US"/>
        </a:p>
      </dgm:t>
    </dgm:pt>
    <dgm:pt modelId="{E594902E-F788-42F3-ABE0-249A51FD5157}" type="pres">
      <dgm:prSet presAssocID="{E9D9079B-6A06-4987-8F98-8500465E0831}" presName="cycle" presStyleCnt="0">
        <dgm:presLayoutVars>
          <dgm:chMax val="1"/>
          <dgm:dir/>
          <dgm:animLvl val="ctr"/>
          <dgm:resizeHandles val="exact"/>
        </dgm:presLayoutVars>
      </dgm:prSet>
      <dgm:spPr/>
      <dgm:t>
        <a:bodyPr/>
        <a:lstStyle/>
        <a:p>
          <a:endParaRPr lang="en-US"/>
        </a:p>
      </dgm:t>
    </dgm:pt>
    <dgm:pt modelId="{331BE11C-67ED-449B-BCC4-AB1FEA39D7CC}" type="pres">
      <dgm:prSet presAssocID="{F50CAE95-5032-49A0-BB4E-AD7D952687B2}" presName="centerShape" presStyleLbl="node0" presStyleIdx="0" presStyleCnt="1" custScaleX="113972" custScaleY="110384"/>
      <dgm:spPr/>
      <dgm:t>
        <a:bodyPr/>
        <a:lstStyle/>
        <a:p>
          <a:endParaRPr lang="en-US"/>
        </a:p>
      </dgm:t>
    </dgm:pt>
    <dgm:pt modelId="{A3AB1F7D-9BE1-4E7B-8437-EB7640AE7EF4}" type="pres">
      <dgm:prSet presAssocID="{3DF48DDB-FF3D-4D0E-9323-428138426599}" presName="parTrans" presStyleLbl="bgSibTrans2D1" presStyleIdx="0" presStyleCnt="5"/>
      <dgm:spPr/>
      <dgm:t>
        <a:bodyPr/>
        <a:lstStyle/>
        <a:p>
          <a:endParaRPr lang="en-US"/>
        </a:p>
      </dgm:t>
    </dgm:pt>
    <dgm:pt modelId="{1EEF6026-A11D-4B39-A823-8A63C8F9F5C5}" type="pres">
      <dgm:prSet presAssocID="{12209EE5-BF4F-4D44-B424-D26DF5875949}" presName="node" presStyleLbl="node1" presStyleIdx="0" presStyleCnt="5" custScaleX="87518" custScaleY="70414">
        <dgm:presLayoutVars>
          <dgm:bulletEnabled val="1"/>
        </dgm:presLayoutVars>
      </dgm:prSet>
      <dgm:spPr/>
      <dgm:t>
        <a:bodyPr/>
        <a:lstStyle/>
        <a:p>
          <a:endParaRPr lang="en-US"/>
        </a:p>
      </dgm:t>
    </dgm:pt>
    <dgm:pt modelId="{89E01693-60C9-481E-90F3-CD0B1BC36AD0}" type="pres">
      <dgm:prSet presAssocID="{555C46F4-07C2-4B83-93D1-5F64C445EC54}" presName="parTrans" presStyleLbl="bgSibTrans2D1" presStyleIdx="1" presStyleCnt="5"/>
      <dgm:spPr/>
      <dgm:t>
        <a:bodyPr/>
        <a:lstStyle/>
        <a:p>
          <a:endParaRPr lang="en-US"/>
        </a:p>
      </dgm:t>
    </dgm:pt>
    <dgm:pt modelId="{8F6F6FB8-3FA6-448C-B2D8-384EDB729110}" type="pres">
      <dgm:prSet presAssocID="{EDF8C5CC-63C9-4616-A0E5-5C4C6E0B7E30}" presName="node" presStyleLbl="node1" presStyleIdx="1" presStyleCnt="5" custScaleX="83992" custScaleY="75138">
        <dgm:presLayoutVars>
          <dgm:bulletEnabled val="1"/>
        </dgm:presLayoutVars>
      </dgm:prSet>
      <dgm:spPr/>
      <dgm:t>
        <a:bodyPr/>
        <a:lstStyle/>
        <a:p>
          <a:endParaRPr lang="en-US"/>
        </a:p>
      </dgm:t>
    </dgm:pt>
    <dgm:pt modelId="{DDA22110-70A0-4538-9B46-36449E34F8E7}" type="pres">
      <dgm:prSet presAssocID="{53819E2A-DF0D-41AC-8E43-1CC5936FA58C}" presName="parTrans" presStyleLbl="bgSibTrans2D1" presStyleIdx="2" presStyleCnt="5"/>
      <dgm:spPr/>
      <dgm:t>
        <a:bodyPr/>
        <a:lstStyle/>
        <a:p>
          <a:endParaRPr lang="en-US"/>
        </a:p>
      </dgm:t>
    </dgm:pt>
    <dgm:pt modelId="{1692C3E1-00C1-474F-B6F3-7103FC7F81E6}" type="pres">
      <dgm:prSet presAssocID="{4EDDBF52-0A64-4ED0-B4F8-C2E7AC62361D}" presName="node" presStyleLbl="node1" presStyleIdx="2" presStyleCnt="5" custScaleX="87772" custScaleY="80487">
        <dgm:presLayoutVars>
          <dgm:bulletEnabled val="1"/>
        </dgm:presLayoutVars>
      </dgm:prSet>
      <dgm:spPr/>
      <dgm:t>
        <a:bodyPr/>
        <a:lstStyle/>
        <a:p>
          <a:endParaRPr lang="en-US"/>
        </a:p>
      </dgm:t>
    </dgm:pt>
    <dgm:pt modelId="{D909AA1D-85C9-423F-AF81-F873F41D0CAF}" type="pres">
      <dgm:prSet presAssocID="{738FAD2B-37E1-4F00-8784-20F7E7A2FD89}" presName="parTrans" presStyleLbl="bgSibTrans2D1" presStyleIdx="3" presStyleCnt="5"/>
      <dgm:spPr/>
      <dgm:t>
        <a:bodyPr/>
        <a:lstStyle/>
        <a:p>
          <a:endParaRPr lang="en-US"/>
        </a:p>
      </dgm:t>
    </dgm:pt>
    <dgm:pt modelId="{3BBF2DF5-2BC1-4CCC-B9CD-E5EAD2920BE8}" type="pres">
      <dgm:prSet presAssocID="{14FC7AC7-C08B-4A58-A9A3-79005C3423CD}" presName="node" presStyleLbl="node1" presStyleIdx="3" presStyleCnt="5" custScaleX="84405" custScaleY="75327" custRadScaleRad="98964" custRadScaleInc="-187">
        <dgm:presLayoutVars>
          <dgm:bulletEnabled val="1"/>
        </dgm:presLayoutVars>
      </dgm:prSet>
      <dgm:spPr/>
      <dgm:t>
        <a:bodyPr/>
        <a:lstStyle/>
        <a:p>
          <a:endParaRPr lang="en-US"/>
        </a:p>
      </dgm:t>
    </dgm:pt>
    <dgm:pt modelId="{3BDF2F7B-B19B-4C78-B57C-609424970FD8}" type="pres">
      <dgm:prSet presAssocID="{74F412AD-DA22-4230-8107-E577B5ECAB79}" presName="parTrans" presStyleLbl="bgSibTrans2D1" presStyleIdx="4" presStyleCnt="5"/>
      <dgm:spPr/>
      <dgm:t>
        <a:bodyPr/>
        <a:lstStyle/>
        <a:p>
          <a:endParaRPr lang="en-US"/>
        </a:p>
      </dgm:t>
    </dgm:pt>
    <dgm:pt modelId="{8816CFFC-F85B-4E5A-BF3D-CA5F69042192}" type="pres">
      <dgm:prSet presAssocID="{97D84987-1AD0-4E18-A8AD-B83433DB7671}" presName="node" presStyleLbl="node1" presStyleIdx="4" presStyleCnt="5" custScaleX="79132" custScaleY="76859">
        <dgm:presLayoutVars>
          <dgm:bulletEnabled val="1"/>
        </dgm:presLayoutVars>
      </dgm:prSet>
      <dgm:spPr/>
      <dgm:t>
        <a:bodyPr/>
        <a:lstStyle/>
        <a:p>
          <a:endParaRPr lang="en-US"/>
        </a:p>
      </dgm:t>
    </dgm:pt>
  </dgm:ptLst>
  <dgm:cxnLst>
    <dgm:cxn modelId="{9DE5E81E-289A-4CD5-B9C0-3DC5D8037EB7}" type="presOf" srcId="{97D84987-1AD0-4E18-A8AD-B83433DB7671}" destId="{8816CFFC-F85B-4E5A-BF3D-CA5F69042192}" srcOrd="0" destOrd="0" presId="urn:microsoft.com/office/officeart/2005/8/layout/radial4"/>
    <dgm:cxn modelId="{938405C3-1CD3-42E0-8478-E66607EFC148}" type="presOf" srcId="{555C46F4-07C2-4B83-93D1-5F64C445EC54}" destId="{89E01693-60C9-481E-90F3-CD0B1BC36AD0}" srcOrd="0" destOrd="0" presId="urn:microsoft.com/office/officeart/2005/8/layout/radial4"/>
    <dgm:cxn modelId="{86482910-FC36-4E01-8AFF-EF55F36BF4DF}" type="presOf" srcId="{14FC7AC7-C08B-4A58-A9A3-79005C3423CD}" destId="{3BBF2DF5-2BC1-4CCC-B9CD-E5EAD2920BE8}" srcOrd="0" destOrd="0" presId="urn:microsoft.com/office/officeart/2005/8/layout/radial4"/>
    <dgm:cxn modelId="{C24835DC-21C4-4CAF-8054-EF969F341F01}" type="presOf" srcId="{E9D9079B-6A06-4987-8F98-8500465E0831}" destId="{E594902E-F788-42F3-ABE0-249A51FD5157}" srcOrd="0" destOrd="0" presId="urn:microsoft.com/office/officeart/2005/8/layout/radial4"/>
    <dgm:cxn modelId="{0C3FE0DA-9796-4828-A6B0-C13E70307796}" srcId="{F50CAE95-5032-49A0-BB4E-AD7D952687B2}" destId="{12209EE5-BF4F-4D44-B424-D26DF5875949}" srcOrd="0" destOrd="0" parTransId="{3DF48DDB-FF3D-4D0E-9323-428138426599}" sibTransId="{614C0029-3A43-480B-A476-9121B0F742ED}"/>
    <dgm:cxn modelId="{8CF92277-B855-4215-96BD-D7135CE79903}" type="presOf" srcId="{3DF48DDB-FF3D-4D0E-9323-428138426599}" destId="{A3AB1F7D-9BE1-4E7B-8437-EB7640AE7EF4}" srcOrd="0" destOrd="0" presId="urn:microsoft.com/office/officeart/2005/8/layout/radial4"/>
    <dgm:cxn modelId="{85572A53-1012-4DDA-B98D-ADB930012AE8}" srcId="{E9D9079B-6A06-4987-8F98-8500465E0831}" destId="{F50CAE95-5032-49A0-BB4E-AD7D952687B2}" srcOrd="0" destOrd="0" parTransId="{0E9870FF-E734-4106-89F6-0811AB1E3D4B}" sibTransId="{7005F4A8-C867-414B-9279-E20D1FAAB8DF}"/>
    <dgm:cxn modelId="{4DC22EA9-49B2-4655-8324-3FD4E23000F8}" srcId="{F50CAE95-5032-49A0-BB4E-AD7D952687B2}" destId="{4EDDBF52-0A64-4ED0-B4F8-C2E7AC62361D}" srcOrd="2" destOrd="0" parTransId="{53819E2A-DF0D-41AC-8E43-1CC5936FA58C}" sibTransId="{944DBDD2-5516-4110-9903-6CD78F7B2CAE}"/>
    <dgm:cxn modelId="{912C7A07-F04A-4FD1-8C41-CCD83DA9666A}" type="presOf" srcId="{74F412AD-DA22-4230-8107-E577B5ECAB79}" destId="{3BDF2F7B-B19B-4C78-B57C-609424970FD8}" srcOrd="0" destOrd="0" presId="urn:microsoft.com/office/officeart/2005/8/layout/radial4"/>
    <dgm:cxn modelId="{104A25E9-8234-43AE-9993-D2F0E091D90E}" type="presOf" srcId="{F50CAE95-5032-49A0-BB4E-AD7D952687B2}" destId="{331BE11C-67ED-449B-BCC4-AB1FEA39D7CC}" srcOrd="0" destOrd="0" presId="urn:microsoft.com/office/officeart/2005/8/layout/radial4"/>
    <dgm:cxn modelId="{B0BBAC82-422D-4E01-8879-A98FEEF12A2D}" srcId="{F50CAE95-5032-49A0-BB4E-AD7D952687B2}" destId="{EDF8C5CC-63C9-4616-A0E5-5C4C6E0B7E30}" srcOrd="1" destOrd="0" parTransId="{555C46F4-07C2-4B83-93D1-5F64C445EC54}" sibTransId="{13852286-B8D7-4708-9386-EA1F8E1084A5}"/>
    <dgm:cxn modelId="{A586259D-BE73-4226-A5CB-1798F61FB17F}" srcId="{F50CAE95-5032-49A0-BB4E-AD7D952687B2}" destId="{97D84987-1AD0-4E18-A8AD-B83433DB7671}" srcOrd="4" destOrd="0" parTransId="{74F412AD-DA22-4230-8107-E577B5ECAB79}" sibTransId="{D93CEBDE-115F-435B-92AA-5856D9B0F6FC}"/>
    <dgm:cxn modelId="{A29D6F11-CBE8-4628-B5B4-3487C216DB1D}" srcId="{F50CAE95-5032-49A0-BB4E-AD7D952687B2}" destId="{14FC7AC7-C08B-4A58-A9A3-79005C3423CD}" srcOrd="3" destOrd="0" parTransId="{738FAD2B-37E1-4F00-8784-20F7E7A2FD89}" sibTransId="{BA14DD86-432A-4BDF-AA49-2C0DB434B9AB}"/>
    <dgm:cxn modelId="{DA3A1C89-8780-4355-BE48-088DE0C9CDEF}" type="presOf" srcId="{53819E2A-DF0D-41AC-8E43-1CC5936FA58C}" destId="{DDA22110-70A0-4538-9B46-36449E34F8E7}" srcOrd="0" destOrd="0" presId="urn:microsoft.com/office/officeart/2005/8/layout/radial4"/>
    <dgm:cxn modelId="{6DEC27A7-471E-4C06-845B-335424F71A0F}" type="presOf" srcId="{12209EE5-BF4F-4D44-B424-D26DF5875949}" destId="{1EEF6026-A11D-4B39-A823-8A63C8F9F5C5}" srcOrd="0" destOrd="0" presId="urn:microsoft.com/office/officeart/2005/8/layout/radial4"/>
    <dgm:cxn modelId="{EE7FA2A3-039F-40BD-B26B-4E79A83BEAD3}" type="presOf" srcId="{4EDDBF52-0A64-4ED0-B4F8-C2E7AC62361D}" destId="{1692C3E1-00C1-474F-B6F3-7103FC7F81E6}" srcOrd="0" destOrd="0" presId="urn:microsoft.com/office/officeart/2005/8/layout/radial4"/>
    <dgm:cxn modelId="{C802623E-148F-442C-811B-FD8DAD6934AD}" type="presOf" srcId="{EDF8C5CC-63C9-4616-A0E5-5C4C6E0B7E30}" destId="{8F6F6FB8-3FA6-448C-B2D8-384EDB729110}" srcOrd="0" destOrd="0" presId="urn:microsoft.com/office/officeart/2005/8/layout/radial4"/>
    <dgm:cxn modelId="{3FB652EC-659B-4751-A554-8387D6B4C5F4}" type="presOf" srcId="{738FAD2B-37E1-4F00-8784-20F7E7A2FD89}" destId="{D909AA1D-85C9-423F-AF81-F873F41D0CAF}" srcOrd="0" destOrd="0" presId="urn:microsoft.com/office/officeart/2005/8/layout/radial4"/>
    <dgm:cxn modelId="{B52CE4EB-9B77-49F6-8156-C3B1D4C026D3}" type="presParOf" srcId="{E594902E-F788-42F3-ABE0-249A51FD5157}" destId="{331BE11C-67ED-449B-BCC4-AB1FEA39D7CC}" srcOrd="0" destOrd="0" presId="urn:microsoft.com/office/officeart/2005/8/layout/radial4"/>
    <dgm:cxn modelId="{21942217-F90D-4344-A4B4-4F414F069081}" type="presParOf" srcId="{E594902E-F788-42F3-ABE0-249A51FD5157}" destId="{A3AB1F7D-9BE1-4E7B-8437-EB7640AE7EF4}" srcOrd="1" destOrd="0" presId="urn:microsoft.com/office/officeart/2005/8/layout/radial4"/>
    <dgm:cxn modelId="{7C8BD494-1571-4321-9E7D-56CF97E58E3C}" type="presParOf" srcId="{E594902E-F788-42F3-ABE0-249A51FD5157}" destId="{1EEF6026-A11D-4B39-A823-8A63C8F9F5C5}" srcOrd="2" destOrd="0" presId="urn:microsoft.com/office/officeart/2005/8/layout/radial4"/>
    <dgm:cxn modelId="{45A72389-CEA7-4961-B5B5-88BE046AFD7E}" type="presParOf" srcId="{E594902E-F788-42F3-ABE0-249A51FD5157}" destId="{89E01693-60C9-481E-90F3-CD0B1BC36AD0}" srcOrd="3" destOrd="0" presId="urn:microsoft.com/office/officeart/2005/8/layout/radial4"/>
    <dgm:cxn modelId="{C2573BCC-C969-467A-8658-9EE04FC4AC06}" type="presParOf" srcId="{E594902E-F788-42F3-ABE0-249A51FD5157}" destId="{8F6F6FB8-3FA6-448C-B2D8-384EDB729110}" srcOrd="4" destOrd="0" presId="urn:microsoft.com/office/officeart/2005/8/layout/radial4"/>
    <dgm:cxn modelId="{C4937BEA-299E-46E2-91E6-88C1458AD028}" type="presParOf" srcId="{E594902E-F788-42F3-ABE0-249A51FD5157}" destId="{DDA22110-70A0-4538-9B46-36449E34F8E7}" srcOrd="5" destOrd="0" presId="urn:microsoft.com/office/officeart/2005/8/layout/radial4"/>
    <dgm:cxn modelId="{C1DB1DDA-0BBF-4CDB-A6BF-B0542E303257}" type="presParOf" srcId="{E594902E-F788-42F3-ABE0-249A51FD5157}" destId="{1692C3E1-00C1-474F-B6F3-7103FC7F81E6}" srcOrd="6" destOrd="0" presId="urn:microsoft.com/office/officeart/2005/8/layout/radial4"/>
    <dgm:cxn modelId="{9806C262-BD97-474E-932B-CA41FDC8A59E}" type="presParOf" srcId="{E594902E-F788-42F3-ABE0-249A51FD5157}" destId="{D909AA1D-85C9-423F-AF81-F873F41D0CAF}" srcOrd="7" destOrd="0" presId="urn:microsoft.com/office/officeart/2005/8/layout/radial4"/>
    <dgm:cxn modelId="{C7EF22A3-7417-4676-BB9E-AB0D904A73A9}" type="presParOf" srcId="{E594902E-F788-42F3-ABE0-249A51FD5157}" destId="{3BBF2DF5-2BC1-4CCC-B9CD-E5EAD2920BE8}" srcOrd="8" destOrd="0" presId="urn:microsoft.com/office/officeart/2005/8/layout/radial4"/>
    <dgm:cxn modelId="{4E27A738-FFA7-4105-AF49-8F8084BDFB13}" type="presParOf" srcId="{E594902E-F788-42F3-ABE0-249A51FD5157}" destId="{3BDF2F7B-B19B-4C78-B57C-609424970FD8}" srcOrd="9" destOrd="0" presId="urn:microsoft.com/office/officeart/2005/8/layout/radial4"/>
    <dgm:cxn modelId="{6147FFAE-269C-4A62-994B-EC8976B5BA72}" type="presParOf" srcId="{E594902E-F788-42F3-ABE0-249A51FD5157}" destId="{8816CFFC-F85B-4E5A-BF3D-CA5F69042192}" srcOrd="10"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D4F8096-41ED-DE4C-BED1-E2ACC9F9CE0F}" type="doc">
      <dgm:prSet loTypeId="urn:microsoft.com/office/officeart/2005/8/layout/balance1" loCatId="" qsTypeId="urn:microsoft.com/office/officeart/2005/8/quickstyle/simple1" qsCatId="simple" csTypeId="urn:microsoft.com/office/officeart/2005/8/colors/accent2_2" csCatId="accent2" phldr="1"/>
      <dgm:spPr/>
      <dgm:t>
        <a:bodyPr/>
        <a:lstStyle/>
        <a:p>
          <a:endParaRPr lang="en-US"/>
        </a:p>
      </dgm:t>
    </dgm:pt>
    <dgm:pt modelId="{A9B0D4AE-6B42-D64D-B43F-243B138097F4}">
      <dgm:prSet phldrT="[Text]" custT="1"/>
      <dgm:spPr>
        <a:solidFill>
          <a:schemeClr val="bg1">
            <a:lumMod val="85000"/>
            <a:alpha val="90000"/>
          </a:schemeClr>
        </a:solidFill>
      </dgm:spPr>
      <dgm:t>
        <a:bodyPr/>
        <a:lstStyle/>
        <a:p>
          <a:r>
            <a:rPr lang="en-US" sz="1800" dirty="0" smtClean="0"/>
            <a:t>Direct tax revenues</a:t>
          </a:r>
          <a:endParaRPr lang="en-US" sz="1800" dirty="0"/>
        </a:p>
      </dgm:t>
    </dgm:pt>
    <dgm:pt modelId="{5155B28F-4A6F-E146-9957-44017349FFEF}" type="parTrans" cxnId="{821868F7-F3CA-704D-9E2D-7927C4F9FD69}">
      <dgm:prSet/>
      <dgm:spPr/>
      <dgm:t>
        <a:bodyPr/>
        <a:lstStyle/>
        <a:p>
          <a:endParaRPr lang="en-US"/>
        </a:p>
      </dgm:t>
    </dgm:pt>
    <dgm:pt modelId="{9605D653-84BF-7349-AE7B-BC90FFE4370A}" type="sibTrans" cxnId="{821868F7-F3CA-704D-9E2D-7927C4F9FD69}">
      <dgm:prSet/>
      <dgm:spPr/>
      <dgm:t>
        <a:bodyPr/>
        <a:lstStyle/>
        <a:p>
          <a:endParaRPr lang="en-US"/>
        </a:p>
      </dgm:t>
    </dgm:pt>
    <dgm:pt modelId="{330DDAA6-9B9E-1544-8E38-7679BDAD4B3A}">
      <dgm:prSet phldrT="[Text]"/>
      <dgm:spPr>
        <a:solidFill>
          <a:srgbClr val="006699"/>
        </a:solidFill>
      </dgm:spPr>
      <dgm:t>
        <a:bodyPr/>
        <a:lstStyle/>
        <a:p>
          <a:r>
            <a:rPr lang="en-US" dirty="0" smtClean="0"/>
            <a:t>Up-front cash flows</a:t>
          </a:r>
          <a:endParaRPr lang="en-US" dirty="0"/>
        </a:p>
      </dgm:t>
    </dgm:pt>
    <dgm:pt modelId="{E7F15B7A-C03C-CA40-B15D-6287996C649E}" type="parTrans" cxnId="{AD9D3000-B102-E843-BB47-D8ADEB8EABF4}">
      <dgm:prSet/>
      <dgm:spPr/>
      <dgm:t>
        <a:bodyPr/>
        <a:lstStyle/>
        <a:p>
          <a:endParaRPr lang="en-US"/>
        </a:p>
      </dgm:t>
    </dgm:pt>
    <dgm:pt modelId="{FAF07116-11D4-254E-9408-2EA40F94BE2A}" type="sibTrans" cxnId="{AD9D3000-B102-E843-BB47-D8ADEB8EABF4}">
      <dgm:prSet/>
      <dgm:spPr/>
      <dgm:t>
        <a:bodyPr/>
        <a:lstStyle/>
        <a:p>
          <a:endParaRPr lang="en-US"/>
        </a:p>
      </dgm:t>
    </dgm:pt>
    <dgm:pt modelId="{6326CC70-3F91-4F4A-9DB6-BD9F87EE90B3}">
      <dgm:prSet phldrT="[Text]" custT="1"/>
      <dgm:spPr>
        <a:solidFill>
          <a:schemeClr val="bg1">
            <a:lumMod val="85000"/>
            <a:alpha val="90000"/>
          </a:schemeClr>
        </a:solidFill>
      </dgm:spPr>
      <dgm:t>
        <a:bodyPr/>
        <a:lstStyle/>
        <a:p>
          <a:r>
            <a:rPr lang="en-US" sz="1800" dirty="0" smtClean="0"/>
            <a:t>Local content</a:t>
          </a:r>
          <a:endParaRPr lang="en-US" sz="1800" dirty="0"/>
        </a:p>
      </dgm:t>
    </dgm:pt>
    <dgm:pt modelId="{779280C2-4675-5E42-A675-A91483218AF5}" type="parTrans" cxnId="{CD3DD68F-CF49-6C4C-8B00-07D82317540B}">
      <dgm:prSet/>
      <dgm:spPr/>
      <dgm:t>
        <a:bodyPr/>
        <a:lstStyle/>
        <a:p>
          <a:endParaRPr lang="en-US"/>
        </a:p>
      </dgm:t>
    </dgm:pt>
    <dgm:pt modelId="{28F07264-2530-7F4A-8BDD-2AF475C388BF}" type="sibTrans" cxnId="{CD3DD68F-CF49-6C4C-8B00-07D82317540B}">
      <dgm:prSet/>
      <dgm:spPr/>
      <dgm:t>
        <a:bodyPr/>
        <a:lstStyle/>
        <a:p>
          <a:endParaRPr lang="en-US"/>
        </a:p>
      </dgm:t>
    </dgm:pt>
    <dgm:pt modelId="{E90AB614-A012-8244-A4AD-2F9E55A5D645}">
      <dgm:prSet phldrT="[Text]"/>
      <dgm:spPr>
        <a:solidFill>
          <a:srgbClr val="006699"/>
        </a:solidFill>
      </dgm:spPr>
      <dgm:t>
        <a:bodyPr/>
        <a:lstStyle/>
        <a:p>
          <a:r>
            <a:rPr lang="en-US" dirty="0" smtClean="0"/>
            <a:t>Long term cash flows</a:t>
          </a:r>
          <a:endParaRPr lang="en-US" dirty="0"/>
        </a:p>
      </dgm:t>
    </dgm:pt>
    <dgm:pt modelId="{72CA5406-C257-F843-B195-EDD38871F12D}" type="parTrans" cxnId="{B170A6B4-D440-4442-9AFF-21EDE70AC4EE}">
      <dgm:prSet/>
      <dgm:spPr/>
      <dgm:t>
        <a:bodyPr/>
        <a:lstStyle/>
        <a:p>
          <a:endParaRPr lang="en-US"/>
        </a:p>
      </dgm:t>
    </dgm:pt>
    <dgm:pt modelId="{E3E55FED-CCC8-8042-931E-CAF696FF5D8C}" type="sibTrans" cxnId="{B170A6B4-D440-4442-9AFF-21EDE70AC4EE}">
      <dgm:prSet/>
      <dgm:spPr/>
      <dgm:t>
        <a:bodyPr/>
        <a:lstStyle/>
        <a:p>
          <a:endParaRPr lang="en-US"/>
        </a:p>
      </dgm:t>
    </dgm:pt>
    <dgm:pt modelId="{9F4D56BD-29BE-4D47-BA62-A29180DFBD0C}" type="pres">
      <dgm:prSet presAssocID="{9D4F8096-41ED-DE4C-BED1-E2ACC9F9CE0F}" presName="outerComposite" presStyleCnt="0">
        <dgm:presLayoutVars>
          <dgm:chMax val="2"/>
          <dgm:animLvl val="lvl"/>
          <dgm:resizeHandles val="exact"/>
        </dgm:presLayoutVars>
      </dgm:prSet>
      <dgm:spPr/>
      <dgm:t>
        <a:bodyPr/>
        <a:lstStyle/>
        <a:p>
          <a:endParaRPr lang="en-US"/>
        </a:p>
      </dgm:t>
    </dgm:pt>
    <dgm:pt modelId="{B8512CC8-C509-A84C-8D7B-25E9DF19AAFA}" type="pres">
      <dgm:prSet presAssocID="{9D4F8096-41ED-DE4C-BED1-E2ACC9F9CE0F}" presName="dummyMaxCanvas" presStyleCnt="0"/>
      <dgm:spPr/>
    </dgm:pt>
    <dgm:pt modelId="{E96AEB81-09E1-DB46-9BE4-0D381A7DA98D}" type="pres">
      <dgm:prSet presAssocID="{9D4F8096-41ED-DE4C-BED1-E2ACC9F9CE0F}" presName="parentComposite" presStyleCnt="0"/>
      <dgm:spPr/>
    </dgm:pt>
    <dgm:pt modelId="{B34DE702-05BD-7746-846C-31FFD74AA418}" type="pres">
      <dgm:prSet presAssocID="{9D4F8096-41ED-DE4C-BED1-E2ACC9F9CE0F}" presName="parent1" presStyleLbl="alignAccFollowNode1" presStyleIdx="0" presStyleCnt="4" custScaleX="94863" custScaleY="117678" custLinFactY="9115" custLinFactNeighborX="-90253" custLinFactNeighborY="100000">
        <dgm:presLayoutVars>
          <dgm:chMax val="4"/>
        </dgm:presLayoutVars>
      </dgm:prSet>
      <dgm:spPr/>
      <dgm:t>
        <a:bodyPr/>
        <a:lstStyle/>
        <a:p>
          <a:endParaRPr lang="en-US"/>
        </a:p>
      </dgm:t>
    </dgm:pt>
    <dgm:pt modelId="{21CB3FE9-9334-FE4A-B256-E1EDDDC1264C}" type="pres">
      <dgm:prSet presAssocID="{9D4F8096-41ED-DE4C-BED1-E2ACC9F9CE0F}" presName="parent2" presStyleLbl="alignAccFollowNode1" presStyleIdx="1" presStyleCnt="4" custScaleY="106138" custLinFactY="13534" custLinFactNeighborX="86488" custLinFactNeighborY="100000">
        <dgm:presLayoutVars>
          <dgm:chMax val="4"/>
        </dgm:presLayoutVars>
      </dgm:prSet>
      <dgm:spPr/>
      <dgm:t>
        <a:bodyPr/>
        <a:lstStyle/>
        <a:p>
          <a:endParaRPr lang="en-US"/>
        </a:p>
      </dgm:t>
    </dgm:pt>
    <dgm:pt modelId="{0BED7882-2456-D64F-9399-A342F49F0B28}" type="pres">
      <dgm:prSet presAssocID="{9D4F8096-41ED-DE4C-BED1-E2ACC9F9CE0F}" presName="childrenComposite" presStyleCnt="0"/>
      <dgm:spPr/>
    </dgm:pt>
    <dgm:pt modelId="{AACC2726-9954-3F48-811C-93B2D3C52B22}" type="pres">
      <dgm:prSet presAssocID="{9D4F8096-41ED-DE4C-BED1-E2ACC9F9CE0F}" presName="dummyMaxCanvas_ChildArea" presStyleCnt="0"/>
      <dgm:spPr/>
    </dgm:pt>
    <dgm:pt modelId="{F8AAD5CC-CD24-1949-8D9A-05F36DE35359}" type="pres">
      <dgm:prSet presAssocID="{9D4F8096-41ED-DE4C-BED1-E2ACC9F9CE0F}" presName="fulcrum" presStyleLbl="alignAccFollowNode1" presStyleIdx="2" presStyleCnt="4"/>
      <dgm:spPr>
        <a:solidFill>
          <a:schemeClr val="bg1">
            <a:lumMod val="85000"/>
            <a:alpha val="90000"/>
          </a:schemeClr>
        </a:solidFill>
      </dgm:spPr>
      <dgm:t>
        <a:bodyPr/>
        <a:lstStyle/>
        <a:p>
          <a:endParaRPr lang="en-GB"/>
        </a:p>
      </dgm:t>
    </dgm:pt>
    <dgm:pt modelId="{5CEFDA7B-9F44-A34A-884E-BF6A9ED1CAB0}" type="pres">
      <dgm:prSet presAssocID="{9D4F8096-41ED-DE4C-BED1-E2ACC9F9CE0F}" presName="balance_11" presStyleLbl="alignAccFollowNode1" presStyleIdx="3" presStyleCnt="4" custScaleX="171882" custScaleY="112475">
        <dgm:presLayoutVars>
          <dgm:bulletEnabled val="1"/>
        </dgm:presLayoutVars>
      </dgm:prSet>
      <dgm:spPr>
        <a:solidFill>
          <a:schemeClr val="bg1">
            <a:lumMod val="85000"/>
            <a:alpha val="90000"/>
          </a:schemeClr>
        </a:solidFill>
      </dgm:spPr>
      <dgm:t>
        <a:bodyPr/>
        <a:lstStyle/>
        <a:p>
          <a:endParaRPr lang="en-GB"/>
        </a:p>
      </dgm:t>
    </dgm:pt>
    <dgm:pt modelId="{2BBAA51B-0145-2640-A0B1-DFCD7E073408}" type="pres">
      <dgm:prSet presAssocID="{9D4F8096-41ED-DE4C-BED1-E2ACC9F9CE0F}" presName="left_11_1" presStyleLbl="node1" presStyleIdx="0" presStyleCnt="2" custScaleY="50816" custLinFactNeighborX="-92630" custLinFactNeighborY="16650">
        <dgm:presLayoutVars>
          <dgm:bulletEnabled val="1"/>
        </dgm:presLayoutVars>
      </dgm:prSet>
      <dgm:spPr/>
      <dgm:t>
        <a:bodyPr/>
        <a:lstStyle/>
        <a:p>
          <a:endParaRPr lang="en-US"/>
        </a:p>
      </dgm:t>
    </dgm:pt>
    <dgm:pt modelId="{30416E8E-C506-0543-8405-255F618FB726}" type="pres">
      <dgm:prSet presAssocID="{9D4F8096-41ED-DE4C-BED1-E2ACC9F9CE0F}" presName="right_11_1" presStyleLbl="node1" presStyleIdx="1" presStyleCnt="2" custScaleY="50816" custLinFactNeighborX="85204" custLinFactNeighborY="16650">
        <dgm:presLayoutVars>
          <dgm:bulletEnabled val="1"/>
        </dgm:presLayoutVars>
      </dgm:prSet>
      <dgm:spPr/>
      <dgm:t>
        <a:bodyPr/>
        <a:lstStyle/>
        <a:p>
          <a:endParaRPr lang="en-US"/>
        </a:p>
      </dgm:t>
    </dgm:pt>
  </dgm:ptLst>
  <dgm:cxnLst>
    <dgm:cxn modelId="{CD3DD68F-CF49-6C4C-8B00-07D82317540B}" srcId="{9D4F8096-41ED-DE4C-BED1-E2ACC9F9CE0F}" destId="{6326CC70-3F91-4F4A-9DB6-BD9F87EE90B3}" srcOrd="1" destOrd="0" parTransId="{779280C2-4675-5E42-A675-A91483218AF5}" sibTransId="{28F07264-2530-7F4A-8BDD-2AF475C388BF}"/>
    <dgm:cxn modelId="{B170A6B4-D440-4442-9AFF-21EDE70AC4EE}" srcId="{6326CC70-3F91-4F4A-9DB6-BD9F87EE90B3}" destId="{E90AB614-A012-8244-A4AD-2F9E55A5D645}" srcOrd="0" destOrd="0" parTransId="{72CA5406-C257-F843-B195-EDD38871F12D}" sibTransId="{E3E55FED-CCC8-8042-931E-CAF696FF5D8C}"/>
    <dgm:cxn modelId="{243F7E55-4409-4F2B-A0A7-2C5FF5E702E3}" type="presOf" srcId="{6326CC70-3F91-4F4A-9DB6-BD9F87EE90B3}" destId="{21CB3FE9-9334-FE4A-B256-E1EDDDC1264C}" srcOrd="0" destOrd="0" presId="urn:microsoft.com/office/officeart/2005/8/layout/balance1"/>
    <dgm:cxn modelId="{AD9D3000-B102-E843-BB47-D8ADEB8EABF4}" srcId="{A9B0D4AE-6B42-D64D-B43F-243B138097F4}" destId="{330DDAA6-9B9E-1544-8E38-7679BDAD4B3A}" srcOrd="0" destOrd="0" parTransId="{E7F15B7A-C03C-CA40-B15D-6287996C649E}" sibTransId="{FAF07116-11D4-254E-9408-2EA40F94BE2A}"/>
    <dgm:cxn modelId="{721825FB-0EB5-44D8-A0B5-C50D16F82950}" type="presOf" srcId="{A9B0D4AE-6B42-D64D-B43F-243B138097F4}" destId="{B34DE702-05BD-7746-846C-31FFD74AA418}" srcOrd="0" destOrd="0" presId="urn:microsoft.com/office/officeart/2005/8/layout/balance1"/>
    <dgm:cxn modelId="{6F37E41D-A8F8-431F-85FE-D5357A1FFA58}" type="presOf" srcId="{9D4F8096-41ED-DE4C-BED1-E2ACC9F9CE0F}" destId="{9F4D56BD-29BE-4D47-BA62-A29180DFBD0C}" srcOrd="0" destOrd="0" presId="urn:microsoft.com/office/officeart/2005/8/layout/balance1"/>
    <dgm:cxn modelId="{1C24E92D-6779-424B-BF36-047FAD786F50}" type="presOf" srcId="{E90AB614-A012-8244-A4AD-2F9E55A5D645}" destId="{30416E8E-C506-0543-8405-255F618FB726}" srcOrd="0" destOrd="0" presId="urn:microsoft.com/office/officeart/2005/8/layout/balance1"/>
    <dgm:cxn modelId="{B97FCB8A-BC07-460D-A1E6-1F6A807ADC21}" type="presOf" srcId="{330DDAA6-9B9E-1544-8E38-7679BDAD4B3A}" destId="{2BBAA51B-0145-2640-A0B1-DFCD7E073408}" srcOrd="0" destOrd="0" presId="urn:microsoft.com/office/officeart/2005/8/layout/balance1"/>
    <dgm:cxn modelId="{821868F7-F3CA-704D-9E2D-7927C4F9FD69}" srcId="{9D4F8096-41ED-DE4C-BED1-E2ACC9F9CE0F}" destId="{A9B0D4AE-6B42-D64D-B43F-243B138097F4}" srcOrd="0" destOrd="0" parTransId="{5155B28F-4A6F-E146-9957-44017349FFEF}" sibTransId="{9605D653-84BF-7349-AE7B-BC90FFE4370A}"/>
    <dgm:cxn modelId="{15EA442F-9350-4843-8B1C-278845A80AD9}" type="presParOf" srcId="{9F4D56BD-29BE-4D47-BA62-A29180DFBD0C}" destId="{B8512CC8-C509-A84C-8D7B-25E9DF19AAFA}" srcOrd="0" destOrd="0" presId="urn:microsoft.com/office/officeart/2005/8/layout/balance1"/>
    <dgm:cxn modelId="{B8293377-FAC4-42A8-B250-A024BB124F45}" type="presParOf" srcId="{9F4D56BD-29BE-4D47-BA62-A29180DFBD0C}" destId="{E96AEB81-09E1-DB46-9BE4-0D381A7DA98D}" srcOrd="1" destOrd="0" presId="urn:microsoft.com/office/officeart/2005/8/layout/balance1"/>
    <dgm:cxn modelId="{0E6E98B5-7CDF-4C1E-89A9-24B9E4A33249}" type="presParOf" srcId="{E96AEB81-09E1-DB46-9BE4-0D381A7DA98D}" destId="{B34DE702-05BD-7746-846C-31FFD74AA418}" srcOrd="0" destOrd="0" presId="urn:microsoft.com/office/officeart/2005/8/layout/balance1"/>
    <dgm:cxn modelId="{56D5F2A2-A23B-486C-9421-05FA5E93D8FB}" type="presParOf" srcId="{E96AEB81-09E1-DB46-9BE4-0D381A7DA98D}" destId="{21CB3FE9-9334-FE4A-B256-E1EDDDC1264C}" srcOrd="1" destOrd="0" presId="urn:microsoft.com/office/officeart/2005/8/layout/balance1"/>
    <dgm:cxn modelId="{C9773EB2-0F7F-4C6E-8EAB-D1BF4096D543}" type="presParOf" srcId="{9F4D56BD-29BE-4D47-BA62-A29180DFBD0C}" destId="{0BED7882-2456-D64F-9399-A342F49F0B28}" srcOrd="2" destOrd="0" presId="urn:microsoft.com/office/officeart/2005/8/layout/balance1"/>
    <dgm:cxn modelId="{B3258431-4B56-488F-8AD3-54FBE6740188}" type="presParOf" srcId="{0BED7882-2456-D64F-9399-A342F49F0B28}" destId="{AACC2726-9954-3F48-811C-93B2D3C52B22}" srcOrd="0" destOrd="0" presId="urn:microsoft.com/office/officeart/2005/8/layout/balance1"/>
    <dgm:cxn modelId="{FF92E78D-5E9C-4F65-80BB-0A8E17E816EF}" type="presParOf" srcId="{0BED7882-2456-D64F-9399-A342F49F0B28}" destId="{F8AAD5CC-CD24-1949-8D9A-05F36DE35359}" srcOrd="1" destOrd="0" presId="urn:microsoft.com/office/officeart/2005/8/layout/balance1"/>
    <dgm:cxn modelId="{D33A2410-C3B1-4BF6-885F-E0FFA7F87CB7}" type="presParOf" srcId="{0BED7882-2456-D64F-9399-A342F49F0B28}" destId="{5CEFDA7B-9F44-A34A-884E-BF6A9ED1CAB0}" srcOrd="2" destOrd="0" presId="urn:microsoft.com/office/officeart/2005/8/layout/balance1"/>
    <dgm:cxn modelId="{DF006F21-5CCD-4FB9-BA55-16C1ED067F2C}" type="presParOf" srcId="{0BED7882-2456-D64F-9399-A342F49F0B28}" destId="{2BBAA51B-0145-2640-A0B1-DFCD7E073408}" srcOrd="3" destOrd="0" presId="urn:microsoft.com/office/officeart/2005/8/layout/balance1"/>
    <dgm:cxn modelId="{C7445D93-D76B-4FF8-8AFC-4AB1635F2C4A}" type="presParOf" srcId="{0BED7882-2456-D64F-9399-A342F49F0B28}" destId="{30416E8E-C506-0543-8405-255F618FB726}" srcOrd="4" destOrd="0" presId="urn:microsoft.com/office/officeart/2005/8/layout/balance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EF54D1C-EE05-6B4A-B4B3-51A1364CB4B1}" type="doc">
      <dgm:prSet loTypeId="urn:microsoft.com/office/officeart/2005/8/layout/radial4" loCatId="" qsTypeId="urn:microsoft.com/office/officeart/2005/8/quickstyle/simple1" qsCatId="simple" csTypeId="urn:microsoft.com/office/officeart/2005/8/colors/accent2_2" csCatId="accent2" phldr="1"/>
      <dgm:spPr/>
      <dgm:t>
        <a:bodyPr/>
        <a:lstStyle/>
        <a:p>
          <a:endParaRPr lang="en-US"/>
        </a:p>
      </dgm:t>
    </dgm:pt>
    <dgm:pt modelId="{A807DCC4-8383-8946-A2DC-412C58ADD20F}">
      <dgm:prSet phldrT="[Text]" custT="1"/>
      <dgm:spPr>
        <a:solidFill>
          <a:srgbClr val="006699"/>
        </a:solidFill>
      </dgm:spPr>
      <dgm:t>
        <a:bodyPr/>
        <a:lstStyle/>
        <a:p>
          <a:r>
            <a:rPr lang="en-US" sz="2800" dirty="0" smtClean="0"/>
            <a:t>Fiscal terms</a:t>
          </a:r>
          <a:endParaRPr lang="en-US" sz="2800" dirty="0"/>
        </a:p>
      </dgm:t>
    </dgm:pt>
    <dgm:pt modelId="{AE9068AE-7B7B-7743-BAB6-F35F3FC6A67B}" type="parTrans" cxnId="{0F1BE690-6E7E-4E45-83CF-0BCDF677068E}">
      <dgm:prSet/>
      <dgm:spPr/>
      <dgm:t>
        <a:bodyPr/>
        <a:lstStyle/>
        <a:p>
          <a:endParaRPr lang="en-US"/>
        </a:p>
      </dgm:t>
    </dgm:pt>
    <dgm:pt modelId="{73F73CAE-D3A7-BD42-887E-3ED4FC80D4A1}" type="sibTrans" cxnId="{0F1BE690-6E7E-4E45-83CF-0BCDF677068E}">
      <dgm:prSet/>
      <dgm:spPr/>
      <dgm:t>
        <a:bodyPr/>
        <a:lstStyle/>
        <a:p>
          <a:endParaRPr lang="en-US"/>
        </a:p>
      </dgm:t>
    </dgm:pt>
    <dgm:pt modelId="{B42EB568-5D9B-F84A-BD3F-3F1F6344607C}">
      <dgm:prSet phldrT="[Text]" custT="1"/>
      <dgm:spPr>
        <a:solidFill>
          <a:srgbClr val="006699"/>
        </a:solidFill>
      </dgm:spPr>
      <dgm:t>
        <a:bodyPr tIns="274320"/>
        <a:lstStyle/>
        <a:p>
          <a:pPr algn="ctr">
            <a:spcBef>
              <a:spcPts val="100"/>
            </a:spcBef>
          </a:pPr>
          <a:r>
            <a:rPr lang="en-US" sz="1800" b="1" dirty="0" smtClean="0"/>
            <a:t>To reduce risk for investors include progressive, flexible fiscal elements:</a:t>
          </a:r>
        </a:p>
        <a:p>
          <a:pPr marL="271463" indent="-271463" algn="l">
            <a:spcBef>
              <a:spcPct val="0"/>
            </a:spcBef>
          </a:pPr>
          <a:r>
            <a:rPr lang="en-US" sz="1600" dirty="0" smtClean="0"/>
            <a:t>- Profit based production sharing</a:t>
          </a:r>
        </a:p>
        <a:p>
          <a:pPr marL="271463" indent="-271463" algn="l">
            <a:spcBef>
              <a:spcPct val="0"/>
            </a:spcBef>
          </a:pPr>
          <a:r>
            <a:rPr lang="en-US" sz="1600" dirty="0" smtClean="0"/>
            <a:t>- Higher rates kick in when project becomes very profitable – means government captures windfall, but until then lower rates apply. </a:t>
          </a:r>
        </a:p>
      </dgm:t>
    </dgm:pt>
    <dgm:pt modelId="{B7698912-4370-FA45-9EDC-BD1880329684}" type="parTrans" cxnId="{35758BBA-3B0A-C249-99FF-3F6ECF0DDDB2}">
      <dgm:prSet/>
      <dgm:spPr/>
      <dgm:t>
        <a:bodyPr/>
        <a:lstStyle/>
        <a:p>
          <a:endParaRPr lang="en-US"/>
        </a:p>
      </dgm:t>
    </dgm:pt>
    <dgm:pt modelId="{E3D9FE4B-6B19-6842-9162-257EBF6AC6BE}" type="sibTrans" cxnId="{35758BBA-3B0A-C249-99FF-3F6ECF0DDDB2}">
      <dgm:prSet/>
      <dgm:spPr/>
      <dgm:t>
        <a:bodyPr/>
        <a:lstStyle/>
        <a:p>
          <a:endParaRPr lang="en-US"/>
        </a:p>
      </dgm:t>
    </dgm:pt>
    <dgm:pt modelId="{015F3449-FBAA-814F-8FEB-9B37D4B3D0E1}">
      <dgm:prSet phldrT="[Text]" custT="1"/>
      <dgm:spPr>
        <a:solidFill>
          <a:srgbClr val="006699"/>
        </a:solidFill>
      </dgm:spPr>
      <dgm:t>
        <a:bodyPr tIns="0"/>
        <a:lstStyle/>
        <a:p>
          <a:pPr algn="ctr"/>
          <a:r>
            <a:rPr lang="en-US" sz="1800" b="1" dirty="0" smtClean="0"/>
            <a:t>To bring revenues from first days of production include:</a:t>
          </a:r>
          <a:endParaRPr lang="en-US" sz="1600" dirty="0" smtClean="0"/>
        </a:p>
        <a:p>
          <a:pPr algn="l"/>
          <a:r>
            <a:rPr lang="en-US" sz="1600" dirty="0" smtClean="0"/>
            <a:t>- Royalties (can vary, with lower royalties for frontier or high cost fields)</a:t>
          </a:r>
        </a:p>
        <a:p>
          <a:pPr algn="l"/>
          <a:r>
            <a:rPr lang="en-US" sz="1600" dirty="0" smtClean="0"/>
            <a:t>- Cost recovery limits in production sharing contracts (align fiscal regime with different cost profiles, e.g. deep water)</a:t>
          </a:r>
          <a:endParaRPr lang="en-US" sz="1600" dirty="0"/>
        </a:p>
      </dgm:t>
    </dgm:pt>
    <dgm:pt modelId="{E61480DA-5CBF-6446-9D6D-1D9792B66A52}" type="parTrans" cxnId="{D69398D2-395A-E343-ADCA-DD1AFB33110C}">
      <dgm:prSet/>
      <dgm:spPr/>
      <dgm:t>
        <a:bodyPr/>
        <a:lstStyle/>
        <a:p>
          <a:endParaRPr lang="en-US"/>
        </a:p>
      </dgm:t>
    </dgm:pt>
    <dgm:pt modelId="{9A7574FD-1BDB-414E-AB12-AC81B84AEAF5}" type="sibTrans" cxnId="{D69398D2-395A-E343-ADCA-DD1AFB33110C}">
      <dgm:prSet/>
      <dgm:spPr/>
      <dgm:t>
        <a:bodyPr/>
        <a:lstStyle/>
        <a:p>
          <a:endParaRPr lang="en-US"/>
        </a:p>
      </dgm:t>
    </dgm:pt>
    <dgm:pt modelId="{1CFC9D8A-55F2-E34F-A819-33E90A1E69E8}" type="pres">
      <dgm:prSet presAssocID="{2EF54D1C-EE05-6B4A-B4B3-51A1364CB4B1}" presName="cycle" presStyleCnt="0">
        <dgm:presLayoutVars>
          <dgm:chMax val="1"/>
          <dgm:dir/>
          <dgm:animLvl val="ctr"/>
          <dgm:resizeHandles val="exact"/>
        </dgm:presLayoutVars>
      </dgm:prSet>
      <dgm:spPr/>
      <dgm:t>
        <a:bodyPr/>
        <a:lstStyle/>
        <a:p>
          <a:endParaRPr lang="en-US"/>
        </a:p>
      </dgm:t>
    </dgm:pt>
    <dgm:pt modelId="{295CC453-DC66-3E4B-879E-EAD255A238D6}" type="pres">
      <dgm:prSet presAssocID="{A807DCC4-8383-8946-A2DC-412C58ADD20F}" presName="centerShape" presStyleLbl="node0" presStyleIdx="0" presStyleCnt="1" custScaleX="79004" custScaleY="79651" custLinFactNeighborX="-624" custLinFactNeighborY="-39866"/>
      <dgm:spPr/>
      <dgm:t>
        <a:bodyPr/>
        <a:lstStyle/>
        <a:p>
          <a:endParaRPr lang="en-US"/>
        </a:p>
      </dgm:t>
    </dgm:pt>
    <dgm:pt modelId="{AACA5798-2368-D343-BA9B-51ED38C8CFD0}" type="pres">
      <dgm:prSet presAssocID="{B7698912-4370-FA45-9EDC-BD1880329684}" presName="parTrans" presStyleLbl="bgSibTrans2D1" presStyleIdx="0" presStyleCnt="2" custAng="181824" custScaleX="61880" custScaleY="45611" custLinFactNeighborX="19654" custLinFactNeighborY="-50909"/>
      <dgm:spPr/>
      <dgm:t>
        <a:bodyPr/>
        <a:lstStyle/>
        <a:p>
          <a:endParaRPr lang="en-US"/>
        </a:p>
      </dgm:t>
    </dgm:pt>
    <dgm:pt modelId="{DB74F69E-D2D1-E44E-9961-558DE508D2A9}" type="pres">
      <dgm:prSet presAssocID="{B42EB568-5D9B-F84A-BD3F-3F1F6344607C}" presName="node" presStyleLbl="node1" presStyleIdx="0" presStyleCnt="2" custScaleX="146182" custScaleY="189891" custRadScaleRad="70220" custRadScaleInc="-25381">
        <dgm:presLayoutVars>
          <dgm:bulletEnabled val="1"/>
        </dgm:presLayoutVars>
      </dgm:prSet>
      <dgm:spPr/>
      <dgm:t>
        <a:bodyPr/>
        <a:lstStyle/>
        <a:p>
          <a:endParaRPr lang="en-US"/>
        </a:p>
      </dgm:t>
    </dgm:pt>
    <dgm:pt modelId="{375A59C1-C4B7-D84B-BB03-BCE75BE8390B}" type="pres">
      <dgm:prSet presAssocID="{E61480DA-5CBF-6446-9D6D-1D9792B66A52}" presName="parTrans" presStyleLbl="bgSibTrans2D1" presStyleIdx="1" presStyleCnt="2" custAng="21228909" custScaleX="89096" custScaleY="43470" custLinFactNeighborX="-3817" custLinFactNeighborY="-29363"/>
      <dgm:spPr/>
      <dgm:t>
        <a:bodyPr/>
        <a:lstStyle/>
        <a:p>
          <a:endParaRPr lang="en-US"/>
        </a:p>
      </dgm:t>
    </dgm:pt>
    <dgm:pt modelId="{765234CF-AB5D-A949-8340-F52155405018}" type="pres">
      <dgm:prSet presAssocID="{015F3449-FBAA-814F-8FEB-9B37D4B3D0E1}" presName="node" presStyleLbl="node1" presStyleIdx="1" presStyleCnt="2" custAng="0" custScaleX="151961" custScaleY="189967" custRadScaleRad="69095" custRadScaleInc="24139">
        <dgm:presLayoutVars>
          <dgm:bulletEnabled val="1"/>
        </dgm:presLayoutVars>
      </dgm:prSet>
      <dgm:spPr/>
      <dgm:t>
        <a:bodyPr/>
        <a:lstStyle/>
        <a:p>
          <a:endParaRPr lang="en-US"/>
        </a:p>
      </dgm:t>
    </dgm:pt>
  </dgm:ptLst>
  <dgm:cxnLst>
    <dgm:cxn modelId="{3D51B633-B0E4-4934-ADA8-F39B2433E55E}" type="presOf" srcId="{E61480DA-5CBF-6446-9D6D-1D9792B66A52}" destId="{375A59C1-C4B7-D84B-BB03-BCE75BE8390B}" srcOrd="0" destOrd="0" presId="urn:microsoft.com/office/officeart/2005/8/layout/radial4"/>
    <dgm:cxn modelId="{D69398D2-395A-E343-ADCA-DD1AFB33110C}" srcId="{A807DCC4-8383-8946-A2DC-412C58ADD20F}" destId="{015F3449-FBAA-814F-8FEB-9B37D4B3D0E1}" srcOrd="1" destOrd="0" parTransId="{E61480DA-5CBF-6446-9D6D-1D9792B66A52}" sibTransId="{9A7574FD-1BDB-414E-AB12-AC81B84AEAF5}"/>
    <dgm:cxn modelId="{9435C4BB-057F-4FE6-8368-10D30A431100}" type="presOf" srcId="{015F3449-FBAA-814F-8FEB-9B37D4B3D0E1}" destId="{765234CF-AB5D-A949-8340-F52155405018}" srcOrd="0" destOrd="0" presId="urn:microsoft.com/office/officeart/2005/8/layout/radial4"/>
    <dgm:cxn modelId="{5CBC0C57-F625-4195-B3FB-5A514BD6FC8E}" type="presOf" srcId="{2EF54D1C-EE05-6B4A-B4B3-51A1364CB4B1}" destId="{1CFC9D8A-55F2-E34F-A819-33E90A1E69E8}" srcOrd="0" destOrd="0" presId="urn:microsoft.com/office/officeart/2005/8/layout/radial4"/>
    <dgm:cxn modelId="{0BC77ECC-89D2-41F8-9BF9-4CF831DA14FA}" type="presOf" srcId="{A807DCC4-8383-8946-A2DC-412C58ADD20F}" destId="{295CC453-DC66-3E4B-879E-EAD255A238D6}" srcOrd="0" destOrd="0" presId="urn:microsoft.com/office/officeart/2005/8/layout/radial4"/>
    <dgm:cxn modelId="{4345868F-13FF-4B06-B31A-33103D916250}" type="presOf" srcId="{B7698912-4370-FA45-9EDC-BD1880329684}" destId="{AACA5798-2368-D343-BA9B-51ED38C8CFD0}" srcOrd="0" destOrd="0" presId="urn:microsoft.com/office/officeart/2005/8/layout/radial4"/>
    <dgm:cxn modelId="{774F14FF-5E1D-4062-8234-0FCDEF88E2F7}" type="presOf" srcId="{B42EB568-5D9B-F84A-BD3F-3F1F6344607C}" destId="{DB74F69E-D2D1-E44E-9961-558DE508D2A9}" srcOrd="0" destOrd="0" presId="urn:microsoft.com/office/officeart/2005/8/layout/radial4"/>
    <dgm:cxn modelId="{35758BBA-3B0A-C249-99FF-3F6ECF0DDDB2}" srcId="{A807DCC4-8383-8946-A2DC-412C58ADD20F}" destId="{B42EB568-5D9B-F84A-BD3F-3F1F6344607C}" srcOrd="0" destOrd="0" parTransId="{B7698912-4370-FA45-9EDC-BD1880329684}" sibTransId="{E3D9FE4B-6B19-6842-9162-257EBF6AC6BE}"/>
    <dgm:cxn modelId="{0F1BE690-6E7E-4E45-83CF-0BCDF677068E}" srcId="{2EF54D1C-EE05-6B4A-B4B3-51A1364CB4B1}" destId="{A807DCC4-8383-8946-A2DC-412C58ADD20F}" srcOrd="0" destOrd="0" parTransId="{AE9068AE-7B7B-7743-BAB6-F35F3FC6A67B}" sibTransId="{73F73CAE-D3A7-BD42-887E-3ED4FC80D4A1}"/>
    <dgm:cxn modelId="{B0CCA5B6-A9A0-496A-AD6D-B2B4841469DA}" type="presParOf" srcId="{1CFC9D8A-55F2-E34F-A819-33E90A1E69E8}" destId="{295CC453-DC66-3E4B-879E-EAD255A238D6}" srcOrd="0" destOrd="0" presId="urn:microsoft.com/office/officeart/2005/8/layout/radial4"/>
    <dgm:cxn modelId="{8FBA0DAC-BB39-4D56-8D7F-E93B62426508}" type="presParOf" srcId="{1CFC9D8A-55F2-E34F-A819-33E90A1E69E8}" destId="{AACA5798-2368-D343-BA9B-51ED38C8CFD0}" srcOrd="1" destOrd="0" presId="urn:microsoft.com/office/officeart/2005/8/layout/radial4"/>
    <dgm:cxn modelId="{F0920E87-16EA-4FCB-AC16-9E57D2744CEF}" type="presParOf" srcId="{1CFC9D8A-55F2-E34F-A819-33E90A1E69E8}" destId="{DB74F69E-D2D1-E44E-9961-558DE508D2A9}" srcOrd="2" destOrd="0" presId="urn:microsoft.com/office/officeart/2005/8/layout/radial4"/>
    <dgm:cxn modelId="{94DFDC4A-8413-47A1-98D1-05178D650A20}" type="presParOf" srcId="{1CFC9D8A-55F2-E34F-A819-33E90A1E69E8}" destId="{375A59C1-C4B7-D84B-BB03-BCE75BE8390B}" srcOrd="3" destOrd="0" presId="urn:microsoft.com/office/officeart/2005/8/layout/radial4"/>
    <dgm:cxn modelId="{4D66CD8E-81B8-454D-BB94-FE32E9CB4897}" type="presParOf" srcId="{1CFC9D8A-55F2-E34F-A819-33E90A1E69E8}" destId="{765234CF-AB5D-A949-8340-F52155405018}" srcOrd="4"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0D8AD7C-3235-FF4D-85F4-ABF1D4C1A3FD}" type="doc">
      <dgm:prSet loTypeId="urn:microsoft.com/office/officeart/2005/8/layout/radial5" loCatId="" qsTypeId="urn:microsoft.com/office/officeart/2005/8/quickstyle/simple1" qsCatId="simple" csTypeId="urn:microsoft.com/office/officeart/2005/8/colors/accent2_2" csCatId="accent2" phldr="1"/>
      <dgm:spPr/>
      <dgm:t>
        <a:bodyPr/>
        <a:lstStyle/>
        <a:p>
          <a:endParaRPr lang="en-US"/>
        </a:p>
      </dgm:t>
    </dgm:pt>
    <dgm:pt modelId="{71A02940-FC87-DE44-B962-E97A584B732A}">
      <dgm:prSet phldrT="[Text]"/>
      <dgm:spPr>
        <a:solidFill>
          <a:srgbClr val="006699"/>
        </a:solidFill>
      </dgm:spPr>
      <dgm:t>
        <a:bodyPr/>
        <a:lstStyle/>
        <a:p>
          <a:r>
            <a:rPr lang="en-US" dirty="0" smtClean="0"/>
            <a:t>Objective 5: Increase local content and benefits to the broader economy</a:t>
          </a:r>
          <a:endParaRPr lang="en-US" dirty="0"/>
        </a:p>
      </dgm:t>
    </dgm:pt>
    <dgm:pt modelId="{10CD7CB2-4D3B-9B4C-918A-983B3C5CC308}" type="parTrans" cxnId="{D3116712-626E-5A40-8D3A-20FAFFDF5BC6}">
      <dgm:prSet/>
      <dgm:spPr/>
      <dgm:t>
        <a:bodyPr/>
        <a:lstStyle/>
        <a:p>
          <a:endParaRPr lang="en-US"/>
        </a:p>
      </dgm:t>
    </dgm:pt>
    <dgm:pt modelId="{12AFE99F-C3C0-214A-9FA5-F40DAA9B5312}" type="sibTrans" cxnId="{D3116712-626E-5A40-8D3A-20FAFFDF5BC6}">
      <dgm:prSet/>
      <dgm:spPr/>
      <dgm:t>
        <a:bodyPr/>
        <a:lstStyle/>
        <a:p>
          <a:endParaRPr lang="en-US"/>
        </a:p>
      </dgm:t>
    </dgm:pt>
    <dgm:pt modelId="{19798C92-2ECB-EF48-BF0B-EC3D4277BFAA}" type="pres">
      <dgm:prSet presAssocID="{D0D8AD7C-3235-FF4D-85F4-ABF1D4C1A3FD}" presName="Name0" presStyleCnt="0">
        <dgm:presLayoutVars>
          <dgm:chMax val="1"/>
          <dgm:dir/>
          <dgm:animLvl val="ctr"/>
          <dgm:resizeHandles val="exact"/>
        </dgm:presLayoutVars>
      </dgm:prSet>
      <dgm:spPr/>
      <dgm:t>
        <a:bodyPr/>
        <a:lstStyle/>
        <a:p>
          <a:endParaRPr lang="en-US"/>
        </a:p>
      </dgm:t>
    </dgm:pt>
    <dgm:pt modelId="{C4603E73-642A-3F4C-AE44-A0CF06C304D5}" type="pres">
      <dgm:prSet presAssocID="{71A02940-FC87-DE44-B962-E97A584B732A}" presName="centerShape" presStyleLbl="node0" presStyleIdx="0" presStyleCnt="1" custScaleX="52218" custScaleY="52218" custLinFactNeighborY="-5214"/>
      <dgm:spPr/>
      <dgm:t>
        <a:bodyPr/>
        <a:lstStyle/>
        <a:p>
          <a:endParaRPr lang="en-US"/>
        </a:p>
      </dgm:t>
    </dgm:pt>
  </dgm:ptLst>
  <dgm:cxnLst>
    <dgm:cxn modelId="{D3116712-626E-5A40-8D3A-20FAFFDF5BC6}" srcId="{D0D8AD7C-3235-FF4D-85F4-ABF1D4C1A3FD}" destId="{71A02940-FC87-DE44-B962-E97A584B732A}" srcOrd="0" destOrd="0" parTransId="{10CD7CB2-4D3B-9B4C-918A-983B3C5CC308}" sibTransId="{12AFE99F-C3C0-214A-9FA5-F40DAA9B5312}"/>
    <dgm:cxn modelId="{C5FFB2AD-B84D-43F3-9F92-933AC24482F6}" type="presOf" srcId="{71A02940-FC87-DE44-B962-E97A584B732A}" destId="{C4603E73-642A-3F4C-AE44-A0CF06C304D5}" srcOrd="0" destOrd="0" presId="urn:microsoft.com/office/officeart/2005/8/layout/radial5"/>
    <dgm:cxn modelId="{B9877DEA-C0DD-4770-96B6-7B0177C12348}" type="presOf" srcId="{D0D8AD7C-3235-FF4D-85F4-ABF1D4C1A3FD}" destId="{19798C92-2ECB-EF48-BF0B-EC3D4277BFAA}" srcOrd="0" destOrd="0" presId="urn:microsoft.com/office/officeart/2005/8/layout/radial5"/>
    <dgm:cxn modelId="{6ADF12E6-6439-4A75-A10E-F0C74A7C6C20}" type="presParOf" srcId="{19798C92-2ECB-EF48-BF0B-EC3D4277BFAA}" destId="{C4603E73-642A-3F4C-AE44-A0CF06C304D5}" srcOrd="0"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7ED3B26-2D23-574F-AF32-54A2E15CD1D4}" type="doc">
      <dgm:prSet loTypeId="urn:microsoft.com/office/officeart/2005/8/layout/arrow5" loCatId="" qsTypeId="urn:microsoft.com/office/officeart/2005/8/quickstyle/simple4" qsCatId="simple" csTypeId="urn:microsoft.com/office/officeart/2005/8/colors/accent1_2" csCatId="accent1" phldr="1"/>
      <dgm:spPr/>
      <dgm:t>
        <a:bodyPr/>
        <a:lstStyle/>
        <a:p>
          <a:endParaRPr lang="en-GB"/>
        </a:p>
      </dgm:t>
    </dgm:pt>
    <dgm:pt modelId="{07A17D99-4114-B646-AF31-2994AC0B3744}">
      <dgm:prSet/>
      <dgm:spPr>
        <a:solidFill>
          <a:srgbClr val="006699"/>
        </a:solidFill>
      </dgm:spPr>
      <dgm:t>
        <a:bodyPr/>
        <a:lstStyle/>
        <a:p>
          <a:pPr rtl="0"/>
          <a:r>
            <a:rPr lang="en-US" dirty="0" smtClean="0"/>
            <a:t>Capital intensive, high-tech petroleum sector </a:t>
          </a:r>
          <a:endParaRPr lang="en-US" dirty="0"/>
        </a:p>
      </dgm:t>
    </dgm:pt>
    <dgm:pt modelId="{B9E52D72-F1CE-2042-A16A-CB780598D9FA}" type="parTrans" cxnId="{8069B767-001D-D347-9E84-C019D636B22F}">
      <dgm:prSet/>
      <dgm:spPr/>
      <dgm:t>
        <a:bodyPr/>
        <a:lstStyle/>
        <a:p>
          <a:endParaRPr lang="en-GB"/>
        </a:p>
      </dgm:t>
    </dgm:pt>
    <dgm:pt modelId="{362449BF-1E22-9D4E-822D-5ABA5624C77C}" type="sibTrans" cxnId="{8069B767-001D-D347-9E84-C019D636B22F}">
      <dgm:prSet/>
      <dgm:spPr/>
      <dgm:t>
        <a:bodyPr/>
        <a:lstStyle/>
        <a:p>
          <a:endParaRPr lang="en-GB"/>
        </a:p>
      </dgm:t>
    </dgm:pt>
    <dgm:pt modelId="{0B9B548E-7F8E-8147-93E0-EC3D7BA9C0CF}">
      <dgm:prSet/>
      <dgm:spPr>
        <a:solidFill>
          <a:srgbClr val="006699"/>
        </a:solidFill>
      </dgm:spPr>
      <dgm:t>
        <a:bodyPr/>
        <a:lstStyle/>
        <a:p>
          <a:pPr rtl="0"/>
          <a:r>
            <a:rPr lang="en-US" dirty="0" smtClean="0"/>
            <a:t>Other sectors of a developing economy</a:t>
          </a:r>
          <a:endParaRPr lang="en-US" dirty="0"/>
        </a:p>
      </dgm:t>
    </dgm:pt>
    <dgm:pt modelId="{C53A3AC8-1184-454B-8C61-4633BD364A37}" type="parTrans" cxnId="{577538B9-8F57-CB4F-B3BD-8ADEC483E042}">
      <dgm:prSet/>
      <dgm:spPr/>
      <dgm:t>
        <a:bodyPr/>
        <a:lstStyle/>
        <a:p>
          <a:endParaRPr lang="en-GB"/>
        </a:p>
      </dgm:t>
    </dgm:pt>
    <dgm:pt modelId="{65E838EF-24E9-E84D-866E-A4C4DDC98F0E}" type="sibTrans" cxnId="{577538B9-8F57-CB4F-B3BD-8ADEC483E042}">
      <dgm:prSet/>
      <dgm:spPr/>
      <dgm:t>
        <a:bodyPr/>
        <a:lstStyle/>
        <a:p>
          <a:endParaRPr lang="en-GB"/>
        </a:p>
      </dgm:t>
    </dgm:pt>
    <dgm:pt modelId="{4A9F8FCF-590D-2140-B76B-499B00253E72}" type="pres">
      <dgm:prSet presAssocID="{97ED3B26-2D23-574F-AF32-54A2E15CD1D4}" presName="diagram" presStyleCnt="0">
        <dgm:presLayoutVars>
          <dgm:dir/>
          <dgm:resizeHandles val="exact"/>
        </dgm:presLayoutVars>
      </dgm:prSet>
      <dgm:spPr/>
      <dgm:t>
        <a:bodyPr/>
        <a:lstStyle/>
        <a:p>
          <a:endParaRPr lang="en-US"/>
        </a:p>
      </dgm:t>
    </dgm:pt>
    <dgm:pt modelId="{CF6916AC-EF8B-AC41-85A6-55F4C70809DB}" type="pres">
      <dgm:prSet presAssocID="{07A17D99-4114-B646-AF31-2994AC0B3744}" presName="arrow" presStyleLbl="node1" presStyleIdx="0" presStyleCnt="2" custRadScaleRad="99897" custRadScaleInc="281">
        <dgm:presLayoutVars>
          <dgm:bulletEnabled val="1"/>
        </dgm:presLayoutVars>
      </dgm:prSet>
      <dgm:spPr/>
      <dgm:t>
        <a:bodyPr/>
        <a:lstStyle/>
        <a:p>
          <a:endParaRPr lang="en-GB"/>
        </a:p>
      </dgm:t>
    </dgm:pt>
    <dgm:pt modelId="{54610DA0-C5E3-554D-A007-DC7BE0CE92F0}" type="pres">
      <dgm:prSet presAssocID="{0B9B548E-7F8E-8147-93E0-EC3D7BA9C0CF}" presName="arrow" presStyleLbl="node1" presStyleIdx="1" presStyleCnt="2">
        <dgm:presLayoutVars>
          <dgm:bulletEnabled val="1"/>
        </dgm:presLayoutVars>
      </dgm:prSet>
      <dgm:spPr/>
      <dgm:t>
        <a:bodyPr/>
        <a:lstStyle/>
        <a:p>
          <a:endParaRPr lang="en-GB"/>
        </a:p>
      </dgm:t>
    </dgm:pt>
  </dgm:ptLst>
  <dgm:cxnLst>
    <dgm:cxn modelId="{92A15807-6329-4DFA-84EA-11FEA91930A1}" type="presOf" srcId="{07A17D99-4114-B646-AF31-2994AC0B3744}" destId="{CF6916AC-EF8B-AC41-85A6-55F4C70809DB}" srcOrd="0" destOrd="0" presId="urn:microsoft.com/office/officeart/2005/8/layout/arrow5"/>
    <dgm:cxn modelId="{577538B9-8F57-CB4F-B3BD-8ADEC483E042}" srcId="{97ED3B26-2D23-574F-AF32-54A2E15CD1D4}" destId="{0B9B548E-7F8E-8147-93E0-EC3D7BA9C0CF}" srcOrd="1" destOrd="0" parTransId="{C53A3AC8-1184-454B-8C61-4633BD364A37}" sibTransId="{65E838EF-24E9-E84D-866E-A4C4DDC98F0E}"/>
    <dgm:cxn modelId="{6A9C4FC8-FC12-4522-AE8D-CDF18CA3BB61}" type="presOf" srcId="{97ED3B26-2D23-574F-AF32-54A2E15CD1D4}" destId="{4A9F8FCF-590D-2140-B76B-499B00253E72}" srcOrd="0" destOrd="0" presId="urn:microsoft.com/office/officeart/2005/8/layout/arrow5"/>
    <dgm:cxn modelId="{8069B767-001D-D347-9E84-C019D636B22F}" srcId="{97ED3B26-2D23-574F-AF32-54A2E15CD1D4}" destId="{07A17D99-4114-B646-AF31-2994AC0B3744}" srcOrd="0" destOrd="0" parTransId="{B9E52D72-F1CE-2042-A16A-CB780598D9FA}" sibTransId="{362449BF-1E22-9D4E-822D-5ABA5624C77C}"/>
    <dgm:cxn modelId="{D01E8F8B-BDAD-410A-9B41-276F2FEA4268}" type="presOf" srcId="{0B9B548E-7F8E-8147-93E0-EC3D7BA9C0CF}" destId="{54610DA0-C5E3-554D-A007-DC7BE0CE92F0}" srcOrd="0" destOrd="0" presId="urn:microsoft.com/office/officeart/2005/8/layout/arrow5"/>
    <dgm:cxn modelId="{A9B97C1A-46C6-4785-968C-89464CEDAE02}" type="presParOf" srcId="{4A9F8FCF-590D-2140-B76B-499B00253E72}" destId="{CF6916AC-EF8B-AC41-85A6-55F4C70809DB}" srcOrd="0" destOrd="0" presId="urn:microsoft.com/office/officeart/2005/8/layout/arrow5"/>
    <dgm:cxn modelId="{4F33C825-B739-41B8-85AB-B8D0C7B5B831}" type="presParOf" srcId="{4A9F8FCF-590D-2140-B76B-499B00253E72}" destId="{54610DA0-C5E3-554D-A007-DC7BE0CE92F0}" srcOrd="1" destOrd="0" presId="urn:microsoft.com/office/officeart/2005/8/layout/arrow5"/>
  </dgm:cxnLst>
  <dgm:bg>
    <a:noFill/>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9EC6AA0-6F11-B14A-AAF5-19143185E3AE}" type="doc">
      <dgm:prSet loTypeId="urn:microsoft.com/office/officeart/2005/8/layout/venn2" loCatId="" qsTypeId="urn:microsoft.com/office/officeart/2005/8/quickstyle/simple4" qsCatId="simple" csTypeId="urn:microsoft.com/office/officeart/2005/8/colors/accent2_2" csCatId="accent2" phldr="1"/>
      <dgm:spPr/>
      <dgm:t>
        <a:bodyPr/>
        <a:lstStyle/>
        <a:p>
          <a:endParaRPr lang="en-US"/>
        </a:p>
      </dgm:t>
    </dgm:pt>
    <dgm:pt modelId="{9BACDABF-E056-3A49-ACBB-40A2D1EABC9E}">
      <dgm:prSet phldrT="[Text]" custT="1"/>
      <dgm:spPr>
        <a:noFill/>
        <a:ln w="38100" cap="flat" cmpd="dbl">
          <a:solidFill>
            <a:srgbClr val="99211D"/>
          </a:solidFill>
          <a:prstDash val="solid"/>
          <a:round/>
        </a:ln>
      </dgm:spPr>
      <dgm:t>
        <a:bodyPr/>
        <a:lstStyle/>
        <a:p>
          <a:r>
            <a:rPr lang="en-US" sz="800" b="1" dirty="0" smtClean="0">
              <a:solidFill>
                <a:srgbClr val="006699"/>
              </a:solidFill>
            </a:rPr>
            <a:t>Questions for future workshops</a:t>
          </a:r>
          <a:endParaRPr lang="en-US" sz="800" b="1" dirty="0">
            <a:solidFill>
              <a:srgbClr val="006699"/>
            </a:solidFill>
          </a:endParaRPr>
        </a:p>
      </dgm:t>
    </dgm:pt>
    <dgm:pt modelId="{4B4EB6FB-D008-4642-BBB5-EAB25E8FC0EA}" type="parTrans" cxnId="{307F78BB-4B7E-1145-A9B8-1BEB4AC3DF91}">
      <dgm:prSet/>
      <dgm:spPr/>
      <dgm:t>
        <a:bodyPr/>
        <a:lstStyle/>
        <a:p>
          <a:endParaRPr lang="en-US" sz="1800" b="1">
            <a:solidFill>
              <a:srgbClr val="006699"/>
            </a:solidFill>
          </a:endParaRPr>
        </a:p>
      </dgm:t>
    </dgm:pt>
    <dgm:pt modelId="{519FFADC-A61A-1F4B-AD04-B8E7FF038F39}" type="sibTrans" cxnId="{307F78BB-4B7E-1145-A9B8-1BEB4AC3DF91}">
      <dgm:prSet/>
      <dgm:spPr/>
      <dgm:t>
        <a:bodyPr/>
        <a:lstStyle/>
        <a:p>
          <a:endParaRPr lang="en-US" sz="1800" b="1">
            <a:solidFill>
              <a:srgbClr val="006699"/>
            </a:solidFill>
          </a:endParaRPr>
        </a:p>
      </dgm:t>
    </dgm:pt>
    <dgm:pt modelId="{7F26C3DC-FD55-1043-8DB5-ED12ADD19E7B}" type="pres">
      <dgm:prSet presAssocID="{09EC6AA0-6F11-B14A-AAF5-19143185E3AE}" presName="Name0" presStyleCnt="0">
        <dgm:presLayoutVars>
          <dgm:chMax val="7"/>
          <dgm:resizeHandles val="exact"/>
        </dgm:presLayoutVars>
      </dgm:prSet>
      <dgm:spPr/>
      <dgm:t>
        <a:bodyPr/>
        <a:lstStyle/>
        <a:p>
          <a:endParaRPr lang="en-US"/>
        </a:p>
      </dgm:t>
    </dgm:pt>
    <dgm:pt modelId="{E2ECB715-EB9A-EA4E-B33C-879A27EF0408}" type="pres">
      <dgm:prSet presAssocID="{09EC6AA0-6F11-B14A-AAF5-19143185E3AE}" presName="comp1" presStyleCnt="0"/>
      <dgm:spPr/>
    </dgm:pt>
    <dgm:pt modelId="{88954CF4-4B36-0046-8A9A-93773B935D96}" type="pres">
      <dgm:prSet presAssocID="{09EC6AA0-6F11-B14A-AAF5-19143185E3AE}" presName="circle1" presStyleLbl="node1" presStyleIdx="0" presStyleCnt="1"/>
      <dgm:spPr/>
      <dgm:t>
        <a:bodyPr/>
        <a:lstStyle/>
        <a:p>
          <a:endParaRPr lang="en-US"/>
        </a:p>
      </dgm:t>
    </dgm:pt>
    <dgm:pt modelId="{64380396-73BD-074C-A4FF-7FE67D9338FC}" type="pres">
      <dgm:prSet presAssocID="{09EC6AA0-6F11-B14A-AAF5-19143185E3AE}" presName="c1text" presStyleLbl="node1" presStyleIdx="0" presStyleCnt="1">
        <dgm:presLayoutVars>
          <dgm:bulletEnabled val="1"/>
        </dgm:presLayoutVars>
      </dgm:prSet>
      <dgm:spPr/>
      <dgm:t>
        <a:bodyPr/>
        <a:lstStyle/>
        <a:p>
          <a:endParaRPr lang="en-US"/>
        </a:p>
      </dgm:t>
    </dgm:pt>
  </dgm:ptLst>
  <dgm:cxnLst>
    <dgm:cxn modelId="{17510D25-EE3A-4AB4-A641-010567B0EAEF}" type="presOf" srcId="{09EC6AA0-6F11-B14A-AAF5-19143185E3AE}" destId="{7F26C3DC-FD55-1043-8DB5-ED12ADD19E7B}" srcOrd="0" destOrd="0" presId="urn:microsoft.com/office/officeart/2005/8/layout/venn2"/>
    <dgm:cxn modelId="{307F78BB-4B7E-1145-A9B8-1BEB4AC3DF91}" srcId="{09EC6AA0-6F11-B14A-AAF5-19143185E3AE}" destId="{9BACDABF-E056-3A49-ACBB-40A2D1EABC9E}" srcOrd="0" destOrd="0" parTransId="{4B4EB6FB-D008-4642-BBB5-EAB25E8FC0EA}" sibTransId="{519FFADC-A61A-1F4B-AD04-B8E7FF038F39}"/>
    <dgm:cxn modelId="{9C5AC0C9-CBA6-4B66-A63E-E02EBC32C3AE}" type="presOf" srcId="{9BACDABF-E056-3A49-ACBB-40A2D1EABC9E}" destId="{64380396-73BD-074C-A4FF-7FE67D9338FC}" srcOrd="1" destOrd="0" presId="urn:microsoft.com/office/officeart/2005/8/layout/venn2"/>
    <dgm:cxn modelId="{33575259-6CBF-4A73-BF76-C589EDFF3D90}" type="presOf" srcId="{9BACDABF-E056-3A49-ACBB-40A2D1EABC9E}" destId="{88954CF4-4B36-0046-8A9A-93773B935D96}" srcOrd="0" destOrd="0" presId="urn:microsoft.com/office/officeart/2005/8/layout/venn2"/>
    <dgm:cxn modelId="{200905D2-5009-48AE-8FD8-A310A77B26A6}" type="presParOf" srcId="{7F26C3DC-FD55-1043-8DB5-ED12ADD19E7B}" destId="{E2ECB715-EB9A-EA4E-B33C-879A27EF0408}" srcOrd="0" destOrd="0" presId="urn:microsoft.com/office/officeart/2005/8/layout/venn2"/>
    <dgm:cxn modelId="{1D011549-318E-40D4-BF43-27C24D5E85BA}" type="presParOf" srcId="{E2ECB715-EB9A-EA4E-B33C-879A27EF0408}" destId="{88954CF4-4B36-0046-8A9A-93773B935D96}" srcOrd="0" destOrd="0" presId="urn:microsoft.com/office/officeart/2005/8/layout/venn2"/>
    <dgm:cxn modelId="{7BCD8B83-B77C-42B2-90AE-39A0881D7089}" type="presParOf" srcId="{E2ECB715-EB9A-EA4E-B33C-879A27EF0408}" destId="{64380396-73BD-074C-A4FF-7FE67D9338FC}" srcOrd="1" destOrd="0" presId="urn:microsoft.com/office/officeart/2005/8/layout/venn2"/>
  </dgm:cxnLst>
  <dgm:bg>
    <a:noFill/>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7512FB4-8A70-0448-92EF-BFD4E5DBB348}" type="doc">
      <dgm:prSet loTypeId="urn:microsoft.com/office/officeart/2005/8/layout/venn2" loCatId="" qsTypeId="urn:microsoft.com/office/officeart/2005/8/quickstyle/simple4" qsCatId="simple" csTypeId="urn:microsoft.com/office/officeart/2005/8/colors/accent1_4" csCatId="accent1" phldr="1"/>
      <dgm:spPr/>
      <dgm:t>
        <a:bodyPr/>
        <a:lstStyle/>
        <a:p>
          <a:endParaRPr lang="en-US"/>
        </a:p>
      </dgm:t>
    </dgm:pt>
    <dgm:pt modelId="{8954F5DD-FED8-8646-8CCC-8C9E5B2D9060}">
      <dgm:prSet custT="1"/>
      <dgm:spPr/>
      <dgm:t>
        <a:bodyPr/>
        <a:lstStyle/>
        <a:p>
          <a:r>
            <a:rPr lang="en-US" sz="1400" dirty="0" smtClean="0">
              <a:latin typeface="+mj-lt"/>
            </a:rPr>
            <a:t>Minority stake holder</a:t>
          </a:r>
          <a:endParaRPr lang="en-US" sz="1400" dirty="0">
            <a:latin typeface="+mj-lt"/>
          </a:endParaRPr>
        </a:p>
      </dgm:t>
    </dgm:pt>
    <dgm:pt modelId="{694275F7-5009-6C4F-9FFC-A66B62C432DF}" type="parTrans" cxnId="{B41C856B-7D3C-F046-BF13-A052C5E900AE}">
      <dgm:prSet/>
      <dgm:spPr/>
      <dgm:t>
        <a:bodyPr/>
        <a:lstStyle/>
        <a:p>
          <a:endParaRPr lang="en-US"/>
        </a:p>
      </dgm:t>
    </dgm:pt>
    <dgm:pt modelId="{315BCF7D-BA24-C441-9094-123D071A4E0E}" type="sibTrans" cxnId="{B41C856B-7D3C-F046-BF13-A052C5E900AE}">
      <dgm:prSet/>
      <dgm:spPr/>
      <dgm:t>
        <a:bodyPr/>
        <a:lstStyle/>
        <a:p>
          <a:endParaRPr lang="en-US"/>
        </a:p>
      </dgm:t>
    </dgm:pt>
    <dgm:pt modelId="{AD0CAB55-99A0-544C-BE4E-FA84DAD0B51D}">
      <dgm:prSet custT="1"/>
      <dgm:spPr/>
      <dgm:t>
        <a:bodyPr/>
        <a:lstStyle/>
        <a:p>
          <a:r>
            <a:rPr lang="en-US" sz="1400" dirty="0" smtClean="0">
              <a:latin typeface="+mj-lt"/>
            </a:rPr>
            <a:t>Upstream operator</a:t>
          </a:r>
          <a:endParaRPr lang="en-US" sz="1400" dirty="0">
            <a:latin typeface="+mj-lt"/>
          </a:endParaRPr>
        </a:p>
      </dgm:t>
    </dgm:pt>
    <dgm:pt modelId="{B6117137-35BC-1843-B835-0A006AD225F2}" type="parTrans" cxnId="{3FDA8F39-DDDA-4943-A1DF-7AEA58ED8240}">
      <dgm:prSet/>
      <dgm:spPr/>
      <dgm:t>
        <a:bodyPr/>
        <a:lstStyle/>
        <a:p>
          <a:endParaRPr lang="en-US"/>
        </a:p>
      </dgm:t>
    </dgm:pt>
    <dgm:pt modelId="{F83ACF9B-4A79-B843-8E7E-36857BBCF3E7}" type="sibTrans" cxnId="{3FDA8F39-DDDA-4943-A1DF-7AEA58ED8240}">
      <dgm:prSet/>
      <dgm:spPr/>
      <dgm:t>
        <a:bodyPr/>
        <a:lstStyle/>
        <a:p>
          <a:endParaRPr lang="en-US"/>
        </a:p>
      </dgm:t>
    </dgm:pt>
    <dgm:pt modelId="{BF42640A-AB81-F448-8A51-0E8F2FE12EE6}" type="pres">
      <dgm:prSet presAssocID="{D7512FB4-8A70-0448-92EF-BFD4E5DBB348}" presName="Name0" presStyleCnt="0">
        <dgm:presLayoutVars>
          <dgm:chMax val="7"/>
          <dgm:resizeHandles val="exact"/>
        </dgm:presLayoutVars>
      </dgm:prSet>
      <dgm:spPr/>
      <dgm:t>
        <a:bodyPr/>
        <a:lstStyle/>
        <a:p>
          <a:endParaRPr lang="en-US"/>
        </a:p>
      </dgm:t>
    </dgm:pt>
    <dgm:pt modelId="{CB31CE07-58F1-C347-95FA-53EA5D42537A}" type="pres">
      <dgm:prSet presAssocID="{D7512FB4-8A70-0448-92EF-BFD4E5DBB348}" presName="comp1" presStyleCnt="0"/>
      <dgm:spPr/>
      <dgm:t>
        <a:bodyPr/>
        <a:lstStyle/>
        <a:p>
          <a:endParaRPr lang="en-US"/>
        </a:p>
      </dgm:t>
    </dgm:pt>
    <dgm:pt modelId="{3447F41C-4C03-8344-BFC8-480ACAA14951}" type="pres">
      <dgm:prSet presAssocID="{D7512FB4-8A70-0448-92EF-BFD4E5DBB348}" presName="circle1" presStyleLbl="node1" presStyleIdx="0" presStyleCnt="2"/>
      <dgm:spPr/>
      <dgm:t>
        <a:bodyPr/>
        <a:lstStyle/>
        <a:p>
          <a:endParaRPr lang="en-US"/>
        </a:p>
      </dgm:t>
    </dgm:pt>
    <dgm:pt modelId="{14715EB7-6422-C042-AA47-EDFBDD03116E}" type="pres">
      <dgm:prSet presAssocID="{D7512FB4-8A70-0448-92EF-BFD4E5DBB348}" presName="c1text" presStyleLbl="node1" presStyleIdx="0" presStyleCnt="2">
        <dgm:presLayoutVars>
          <dgm:bulletEnabled val="1"/>
        </dgm:presLayoutVars>
      </dgm:prSet>
      <dgm:spPr/>
      <dgm:t>
        <a:bodyPr/>
        <a:lstStyle/>
        <a:p>
          <a:endParaRPr lang="en-US"/>
        </a:p>
      </dgm:t>
    </dgm:pt>
    <dgm:pt modelId="{78223505-E4D9-A84D-AEEC-742C8EB86400}" type="pres">
      <dgm:prSet presAssocID="{D7512FB4-8A70-0448-92EF-BFD4E5DBB348}" presName="comp2" presStyleCnt="0"/>
      <dgm:spPr/>
      <dgm:t>
        <a:bodyPr/>
        <a:lstStyle/>
        <a:p>
          <a:endParaRPr lang="en-US"/>
        </a:p>
      </dgm:t>
    </dgm:pt>
    <dgm:pt modelId="{E87A0282-7FDA-4F45-85EF-036C5A17A76A}" type="pres">
      <dgm:prSet presAssocID="{D7512FB4-8A70-0448-92EF-BFD4E5DBB348}" presName="circle2" presStyleLbl="node1" presStyleIdx="1" presStyleCnt="2"/>
      <dgm:spPr/>
      <dgm:t>
        <a:bodyPr/>
        <a:lstStyle/>
        <a:p>
          <a:endParaRPr lang="en-US"/>
        </a:p>
      </dgm:t>
    </dgm:pt>
    <dgm:pt modelId="{3448F539-58F8-9D47-9EF5-FFF5743D235F}" type="pres">
      <dgm:prSet presAssocID="{D7512FB4-8A70-0448-92EF-BFD4E5DBB348}" presName="c2text" presStyleLbl="node1" presStyleIdx="1" presStyleCnt="2">
        <dgm:presLayoutVars>
          <dgm:bulletEnabled val="1"/>
        </dgm:presLayoutVars>
      </dgm:prSet>
      <dgm:spPr/>
      <dgm:t>
        <a:bodyPr/>
        <a:lstStyle/>
        <a:p>
          <a:endParaRPr lang="en-US"/>
        </a:p>
      </dgm:t>
    </dgm:pt>
  </dgm:ptLst>
  <dgm:cxnLst>
    <dgm:cxn modelId="{B41C856B-7D3C-F046-BF13-A052C5E900AE}" srcId="{D7512FB4-8A70-0448-92EF-BFD4E5DBB348}" destId="{8954F5DD-FED8-8646-8CCC-8C9E5B2D9060}" srcOrd="1" destOrd="0" parTransId="{694275F7-5009-6C4F-9FFC-A66B62C432DF}" sibTransId="{315BCF7D-BA24-C441-9094-123D071A4E0E}"/>
    <dgm:cxn modelId="{F5C36C2E-0491-E44F-AF56-2E5A814D2024}" type="presOf" srcId="{8954F5DD-FED8-8646-8CCC-8C9E5B2D9060}" destId="{E87A0282-7FDA-4F45-85EF-036C5A17A76A}" srcOrd="0" destOrd="0" presId="urn:microsoft.com/office/officeart/2005/8/layout/venn2"/>
    <dgm:cxn modelId="{F2E94CD8-D86D-6743-B909-209057A82C6F}" type="presOf" srcId="{AD0CAB55-99A0-544C-BE4E-FA84DAD0B51D}" destId="{3447F41C-4C03-8344-BFC8-480ACAA14951}" srcOrd="0" destOrd="0" presId="urn:microsoft.com/office/officeart/2005/8/layout/venn2"/>
    <dgm:cxn modelId="{88160168-6C82-F142-A274-E4A30A5329D9}" type="presOf" srcId="{8954F5DD-FED8-8646-8CCC-8C9E5B2D9060}" destId="{3448F539-58F8-9D47-9EF5-FFF5743D235F}" srcOrd="1" destOrd="0" presId="urn:microsoft.com/office/officeart/2005/8/layout/venn2"/>
    <dgm:cxn modelId="{C0B8A5CD-0113-3B40-BD01-BAA1883D8C6D}" type="presOf" srcId="{D7512FB4-8A70-0448-92EF-BFD4E5DBB348}" destId="{BF42640A-AB81-F448-8A51-0E8F2FE12EE6}" srcOrd="0" destOrd="0" presId="urn:microsoft.com/office/officeart/2005/8/layout/venn2"/>
    <dgm:cxn modelId="{3FDA8F39-DDDA-4943-A1DF-7AEA58ED8240}" srcId="{D7512FB4-8A70-0448-92EF-BFD4E5DBB348}" destId="{AD0CAB55-99A0-544C-BE4E-FA84DAD0B51D}" srcOrd="0" destOrd="0" parTransId="{B6117137-35BC-1843-B835-0A006AD225F2}" sibTransId="{F83ACF9B-4A79-B843-8E7E-36857BBCF3E7}"/>
    <dgm:cxn modelId="{2EAD2731-72C7-924F-A166-0FAD3A084DDC}" type="presOf" srcId="{AD0CAB55-99A0-544C-BE4E-FA84DAD0B51D}" destId="{14715EB7-6422-C042-AA47-EDFBDD03116E}" srcOrd="1" destOrd="0" presId="urn:microsoft.com/office/officeart/2005/8/layout/venn2"/>
    <dgm:cxn modelId="{8BAD7002-A024-BD46-B7A6-5E4A6B255F77}" type="presParOf" srcId="{BF42640A-AB81-F448-8A51-0E8F2FE12EE6}" destId="{CB31CE07-58F1-C347-95FA-53EA5D42537A}" srcOrd="0" destOrd="0" presId="urn:microsoft.com/office/officeart/2005/8/layout/venn2"/>
    <dgm:cxn modelId="{5A74C854-45AA-1344-924E-4D2E7D749315}" type="presParOf" srcId="{CB31CE07-58F1-C347-95FA-53EA5D42537A}" destId="{3447F41C-4C03-8344-BFC8-480ACAA14951}" srcOrd="0" destOrd="0" presId="urn:microsoft.com/office/officeart/2005/8/layout/venn2"/>
    <dgm:cxn modelId="{037BDACD-A5BF-1B4B-A77C-4EE5224AD55C}" type="presParOf" srcId="{CB31CE07-58F1-C347-95FA-53EA5D42537A}" destId="{14715EB7-6422-C042-AA47-EDFBDD03116E}" srcOrd="1" destOrd="0" presId="urn:microsoft.com/office/officeart/2005/8/layout/venn2"/>
    <dgm:cxn modelId="{488FC779-70BC-5944-B39D-2CB2372E392A}" type="presParOf" srcId="{BF42640A-AB81-F448-8A51-0E8F2FE12EE6}" destId="{78223505-E4D9-A84D-AEEC-742C8EB86400}" srcOrd="1" destOrd="0" presId="urn:microsoft.com/office/officeart/2005/8/layout/venn2"/>
    <dgm:cxn modelId="{B6C370A2-C6A0-BB4F-A70C-03EFFBC1B224}" type="presParOf" srcId="{78223505-E4D9-A84D-AEEC-742C8EB86400}" destId="{E87A0282-7FDA-4F45-85EF-036C5A17A76A}" srcOrd="0" destOrd="0" presId="urn:microsoft.com/office/officeart/2005/8/layout/venn2"/>
    <dgm:cxn modelId="{FB7EA993-7525-4B44-ABB0-834F0DC21FF0}" type="presParOf" srcId="{78223505-E4D9-A84D-AEEC-742C8EB86400}" destId="{3448F539-58F8-9D47-9EF5-FFF5743D235F}"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94BF52D-FBDF-B845-B9A3-AB87D3D41158}" type="doc">
      <dgm:prSet loTypeId="urn:microsoft.com/office/officeart/2009/3/layout/StepUpProcess" loCatId="" qsTypeId="urn:microsoft.com/office/officeart/2005/8/quickstyle/simple4" qsCatId="simple" csTypeId="urn:microsoft.com/office/officeart/2005/8/colors/accent1_2" csCatId="accent1" phldr="1"/>
      <dgm:spPr/>
      <dgm:t>
        <a:bodyPr/>
        <a:lstStyle/>
        <a:p>
          <a:endParaRPr lang="en-GB"/>
        </a:p>
      </dgm:t>
    </dgm:pt>
    <dgm:pt modelId="{A5E81308-A190-2F4D-A0CE-7E2DC85C86E8}">
      <dgm:prSet/>
      <dgm:spPr>
        <a:solidFill>
          <a:srgbClr val="006699"/>
        </a:solidFill>
        <a:ln>
          <a:solidFill>
            <a:schemeClr val="bg1"/>
          </a:solidFill>
        </a:ln>
      </dgm:spPr>
      <dgm:t>
        <a:bodyPr/>
        <a:lstStyle/>
        <a:p>
          <a:pPr rtl="0"/>
          <a:r>
            <a:rPr lang="en-US" dirty="0" smtClean="0">
              <a:solidFill>
                <a:schemeClr val="bg1"/>
              </a:solidFill>
            </a:rPr>
            <a:t>Passive minority equity partner with foreign oil companies</a:t>
          </a:r>
          <a:endParaRPr lang="en-US" dirty="0">
            <a:solidFill>
              <a:schemeClr val="bg1"/>
            </a:solidFill>
          </a:endParaRPr>
        </a:p>
      </dgm:t>
    </dgm:pt>
    <dgm:pt modelId="{91EA43A3-AFA7-C442-85DD-067F02BCAEE5}" type="parTrans" cxnId="{6BC576A7-E2F5-9447-B63C-AAFCE9D709EC}">
      <dgm:prSet/>
      <dgm:spPr/>
      <dgm:t>
        <a:bodyPr/>
        <a:lstStyle/>
        <a:p>
          <a:endParaRPr lang="en-GB"/>
        </a:p>
      </dgm:t>
    </dgm:pt>
    <dgm:pt modelId="{76EBE7F2-6694-F240-83A5-47A1F87698E0}" type="sibTrans" cxnId="{6BC576A7-E2F5-9447-B63C-AAFCE9D709EC}">
      <dgm:prSet/>
      <dgm:spPr/>
      <dgm:t>
        <a:bodyPr/>
        <a:lstStyle/>
        <a:p>
          <a:endParaRPr lang="en-GB"/>
        </a:p>
      </dgm:t>
    </dgm:pt>
    <dgm:pt modelId="{957A82AB-F61E-DA46-B66E-0CD456A5D063}">
      <dgm:prSet/>
      <dgm:spPr>
        <a:solidFill>
          <a:srgbClr val="006699"/>
        </a:solidFill>
        <a:ln>
          <a:solidFill>
            <a:schemeClr val="bg1"/>
          </a:solidFill>
        </a:ln>
      </dgm:spPr>
      <dgm:t>
        <a:bodyPr/>
        <a:lstStyle/>
        <a:p>
          <a:pPr rtl="0"/>
          <a:r>
            <a:rPr lang="en-US" dirty="0" smtClean="0">
              <a:solidFill>
                <a:schemeClr val="bg1"/>
              </a:solidFill>
            </a:rPr>
            <a:t>Contributing minority equity partner (NOC raises finance)</a:t>
          </a:r>
          <a:endParaRPr lang="en-US" dirty="0">
            <a:solidFill>
              <a:schemeClr val="bg1"/>
            </a:solidFill>
          </a:endParaRPr>
        </a:p>
      </dgm:t>
    </dgm:pt>
    <dgm:pt modelId="{EFD6ECD8-3A2A-D345-A992-A4FC67EAFEFB}" type="parTrans" cxnId="{24DE67A0-D39C-5E4F-9FD8-150C473B47E1}">
      <dgm:prSet/>
      <dgm:spPr/>
      <dgm:t>
        <a:bodyPr/>
        <a:lstStyle/>
        <a:p>
          <a:endParaRPr lang="en-GB"/>
        </a:p>
      </dgm:t>
    </dgm:pt>
    <dgm:pt modelId="{ED9A5676-FAA2-EB46-B8BA-85A14F9A23AA}" type="sibTrans" cxnId="{24DE67A0-D39C-5E4F-9FD8-150C473B47E1}">
      <dgm:prSet/>
      <dgm:spPr/>
      <dgm:t>
        <a:bodyPr/>
        <a:lstStyle/>
        <a:p>
          <a:endParaRPr lang="en-GB"/>
        </a:p>
      </dgm:t>
    </dgm:pt>
    <dgm:pt modelId="{075FEE13-5100-5842-AD08-4312BEDFDA67}">
      <dgm:prSet/>
      <dgm:spPr>
        <a:solidFill>
          <a:srgbClr val="006699"/>
        </a:solidFill>
        <a:ln>
          <a:solidFill>
            <a:schemeClr val="bg1"/>
          </a:solidFill>
        </a:ln>
      </dgm:spPr>
      <dgm:t>
        <a:bodyPr/>
        <a:lstStyle/>
        <a:p>
          <a:pPr rtl="0"/>
          <a:r>
            <a:rPr lang="en-US" dirty="0" smtClean="0">
              <a:solidFill>
                <a:schemeClr val="bg1"/>
              </a:solidFill>
            </a:rPr>
            <a:t>Responsibility for minor field</a:t>
          </a:r>
          <a:endParaRPr lang="en-US" dirty="0">
            <a:solidFill>
              <a:schemeClr val="bg1"/>
            </a:solidFill>
          </a:endParaRPr>
        </a:p>
      </dgm:t>
    </dgm:pt>
    <dgm:pt modelId="{28BC4671-EABA-3949-BC8E-794FBC11D983}" type="parTrans" cxnId="{27E6C4A2-DC65-9B4A-8FD1-C103594D3B78}">
      <dgm:prSet/>
      <dgm:spPr/>
      <dgm:t>
        <a:bodyPr/>
        <a:lstStyle/>
        <a:p>
          <a:endParaRPr lang="en-GB"/>
        </a:p>
      </dgm:t>
    </dgm:pt>
    <dgm:pt modelId="{57B2797A-1AF2-4644-B225-7F79B3D46AD9}" type="sibTrans" cxnId="{27E6C4A2-DC65-9B4A-8FD1-C103594D3B78}">
      <dgm:prSet/>
      <dgm:spPr/>
      <dgm:t>
        <a:bodyPr/>
        <a:lstStyle/>
        <a:p>
          <a:endParaRPr lang="en-GB"/>
        </a:p>
      </dgm:t>
    </dgm:pt>
    <dgm:pt modelId="{918878FC-0455-994D-ABFC-831A47A89957}">
      <dgm:prSet/>
      <dgm:spPr>
        <a:solidFill>
          <a:srgbClr val="006699"/>
        </a:solidFill>
        <a:ln>
          <a:solidFill>
            <a:schemeClr val="bg1"/>
          </a:solidFill>
        </a:ln>
      </dgm:spPr>
      <dgm:t>
        <a:bodyPr/>
        <a:lstStyle/>
        <a:p>
          <a:pPr rtl="0"/>
          <a:r>
            <a:rPr lang="en-US" dirty="0" smtClean="0">
              <a:solidFill>
                <a:schemeClr val="bg1"/>
              </a:solidFill>
            </a:rPr>
            <a:t>Responsibility for major, complex field</a:t>
          </a:r>
          <a:endParaRPr lang="en-US" dirty="0">
            <a:solidFill>
              <a:schemeClr val="bg1"/>
            </a:solidFill>
          </a:endParaRPr>
        </a:p>
      </dgm:t>
    </dgm:pt>
    <dgm:pt modelId="{53D31EA6-DC88-574C-87EB-D5A6F71E63B3}" type="parTrans" cxnId="{6FF992D6-1FB4-D54E-BA50-9CB6419527E8}">
      <dgm:prSet/>
      <dgm:spPr/>
      <dgm:t>
        <a:bodyPr/>
        <a:lstStyle/>
        <a:p>
          <a:endParaRPr lang="en-GB"/>
        </a:p>
      </dgm:t>
    </dgm:pt>
    <dgm:pt modelId="{57EB2897-B89B-9743-A92D-626AB43F456B}" type="sibTrans" cxnId="{6FF992D6-1FB4-D54E-BA50-9CB6419527E8}">
      <dgm:prSet/>
      <dgm:spPr/>
      <dgm:t>
        <a:bodyPr/>
        <a:lstStyle/>
        <a:p>
          <a:endParaRPr lang="en-GB"/>
        </a:p>
      </dgm:t>
    </dgm:pt>
    <dgm:pt modelId="{9FD77BBA-6C82-3749-9161-E8B5E6D2D681}">
      <dgm:prSet/>
      <dgm:spPr>
        <a:solidFill>
          <a:srgbClr val="006699"/>
        </a:solidFill>
        <a:ln>
          <a:solidFill>
            <a:schemeClr val="bg1"/>
          </a:solidFill>
        </a:ln>
      </dgm:spPr>
      <dgm:t>
        <a:bodyPr/>
        <a:lstStyle/>
        <a:p>
          <a:pPr rtl="0"/>
          <a:r>
            <a:rPr lang="en-US" dirty="0" smtClean="0">
              <a:solidFill>
                <a:schemeClr val="bg1"/>
              </a:solidFill>
            </a:rPr>
            <a:t>Overseas expansion</a:t>
          </a:r>
          <a:endParaRPr lang="en-US" dirty="0">
            <a:solidFill>
              <a:schemeClr val="bg1"/>
            </a:solidFill>
          </a:endParaRPr>
        </a:p>
      </dgm:t>
    </dgm:pt>
    <dgm:pt modelId="{14833E51-60E8-1048-BF06-0BA9496E9B49}" type="parTrans" cxnId="{84F6E8CE-1006-D14F-9DBD-69C98A10B898}">
      <dgm:prSet/>
      <dgm:spPr/>
      <dgm:t>
        <a:bodyPr/>
        <a:lstStyle/>
        <a:p>
          <a:endParaRPr lang="en-GB"/>
        </a:p>
      </dgm:t>
    </dgm:pt>
    <dgm:pt modelId="{B109339D-EC88-764F-8EDD-8A3B8158CB0F}" type="sibTrans" cxnId="{84F6E8CE-1006-D14F-9DBD-69C98A10B898}">
      <dgm:prSet/>
      <dgm:spPr/>
      <dgm:t>
        <a:bodyPr/>
        <a:lstStyle/>
        <a:p>
          <a:endParaRPr lang="en-GB"/>
        </a:p>
      </dgm:t>
    </dgm:pt>
    <dgm:pt modelId="{BBEA9DD3-1B06-8047-8779-784A6007261C}" type="pres">
      <dgm:prSet presAssocID="{D94BF52D-FBDF-B845-B9A3-AB87D3D41158}" presName="rootnode" presStyleCnt="0">
        <dgm:presLayoutVars>
          <dgm:chMax/>
          <dgm:chPref/>
          <dgm:dir/>
          <dgm:animLvl val="lvl"/>
        </dgm:presLayoutVars>
      </dgm:prSet>
      <dgm:spPr/>
      <dgm:t>
        <a:bodyPr/>
        <a:lstStyle/>
        <a:p>
          <a:endParaRPr lang="en-US"/>
        </a:p>
      </dgm:t>
    </dgm:pt>
    <dgm:pt modelId="{8DD91021-6FDE-8143-9524-CB662561EC0A}" type="pres">
      <dgm:prSet presAssocID="{A5E81308-A190-2F4D-A0CE-7E2DC85C86E8}" presName="composite" presStyleCnt="0"/>
      <dgm:spPr/>
    </dgm:pt>
    <dgm:pt modelId="{1CE8BA8B-1C62-1F4C-B2B0-B05E7FF35222}" type="pres">
      <dgm:prSet presAssocID="{A5E81308-A190-2F4D-A0CE-7E2DC85C86E8}" presName="LShape" presStyleLbl="alignNode1" presStyleIdx="0" presStyleCnt="9"/>
      <dgm:spPr>
        <a:solidFill>
          <a:srgbClr val="006699"/>
        </a:solidFill>
        <a:ln>
          <a:solidFill>
            <a:schemeClr val="bg1"/>
          </a:solidFill>
        </a:ln>
      </dgm:spPr>
    </dgm:pt>
    <dgm:pt modelId="{EC35D5DC-2162-414F-80E8-B1E3966E9AE0}" type="pres">
      <dgm:prSet presAssocID="{A5E81308-A190-2F4D-A0CE-7E2DC85C86E8}" presName="ParentText" presStyleLbl="revTx" presStyleIdx="0" presStyleCnt="5">
        <dgm:presLayoutVars>
          <dgm:chMax val="0"/>
          <dgm:chPref val="0"/>
          <dgm:bulletEnabled val="1"/>
        </dgm:presLayoutVars>
      </dgm:prSet>
      <dgm:spPr/>
      <dgm:t>
        <a:bodyPr/>
        <a:lstStyle/>
        <a:p>
          <a:endParaRPr lang="en-US"/>
        </a:p>
      </dgm:t>
    </dgm:pt>
    <dgm:pt modelId="{A971F106-B13B-6242-8531-263F70715B1D}" type="pres">
      <dgm:prSet presAssocID="{A5E81308-A190-2F4D-A0CE-7E2DC85C86E8}" presName="Triangle" presStyleLbl="alignNode1" presStyleIdx="1" presStyleCnt="9"/>
      <dgm:spPr>
        <a:solidFill>
          <a:srgbClr val="006699"/>
        </a:solidFill>
        <a:ln>
          <a:solidFill>
            <a:schemeClr val="bg1"/>
          </a:solidFill>
        </a:ln>
      </dgm:spPr>
    </dgm:pt>
    <dgm:pt modelId="{86A9F950-AC2D-3948-B6B8-771689634D89}" type="pres">
      <dgm:prSet presAssocID="{76EBE7F2-6694-F240-83A5-47A1F87698E0}" presName="sibTrans" presStyleCnt="0"/>
      <dgm:spPr/>
    </dgm:pt>
    <dgm:pt modelId="{DF732DC6-B773-954F-8CAD-3572DBBEDE4D}" type="pres">
      <dgm:prSet presAssocID="{76EBE7F2-6694-F240-83A5-47A1F87698E0}" presName="space" presStyleCnt="0"/>
      <dgm:spPr/>
    </dgm:pt>
    <dgm:pt modelId="{292BFCD2-A405-FB40-A02F-A139E6499863}" type="pres">
      <dgm:prSet presAssocID="{957A82AB-F61E-DA46-B66E-0CD456A5D063}" presName="composite" presStyleCnt="0"/>
      <dgm:spPr/>
    </dgm:pt>
    <dgm:pt modelId="{B050D30D-9F09-3948-8366-23741A6988F2}" type="pres">
      <dgm:prSet presAssocID="{957A82AB-F61E-DA46-B66E-0CD456A5D063}" presName="LShape" presStyleLbl="alignNode1" presStyleIdx="2" presStyleCnt="9"/>
      <dgm:spPr>
        <a:solidFill>
          <a:srgbClr val="006699"/>
        </a:solidFill>
        <a:ln>
          <a:solidFill>
            <a:schemeClr val="bg1"/>
          </a:solidFill>
        </a:ln>
      </dgm:spPr>
    </dgm:pt>
    <dgm:pt modelId="{0E352EDD-BC5B-C342-ABF0-73A1AB501ECD}" type="pres">
      <dgm:prSet presAssocID="{957A82AB-F61E-DA46-B66E-0CD456A5D063}" presName="ParentText" presStyleLbl="revTx" presStyleIdx="1" presStyleCnt="5">
        <dgm:presLayoutVars>
          <dgm:chMax val="0"/>
          <dgm:chPref val="0"/>
          <dgm:bulletEnabled val="1"/>
        </dgm:presLayoutVars>
      </dgm:prSet>
      <dgm:spPr/>
      <dgm:t>
        <a:bodyPr/>
        <a:lstStyle/>
        <a:p>
          <a:endParaRPr lang="en-GB"/>
        </a:p>
      </dgm:t>
    </dgm:pt>
    <dgm:pt modelId="{31F03C2F-18B6-AA48-8D7E-51B957C17E70}" type="pres">
      <dgm:prSet presAssocID="{957A82AB-F61E-DA46-B66E-0CD456A5D063}" presName="Triangle" presStyleLbl="alignNode1" presStyleIdx="3" presStyleCnt="9"/>
      <dgm:spPr>
        <a:solidFill>
          <a:srgbClr val="006699"/>
        </a:solidFill>
        <a:ln>
          <a:solidFill>
            <a:schemeClr val="bg1"/>
          </a:solidFill>
        </a:ln>
      </dgm:spPr>
    </dgm:pt>
    <dgm:pt modelId="{6D16FD3A-DB0B-754D-9FB1-9B45A0EB3C6E}" type="pres">
      <dgm:prSet presAssocID="{ED9A5676-FAA2-EB46-B8BA-85A14F9A23AA}" presName="sibTrans" presStyleCnt="0"/>
      <dgm:spPr/>
    </dgm:pt>
    <dgm:pt modelId="{B0C35A89-3AFF-D747-B7E6-CAC8F24371DC}" type="pres">
      <dgm:prSet presAssocID="{ED9A5676-FAA2-EB46-B8BA-85A14F9A23AA}" presName="space" presStyleCnt="0"/>
      <dgm:spPr/>
    </dgm:pt>
    <dgm:pt modelId="{2E58024A-0668-3B47-BA98-EBECCF4BFFAA}" type="pres">
      <dgm:prSet presAssocID="{075FEE13-5100-5842-AD08-4312BEDFDA67}" presName="composite" presStyleCnt="0"/>
      <dgm:spPr/>
    </dgm:pt>
    <dgm:pt modelId="{7A97DB68-D3E0-3C46-9B72-03D15799D5B3}" type="pres">
      <dgm:prSet presAssocID="{075FEE13-5100-5842-AD08-4312BEDFDA67}" presName="LShape" presStyleLbl="alignNode1" presStyleIdx="4" presStyleCnt="9"/>
      <dgm:spPr>
        <a:solidFill>
          <a:srgbClr val="006699"/>
        </a:solidFill>
        <a:ln>
          <a:solidFill>
            <a:schemeClr val="bg1"/>
          </a:solidFill>
        </a:ln>
      </dgm:spPr>
    </dgm:pt>
    <dgm:pt modelId="{C25F8630-E5D6-E64C-A424-5E19A907484E}" type="pres">
      <dgm:prSet presAssocID="{075FEE13-5100-5842-AD08-4312BEDFDA67}" presName="ParentText" presStyleLbl="revTx" presStyleIdx="2" presStyleCnt="5">
        <dgm:presLayoutVars>
          <dgm:chMax val="0"/>
          <dgm:chPref val="0"/>
          <dgm:bulletEnabled val="1"/>
        </dgm:presLayoutVars>
      </dgm:prSet>
      <dgm:spPr/>
      <dgm:t>
        <a:bodyPr/>
        <a:lstStyle/>
        <a:p>
          <a:endParaRPr lang="en-US"/>
        </a:p>
      </dgm:t>
    </dgm:pt>
    <dgm:pt modelId="{FAF70577-946F-C148-B0C1-87C975D4EA0B}" type="pres">
      <dgm:prSet presAssocID="{075FEE13-5100-5842-AD08-4312BEDFDA67}" presName="Triangle" presStyleLbl="alignNode1" presStyleIdx="5" presStyleCnt="9"/>
      <dgm:spPr>
        <a:solidFill>
          <a:srgbClr val="006699"/>
        </a:solidFill>
        <a:ln>
          <a:solidFill>
            <a:schemeClr val="bg1"/>
          </a:solidFill>
        </a:ln>
      </dgm:spPr>
    </dgm:pt>
    <dgm:pt modelId="{4C7522ED-6C03-D64B-8715-4107B8FA0911}" type="pres">
      <dgm:prSet presAssocID="{57B2797A-1AF2-4644-B225-7F79B3D46AD9}" presName="sibTrans" presStyleCnt="0"/>
      <dgm:spPr/>
    </dgm:pt>
    <dgm:pt modelId="{652867D8-EFBF-F941-A229-B8A7851C18FA}" type="pres">
      <dgm:prSet presAssocID="{57B2797A-1AF2-4644-B225-7F79B3D46AD9}" presName="space" presStyleCnt="0"/>
      <dgm:spPr/>
    </dgm:pt>
    <dgm:pt modelId="{B2F8A082-A573-4049-840E-649DD53E6D61}" type="pres">
      <dgm:prSet presAssocID="{918878FC-0455-994D-ABFC-831A47A89957}" presName="composite" presStyleCnt="0"/>
      <dgm:spPr/>
    </dgm:pt>
    <dgm:pt modelId="{3403C40A-C692-144D-99E6-3C82196DC908}" type="pres">
      <dgm:prSet presAssocID="{918878FC-0455-994D-ABFC-831A47A89957}" presName="LShape" presStyleLbl="alignNode1" presStyleIdx="6" presStyleCnt="9"/>
      <dgm:spPr>
        <a:solidFill>
          <a:srgbClr val="006699"/>
        </a:solidFill>
        <a:ln>
          <a:solidFill>
            <a:schemeClr val="bg1"/>
          </a:solidFill>
        </a:ln>
      </dgm:spPr>
    </dgm:pt>
    <dgm:pt modelId="{2D491394-723B-1445-B95B-716F4AB78940}" type="pres">
      <dgm:prSet presAssocID="{918878FC-0455-994D-ABFC-831A47A89957}" presName="ParentText" presStyleLbl="revTx" presStyleIdx="3" presStyleCnt="5">
        <dgm:presLayoutVars>
          <dgm:chMax val="0"/>
          <dgm:chPref val="0"/>
          <dgm:bulletEnabled val="1"/>
        </dgm:presLayoutVars>
      </dgm:prSet>
      <dgm:spPr/>
      <dgm:t>
        <a:bodyPr/>
        <a:lstStyle/>
        <a:p>
          <a:endParaRPr lang="en-GB"/>
        </a:p>
      </dgm:t>
    </dgm:pt>
    <dgm:pt modelId="{A3699871-D46E-504D-8656-3DF9F729CC74}" type="pres">
      <dgm:prSet presAssocID="{918878FC-0455-994D-ABFC-831A47A89957}" presName="Triangle" presStyleLbl="alignNode1" presStyleIdx="7" presStyleCnt="9"/>
      <dgm:spPr>
        <a:solidFill>
          <a:srgbClr val="006699"/>
        </a:solidFill>
        <a:ln>
          <a:solidFill>
            <a:schemeClr val="bg1"/>
          </a:solidFill>
        </a:ln>
      </dgm:spPr>
    </dgm:pt>
    <dgm:pt modelId="{C2469A4B-BC8D-9643-8976-E981CD971B3F}" type="pres">
      <dgm:prSet presAssocID="{57EB2897-B89B-9743-A92D-626AB43F456B}" presName="sibTrans" presStyleCnt="0"/>
      <dgm:spPr/>
    </dgm:pt>
    <dgm:pt modelId="{B725DCA6-604C-4140-9DFF-06A5E64D921D}" type="pres">
      <dgm:prSet presAssocID="{57EB2897-B89B-9743-A92D-626AB43F456B}" presName="space" presStyleCnt="0"/>
      <dgm:spPr/>
    </dgm:pt>
    <dgm:pt modelId="{EBB2B8D7-B785-494B-BBBB-8195CBF0D50E}" type="pres">
      <dgm:prSet presAssocID="{9FD77BBA-6C82-3749-9161-E8B5E6D2D681}" presName="composite" presStyleCnt="0"/>
      <dgm:spPr/>
    </dgm:pt>
    <dgm:pt modelId="{0007B51A-8198-934B-A099-E24FE413A13B}" type="pres">
      <dgm:prSet presAssocID="{9FD77BBA-6C82-3749-9161-E8B5E6D2D681}" presName="LShape" presStyleLbl="alignNode1" presStyleIdx="8" presStyleCnt="9"/>
      <dgm:spPr>
        <a:solidFill>
          <a:srgbClr val="006699"/>
        </a:solidFill>
        <a:ln>
          <a:solidFill>
            <a:schemeClr val="bg1"/>
          </a:solidFill>
        </a:ln>
      </dgm:spPr>
    </dgm:pt>
    <dgm:pt modelId="{57077351-116E-BA47-AF08-B2D02354736F}" type="pres">
      <dgm:prSet presAssocID="{9FD77BBA-6C82-3749-9161-E8B5E6D2D681}" presName="ParentText" presStyleLbl="revTx" presStyleIdx="4" presStyleCnt="5">
        <dgm:presLayoutVars>
          <dgm:chMax val="0"/>
          <dgm:chPref val="0"/>
          <dgm:bulletEnabled val="1"/>
        </dgm:presLayoutVars>
      </dgm:prSet>
      <dgm:spPr/>
      <dgm:t>
        <a:bodyPr/>
        <a:lstStyle/>
        <a:p>
          <a:endParaRPr lang="en-US"/>
        </a:p>
      </dgm:t>
    </dgm:pt>
  </dgm:ptLst>
  <dgm:cxnLst>
    <dgm:cxn modelId="{A9F9D0E6-D073-4FAA-975C-BE9ACEE2B0E2}" type="presOf" srcId="{918878FC-0455-994D-ABFC-831A47A89957}" destId="{2D491394-723B-1445-B95B-716F4AB78940}" srcOrd="0" destOrd="0" presId="urn:microsoft.com/office/officeart/2009/3/layout/StepUpProcess"/>
    <dgm:cxn modelId="{6FF992D6-1FB4-D54E-BA50-9CB6419527E8}" srcId="{D94BF52D-FBDF-B845-B9A3-AB87D3D41158}" destId="{918878FC-0455-994D-ABFC-831A47A89957}" srcOrd="3" destOrd="0" parTransId="{53D31EA6-DC88-574C-87EB-D5A6F71E63B3}" sibTransId="{57EB2897-B89B-9743-A92D-626AB43F456B}"/>
    <dgm:cxn modelId="{52037CEA-26E0-48A3-A666-8A3C3FFDAF25}" type="presOf" srcId="{A5E81308-A190-2F4D-A0CE-7E2DC85C86E8}" destId="{EC35D5DC-2162-414F-80E8-B1E3966E9AE0}" srcOrd="0" destOrd="0" presId="urn:microsoft.com/office/officeart/2009/3/layout/StepUpProcess"/>
    <dgm:cxn modelId="{2B84CFD5-E0EE-4C9B-BE36-81126C83BDEA}" type="presOf" srcId="{957A82AB-F61E-DA46-B66E-0CD456A5D063}" destId="{0E352EDD-BC5B-C342-ABF0-73A1AB501ECD}" srcOrd="0" destOrd="0" presId="urn:microsoft.com/office/officeart/2009/3/layout/StepUpProcess"/>
    <dgm:cxn modelId="{6BC576A7-E2F5-9447-B63C-AAFCE9D709EC}" srcId="{D94BF52D-FBDF-B845-B9A3-AB87D3D41158}" destId="{A5E81308-A190-2F4D-A0CE-7E2DC85C86E8}" srcOrd="0" destOrd="0" parTransId="{91EA43A3-AFA7-C442-85DD-067F02BCAEE5}" sibTransId="{76EBE7F2-6694-F240-83A5-47A1F87698E0}"/>
    <dgm:cxn modelId="{9A7786F8-5E06-4D10-90BE-31F6EE279F62}" type="presOf" srcId="{075FEE13-5100-5842-AD08-4312BEDFDA67}" destId="{C25F8630-E5D6-E64C-A424-5E19A907484E}" srcOrd="0" destOrd="0" presId="urn:microsoft.com/office/officeart/2009/3/layout/StepUpProcess"/>
    <dgm:cxn modelId="{24DE67A0-D39C-5E4F-9FD8-150C473B47E1}" srcId="{D94BF52D-FBDF-B845-B9A3-AB87D3D41158}" destId="{957A82AB-F61E-DA46-B66E-0CD456A5D063}" srcOrd="1" destOrd="0" parTransId="{EFD6ECD8-3A2A-D345-A992-A4FC67EAFEFB}" sibTransId="{ED9A5676-FAA2-EB46-B8BA-85A14F9A23AA}"/>
    <dgm:cxn modelId="{84F6E8CE-1006-D14F-9DBD-69C98A10B898}" srcId="{D94BF52D-FBDF-B845-B9A3-AB87D3D41158}" destId="{9FD77BBA-6C82-3749-9161-E8B5E6D2D681}" srcOrd="4" destOrd="0" parTransId="{14833E51-60E8-1048-BF06-0BA9496E9B49}" sibTransId="{B109339D-EC88-764F-8EDD-8A3B8158CB0F}"/>
    <dgm:cxn modelId="{27E6C4A2-DC65-9B4A-8FD1-C103594D3B78}" srcId="{D94BF52D-FBDF-B845-B9A3-AB87D3D41158}" destId="{075FEE13-5100-5842-AD08-4312BEDFDA67}" srcOrd="2" destOrd="0" parTransId="{28BC4671-EABA-3949-BC8E-794FBC11D983}" sibTransId="{57B2797A-1AF2-4644-B225-7F79B3D46AD9}"/>
    <dgm:cxn modelId="{6A2E8150-1366-4A1C-B6E2-7BC7590712D4}" type="presOf" srcId="{9FD77BBA-6C82-3749-9161-E8B5E6D2D681}" destId="{57077351-116E-BA47-AF08-B2D02354736F}" srcOrd="0" destOrd="0" presId="urn:microsoft.com/office/officeart/2009/3/layout/StepUpProcess"/>
    <dgm:cxn modelId="{64C0E848-2B6B-4901-A578-5658C46FD687}" type="presOf" srcId="{D94BF52D-FBDF-B845-B9A3-AB87D3D41158}" destId="{BBEA9DD3-1B06-8047-8779-784A6007261C}" srcOrd="0" destOrd="0" presId="urn:microsoft.com/office/officeart/2009/3/layout/StepUpProcess"/>
    <dgm:cxn modelId="{84683F9A-7077-4565-B777-F84F924DF3E9}" type="presParOf" srcId="{BBEA9DD3-1B06-8047-8779-784A6007261C}" destId="{8DD91021-6FDE-8143-9524-CB662561EC0A}" srcOrd="0" destOrd="0" presId="urn:microsoft.com/office/officeart/2009/3/layout/StepUpProcess"/>
    <dgm:cxn modelId="{3B3BADB8-AA31-4838-A025-A1A4C38FD570}" type="presParOf" srcId="{8DD91021-6FDE-8143-9524-CB662561EC0A}" destId="{1CE8BA8B-1C62-1F4C-B2B0-B05E7FF35222}" srcOrd="0" destOrd="0" presId="urn:microsoft.com/office/officeart/2009/3/layout/StepUpProcess"/>
    <dgm:cxn modelId="{50635A9E-D2B8-459B-90F1-702313FA49FF}" type="presParOf" srcId="{8DD91021-6FDE-8143-9524-CB662561EC0A}" destId="{EC35D5DC-2162-414F-80E8-B1E3966E9AE0}" srcOrd="1" destOrd="0" presId="urn:microsoft.com/office/officeart/2009/3/layout/StepUpProcess"/>
    <dgm:cxn modelId="{BBD80718-4897-4AD9-AED4-7947B1330F5E}" type="presParOf" srcId="{8DD91021-6FDE-8143-9524-CB662561EC0A}" destId="{A971F106-B13B-6242-8531-263F70715B1D}" srcOrd="2" destOrd="0" presId="urn:microsoft.com/office/officeart/2009/3/layout/StepUpProcess"/>
    <dgm:cxn modelId="{C6905051-5181-4D92-9DEE-FDF86493C889}" type="presParOf" srcId="{BBEA9DD3-1B06-8047-8779-784A6007261C}" destId="{86A9F950-AC2D-3948-B6B8-771689634D89}" srcOrd="1" destOrd="0" presId="urn:microsoft.com/office/officeart/2009/3/layout/StepUpProcess"/>
    <dgm:cxn modelId="{A7771B78-4369-4054-A624-2BF8D09A149E}" type="presParOf" srcId="{86A9F950-AC2D-3948-B6B8-771689634D89}" destId="{DF732DC6-B773-954F-8CAD-3572DBBEDE4D}" srcOrd="0" destOrd="0" presId="urn:microsoft.com/office/officeart/2009/3/layout/StepUpProcess"/>
    <dgm:cxn modelId="{C7103CC7-DB91-4274-A268-F024E95E9516}" type="presParOf" srcId="{BBEA9DD3-1B06-8047-8779-784A6007261C}" destId="{292BFCD2-A405-FB40-A02F-A139E6499863}" srcOrd="2" destOrd="0" presId="urn:microsoft.com/office/officeart/2009/3/layout/StepUpProcess"/>
    <dgm:cxn modelId="{EFC83286-1938-4FED-AF7E-634711600D30}" type="presParOf" srcId="{292BFCD2-A405-FB40-A02F-A139E6499863}" destId="{B050D30D-9F09-3948-8366-23741A6988F2}" srcOrd="0" destOrd="0" presId="urn:microsoft.com/office/officeart/2009/3/layout/StepUpProcess"/>
    <dgm:cxn modelId="{71146B2B-41F6-479C-83E0-9F8F3A03B673}" type="presParOf" srcId="{292BFCD2-A405-FB40-A02F-A139E6499863}" destId="{0E352EDD-BC5B-C342-ABF0-73A1AB501ECD}" srcOrd="1" destOrd="0" presId="urn:microsoft.com/office/officeart/2009/3/layout/StepUpProcess"/>
    <dgm:cxn modelId="{DDD05F6E-9F47-42D0-8DE3-9066E8E77EED}" type="presParOf" srcId="{292BFCD2-A405-FB40-A02F-A139E6499863}" destId="{31F03C2F-18B6-AA48-8D7E-51B957C17E70}" srcOrd="2" destOrd="0" presId="urn:microsoft.com/office/officeart/2009/3/layout/StepUpProcess"/>
    <dgm:cxn modelId="{41F2D9CE-F0AB-4DF8-8232-8821F579B951}" type="presParOf" srcId="{BBEA9DD3-1B06-8047-8779-784A6007261C}" destId="{6D16FD3A-DB0B-754D-9FB1-9B45A0EB3C6E}" srcOrd="3" destOrd="0" presId="urn:microsoft.com/office/officeart/2009/3/layout/StepUpProcess"/>
    <dgm:cxn modelId="{065B44C2-DB1C-436E-B8D8-E60494C63AF4}" type="presParOf" srcId="{6D16FD3A-DB0B-754D-9FB1-9B45A0EB3C6E}" destId="{B0C35A89-3AFF-D747-B7E6-CAC8F24371DC}" srcOrd="0" destOrd="0" presId="urn:microsoft.com/office/officeart/2009/3/layout/StepUpProcess"/>
    <dgm:cxn modelId="{DAF81162-55C0-453A-9924-47412D76B83F}" type="presParOf" srcId="{BBEA9DD3-1B06-8047-8779-784A6007261C}" destId="{2E58024A-0668-3B47-BA98-EBECCF4BFFAA}" srcOrd="4" destOrd="0" presId="urn:microsoft.com/office/officeart/2009/3/layout/StepUpProcess"/>
    <dgm:cxn modelId="{5BA2504C-D1EA-4E23-A1EE-F7BC7D571791}" type="presParOf" srcId="{2E58024A-0668-3B47-BA98-EBECCF4BFFAA}" destId="{7A97DB68-D3E0-3C46-9B72-03D15799D5B3}" srcOrd="0" destOrd="0" presId="urn:microsoft.com/office/officeart/2009/3/layout/StepUpProcess"/>
    <dgm:cxn modelId="{1778DA45-DD34-4160-A285-8E03A85100FE}" type="presParOf" srcId="{2E58024A-0668-3B47-BA98-EBECCF4BFFAA}" destId="{C25F8630-E5D6-E64C-A424-5E19A907484E}" srcOrd="1" destOrd="0" presId="urn:microsoft.com/office/officeart/2009/3/layout/StepUpProcess"/>
    <dgm:cxn modelId="{6912542A-087A-4A5F-BFFB-44BFE64B8768}" type="presParOf" srcId="{2E58024A-0668-3B47-BA98-EBECCF4BFFAA}" destId="{FAF70577-946F-C148-B0C1-87C975D4EA0B}" srcOrd="2" destOrd="0" presId="urn:microsoft.com/office/officeart/2009/3/layout/StepUpProcess"/>
    <dgm:cxn modelId="{56A2E494-1186-4E0C-8435-7C09A26FF630}" type="presParOf" srcId="{BBEA9DD3-1B06-8047-8779-784A6007261C}" destId="{4C7522ED-6C03-D64B-8715-4107B8FA0911}" srcOrd="5" destOrd="0" presId="urn:microsoft.com/office/officeart/2009/3/layout/StepUpProcess"/>
    <dgm:cxn modelId="{60638E14-0560-4064-BA6B-00645C01F981}" type="presParOf" srcId="{4C7522ED-6C03-D64B-8715-4107B8FA0911}" destId="{652867D8-EFBF-F941-A229-B8A7851C18FA}" srcOrd="0" destOrd="0" presId="urn:microsoft.com/office/officeart/2009/3/layout/StepUpProcess"/>
    <dgm:cxn modelId="{78286CC8-4D9E-47F0-BA69-6B0DDFC214C5}" type="presParOf" srcId="{BBEA9DD3-1B06-8047-8779-784A6007261C}" destId="{B2F8A082-A573-4049-840E-649DD53E6D61}" srcOrd="6" destOrd="0" presId="urn:microsoft.com/office/officeart/2009/3/layout/StepUpProcess"/>
    <dgm:cxn modelId="{FDA5FFBD-B7D3-4712-9088-74B15E9F025C}" type="presParOf" srcId="{B2F8A082-A573-4049-840E-649DD53E6D61}" destId="{3403C40A-C692-144D-99E6-3C82196DC908}" srcOrd="0" destOrd="0" presId="urn:microsoft.com/office/officeart/2009/3/layout/StepUpProcess"/>
    <dgm:cxn modelId="{CDE9D3E3-CA7A-4EFA-A52A-6CD1FC763947}" type="presParOf" srcId="{B2F8A082-A573-4049-840E-649DD53E6D61}" destId="{2D491394-723B-1445-B95B-716F4AB78940}" srcOrd="1" destOrd="0" presId="urn:microsoft.com/office/officeart/2009/3/layout/StepUpProcess"/>
    <dgm:cxn modelId="{2D162CA9-A331-4480-8589-129AFA873D3F}" type="presParOf" srcId="{B2F8A082-A573-4049-840E-649DD53E6D61}" destId="{A3699871-D46E-504D-8656-3DF9F729CC74}" srcOrd="2" destOrd="0" presId="urn:microsoft.com/office/officeart/2009/3/layout/StepUpProcess"/>
    <dgm:cxn modelId="{1E03E3B2-A8C6-477B-B254-3991D40719D9}" type="presParOf" srcId="{BBEA9DD3-1B06-8047-8779-784A6007261C}" destId="{C2469A4B-BC8D-9643-8976-E981CD971B3F}" srcOrd="7" destOrd="0" presId="urn:microsoft.com/office/officeart/2009/3/layout/StepUpProcess"/>
    <dgm:cxn modelId="{A40B53FC-E976-4777-B1F2-5B64646AB4AB}" type="presParOf" srcId="{C2469A4B-BC8D-9643-8976-E981CD971B3F}" destId="{B725DCA6-604C-4140-9DFF-06A5E64D921D}" srcOrd="0" destOrd="0" presId="urn:microsoft.com/office/officeart/2009/3/layout/StepUpProcess"/>
    <dgm:cxn modelId="{78344272-E902-4FE2-8C9C-9E47F44402F1}" type="presParOf" srcId="{BBEA9DD3-1B06-8047-8779-784A6007261C}" destId="{EBB2B8D7-B785-494B-BBBB-8195CBF0D50E}" srcOrd="8" destOrd="0" presId="urn:microsoft.com/office/officeart/2009/3/layout/StepUpProcess"/>
    <dgm:cxn modelId="{E337EE49-F3D0-4A01-81E5-3F32830C67BC}" type="presParOf" srcId="{EBB2B8D7-B785-494B-BBBB-8195CBF0D50E}" destId="{0007B51A-8198-934B-A099-E24FE413A13B}" srcOrd="0" destOrd="0" presId="urn:microsoft.com/office/officeart/2009/3/layout/StepUpProcess"/>
    <dgm:cxn modelId="{B9BD5C88-070A-4851-8A6D-DF8CF4A5216B}" type="presParOf" srcId="{EBB2B8D7-B785-494B-BBBB-8195CBF0D50E}" destId="{57077351-116E-BA47-AF08-B2D02354736F}" srcOrd="1" destOrd="0" presId="urn:microsoft.com/office/officeart/2009/3/layout/StepUpProcess"/>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3283DF8-FEFC-734F-8B7D-5946C77BB0B6}" type="doc">
      <dgm:prSet loTypeId="urn:microsoft.com/office/officeart/2009/3/layout/RandomtoResultProcess" loCatId="" qsTypeId="urn:microsoft.com/office/officeart/2005/8/quickstyle/simple4" qsCatId="simple" csTypeId="urn:microsoft.com/office/officeart/2005/8/colors/accent1_2" csCatId="accent1" phldr="1"/>
      <dgm:spPr/>
      <dgm:t>
        <a:bodyPr/>
        <a:lstStyle/>
        <a:p>
          <a:endParaRPr lang="en-GB"/>
        </a:p>
      </dgm:t>
    </dgm:pt>
    <dgm:pt modelId="{DEAB88A9-6268-6047-BA73-2DDCC5B5D535}">
      <dgm:prSet phldrT="[Text]"/>
      <dgm:spPr>
        <a:solidFill>
          <a:srgbClr val="006699"/>
        </a:solidFill>
        <a:ln>
          <a:solidFill>
            <a:srgbClr val="FFFFFF"/>
          </a:solidFill>
        </a:ln>
      </dgm:spPr>
      <dgm:t>
        <a:bodyPr/>
        <a:lstStyle/>
        <a:p>
          <a:r>
            <a:rPr lang="en-GB" dirty="0" smtClean="0">
              <a:solidFill>
                <a:schemeClr val="bg1"/>
              </a:solidFill>
            </a:rPr>
            <a:t>15 years+ expected production</a:t>
          </a:r>
          <a:endParaRPr lang="en-GB" dirty="0">
            <a:solidFill>
              <a:schemeClr val="bg1"/>
            </a:solidFill>
          </a:endParaRPr>
        </a:p>
      </dgm:t>
    </dgm:pt>
    <dgm:pt modelId="{2A327051-9C02-2449-94D9-CC3FDB4C89D4}" type="parTrans" cxnId="{DFBD1141-46A6-3241-870A-853C41695E4D}">
      <dgm:prSet/>
      <dgm:spPr/>
      <dgm:t>
        <a:bodyPr/>
        <a:lstStyle/>
        <a:p>
          <a:endParaRPr lang="en-GB"/>
        </a:p>
      </dgm:t>
    </dgm:pt>
    <dgm:pt modelId="{5D68964F-5C17-5C41-A6FC-BFFD7731FDCE}" type="sibTrans" cxnId="{DFBD1141-46A6-3241-870A-853C41695E4D}">
      <dgm:prSet/>
      <dgm:spPr/>
      <dgm:t>
        <a:bodyPr/>
        <a:lstStyle/>
        <a:p>
          <a:endParaRPr lang="en-GB"/>
        </a:p>
      </dgm:t>
    </dgm:pt>
    <dgm:pt modelId="{744F4528-7132-9541-BB0D-DF3A0B9CA9AF}">
      <dgm:prSet phldrT="[Text]"/>
      <dgm:spPr>
        <a:solidFill>
          <a:srgbClr val="006699"/>
        </a:solidFill>
        <a:ln>
          <a:solidFill>
            <a:srgbClr val="FFFFFF"/>
          </a:solidFill>
        </a:ln>
      </dgm:spPr>
      <dgm:t>
        <a:bodyPr/>
        <a:lstStyle/>
        <a:p>
          <a:r>
            <a:rPr lang="en-GB" dirty="0" smtClean="0"/>
            <a:t>Operator ambitions</a:t>
          </a:r>
          <a:endParaRPr lang="en-GB" dirty="0"/>
        </a:p>
      </dgm:t>
    </dgm:pt>
    <dgm:pt modelId="{55DB8A47-2053-9149-BA22-22681ABF5EC5}" type="parTrans" cxnId="{96BC2677-0E2E-3C4C-8C15-E69C5AFC4390}">
      <dgm:prSet/>
      <dgm:spPr/>
      <dgm:t>
        <a:bodyPr/>
        <a:lstStyle/>
        <a:p>
          <a:endParaRPr lang="en-GB"/>
        </a:p>
      </dgm:t>
    </dgm:pt>
    <dgm:pt modelId="{637CC75A-552E-564F-B908-40D9EE87C7F5}" type="sibTrans" cxnId="{96BC2677-0E2E-3C4C-8C15-E69C5AFC4390}">
      <dgm:prSet/>
      <dgm:spPr/>
      <dgm:t>
        <a:bodyPr/>
        <a:lstStyle/>
        <a:p>
          <a:endParaRPr lang="en-GB"/>
        </a:p>
      </dgm:t>
    </dgm:pt>
    <dgm:pt modelId="{54764386-D903-E144-B20F-7C4769880944}" type="pres">
      <dgm:prSet presAssocID="{03283DF8-FEFC-734F-8B7D-5946C77BB0B6}" presName="Name0" presStyleCnt="0">
        <dgm:presLayoutVars>
          <dgm:dir/>
          <dgm:animOne val="branch"/>
          <dgm:animLvl val="lvl"/>
        </dgm:presLayoutVars>
      </dgm:prSet>
      <dgm:spPr/>
      <dgm:t>
        <a:bodyPr/>
        <a:lstStyle/>
        <a:p>
          <a:endParaRPr lang="en-US"/>
        </a:p>
      </dgm:t>
    </dgm:pt>
    <dgm:pt modelId="{83D560B2-E6E9-9541-AF72-053357DF5E6E}" type="pres">
      <dgm:prSet presAssocID="{DEAB88A9-6268-6047-BA73-2DDCC5B5D535}" presName="chaos" presStyleCnt="0"/>
      <dgm:spPr/>
    </dgm:pt>
    <dgm:pt modelId="{60DCC2FF-6FB4-8B41-8122-66FB518BEBD7}" type="pres">
      <dgm:prSet presAssocID="{DEAB88A9-6268-6047-BA73-2DDCC5B5D535}" presName="parTx1" presStyleLbl="revTx" presStyleIdx="0" presStyleCnt="1"/>
      <dgm:spPr/>
      <dgm:t>
        <a:bodyPr/>
        <a:lstStyle/>
        <a:p>
          <a:endParaRPr lang="en-GB"/>
        </a:p>
      </dgm:t>
    </dgm:pt>
    <dgm:pt modelId="{5C6F4EDF-8FE6-D047-A438-3E8989EC3457}" type="pres">
      <dgm:prSet presAssocID="{DEAB88A9-6268-6047-BA73-2DDCC5B5D535}" presName="c1" presStyleLbl="node1" presStyleIdx="0" presStyleCnt="19"/>
      <dgm:spPr>
        <a:solidFill>
          <a:srgbClr val="006699"/>
        </a:solidFill>
        <a:ln>
          <a:solidFill>
            <a:srgbClr val="FFFFFF"/>
          </a:solidFill>
        </a:ln>
      </dgm:spPr>
    </dgm:pt>
    <dgm:pt modelId="{CD9556E5-81E5-5E49-820C-72C171F96105}" type="pres">
      <dgm:prSet presAssocID="{DEAB88A9-6268-6047-BA73-2DDCC5B5D535}" presName="c2" presStyleLbl="node1" presStyleIdx="1" presStyleCnt="19"/>
      <dgm:spPr>
        <a:solidFill>
          <a:srgbClr val="006699"/>
        </a:solidFill>
        <a:ln>
          <a:solidFill>
            <a:srgbClr val="FFFFFF"/>
          </a:solidFill>
        </a:ln>
      </dgm:spPr>
    </dgm:pt>
    <dgm:pt modelId="{FF389CB0-1F0D-6947-95F8-0AC9469E5D99}" type="pres">
      <dgm:prSet presAssocID="{DEAB88A9-6268-6047-BA73-2DDCC5B5D535}" presName="c3" presStyleLbl="node1" presStyleIdx="2" presStyleCnt="19"/>
      <dgm:spPr>
        <a:solidFill>
          <a:srgbClr val="006699"/>
        </a:solidFill>
        <a:ln>
          <a:solidFill>
            <a:srgbClr val="FFFFFF"/>
          </a:solidFill>
        </a:ln>
      </dgm:spPr>
    </dgm:pt>
    <dgm:pt modelId="{8AA0FB6E-FA97-D341-B962-C561464F4FC5}" type="pres">
      <dgm:prSet presAssocID="{DEAB88A9-6268-6047-BA73-2DDCC5B5D535}" presName="c4" presStyleLbl="node1" presStyleIdx="3" presStyleCnt="19"/>
      <dgm:spPr>
        <a:solidFill>
          <a:srgbClr val="006699"/>
        </a:solidFill>
        <a:ln>
          <a:solidFill>
            <a:srgbClr val="FFFFFF"/>
          </a:solidFill>
        </a:ln>
      </dgm:spPr>
    </dgm:pt>
    <dgm:pt modelId="{FE28F562-AD98-B249-9AB1-CFC41C26617B}" type="pres">
      <dgm:prSet presAssocID="{DEAB88A9-6268-6047-BA73-2DDCC5B5D535}" presName="c5" presStyleLbl="node1" presStyleIdx="4" presStyleCnt="19"/>
      <dgm:spPr>
        <a:solidFill>
          <a:srgbClr val="006699"/>
        </a:solidFill>
        <a:ln>
          <a:solidFill>
            <a:srgbClr val="FFFFFF"/>
          </a:solidFill>
        </a:ln>
      </dgm:spPr>
    </dgm:pt>
    <dgm:pt modelId="{FA0FEB36-8872-7E46-9FC7-130115E88168}" type="pres">
      <dgm:prSet presAssocID="{DEAB88A9-6268-6047-BA73-2DDCC5B5D535}" presName="c6" presStyleLbl="node1" presStyleIdx="5" presStyleCnt="19"/>
      <dgm:spPr>
        <a:solidFill>
          <a:srgbClr val="006699"/>
        </a:solidFill>
        <a:ln>
          <a:solidFill>
            <a:srgbClr val="FFFFFF"/>
          </a:solidFill>
        </a:ln>
      </dgm:spPr>
    </dgm:pt>
    <dgm:pt modelId="{391D0BA1-9C3C-EB43-B318-52A99B48F678}" type="pres">
      <dgm:prSet presAssocID="{DEAB88A9-6268-6047-BA73-2DDCC5B5D535}" presName="c7" presStyleLbl="node1" presStyleIdx="6" presStyleCnt="19"/>
      <dgm:spPr>
        <a:solidFill>
          <a:srgbClr val="006699"/>
        </a:solidFill>
        <a:ln>
          <a:solidFill>
            <a:srgbClr val="FFFFFF"/>
          </a:solidFill>
        </a:ln>
      </dgm:spPr>
    </dgm:pt>
    <dgm:pt modelId="{EAB755A0-69AB-4149-AAA9-7972C1E3BA97}" type="pres">
      <dgm:prSet presAssocID="{DEAB88A9-6268-6047-BA73-2DDCC5B5D535}" presName="c8" presStyleLbl="node1" presStyleIdx="7" presStyleCnt="19"/>
      <dgm:spPr>
        <a:solidFill>
          <a:srgbClr val="006699"/>
        </a:solidFill>
        <a:ln>
          <a:solidFill>
            <a:srgbClr val="FFFFFF"/>
          </a:solidFill>
        </a:ln>
      </dgm:spPr>
    </dgm:pt>
    <dgm:pt modelId="{42391F0C-4762-6548-B39F-48FF1951153E}" type="pres">
      <dgm:prSet presAssocID="{DEAB88A9-6268-6047-BA73-2DDCC5B5D535}" presName="c9" presStyleLbl="node1" presStyleIdx="8" presStyleCnt="19" custLinFactX="-100000" custLinFactNeighborX="-169084" custLinFactNeighborY="-89363"/>
      <dgm:spPr>
        <a:solidFill>
          <a:srgbClr val="006699"/>
        </a:solidFill>
        <a:ln>
          <a:solidFill>
            <a:srgbClr val="FFFFFF"/>
          </a:solidFill>
        </a:ln>
      </dgm:spPr>
    </dgm:pt>
    <dgm:pt modelId="{A480E766-BD1A-1F4F-9031-3DF6A8765EE1}" type="pres">
      <dgm:prSet presAssocID="{DEAB88A9-6268-6047-BA73-2DDCC5B5D535}" presName="c10" presStyleLbl="node1" presStyleIdx="9" presStyleCnt="19"/>
      <dgm:spPr>
        <a:solidFill>
          <a:srgbClr val="006699"/>
        </a:solidFill>
        <a:ln>
          <a:solidFill>
            <a:srgbClr val="FFFFFF"/>
          </a:solidFill>
        </a:ln>
      </dgm:spPr>
    </dgm:pt>
    <dgm:pt modelId="{A5C43AA5-092B-E546-B2F1-3401DEEFF55F}" type="pres">
      <dgm:prSet presAssocID="{DEAB88A9-6268-6047-BA73-2DDCC5B5D535}" presName="c11" presStyleLbl="node1" presStyleIdx="10" presStyleCnt="19"/>
      <dgm:spPr>
        <a:solidFill>
          <a:srgbClr val="006699"/>
        </a:solidFill>
        <a:ln>
          <a:solidFill>
            <a:srgbClr val="FFFFFF"/>
          </a:solidFill>
        </a:ln>
      </dgm:spPr>
    </dgm:pt>
    <dgm:pt modelId="{28313441-CF25-AE4B-B2C9-470078033DF8}" type="pres">
      <dgm:prSet presAssocID="{DEAB88A9-6268-6047-BA73-2DDCC5B5D535}" presName="c12" presStyleLbl="node1" presStyleIdx="11" presStyleCnt="19"/>
      <dgm:spPr>
        <a:solidFill>
          <a:srgbClr val="006699"/>
        </a:solidFill>
        <a:ln>
          <a:solidFill>
            <a:srgbClr val="FFFFFF"/>
          </a:solidFill>
        </a:ln>
      </dgm:spPr>
    </dgm:pt>
    <dgm:pt modelId="{0F3895B5-88F9-9F4C-9669-5C63CE167B81}" type="pres">
      <dgm:prSet presAssocID="{DEAB88A9-6268-6047-BA73-2DDCC5B5D535}" presName="c13" presStyleLbl="node1" presStyleIdx="12" presStyleCnt="19"/>
      <dgm:spPr>
        <a:solidFill>
          <a:srgbClr val="006699"/>
        </a:solidFill>
        <a:ln>
          <a:solidFill>
            <a:srgbClr val="FFFFFF"/>
          </a:solidFill>
        </a:ln>
      </dgm:spPr>
    </dgm:pt>
    <dgm:pt modelId="{CD09F2A7-4F51-CE48-B65D-E266ADC27E12}" type="pres">
      <dgm:prSet presAssocID="{DEAB88A9-6268-6047-BA73-2DDCC5B5D535}" presName="c14" presStyleLbl="node1" presStyleIdx="13" presStyleCnt="19"/>
      <dgm:spPr>
        <a:solidFill>
          <a:srgbClr val="006699"/>
        </a:solidFill>
        <a:ln>
          <a:solidFill>
            <a:srgbClr val="FFFFFF"/>
          </a:solidFill>
        </a:ln>
      </dgm:spPr>
    </dgm:pt>
    <dgm:pt modelId="{9A1E1A6E-27AC-F241-902D-C58C9138A2E9}" type="pres">
      <dgm:prSet presAssocID="{DEAB88A9-6268-6047-BA73-2DDCC5B5D535}" presName="c15" presStyleLbl="node1" presStyleIdx="14" presStyleCnt="19"/>
      <dgm:spPr>
        <a:solidFill>
          <a:srgbClr val="006699"/>
        </a:solidFill>
        <a:ln>
          <a:solidFill>
            <a:srgbClr val="FFFFFF"/>
          </a:solidFill>
        </a:ln>
      </dgm:spPr>
    </dgm:pt>
    <dgm:pt modelId="{31BB0B46-E019-5B4E-A33C-C336068F3579}" type="pres">
      <dgm:prSet presAssocID="{DEAB88A9-6268-6047-BA73-2DDCC5B5D535}" presName="c16" presStyleLbl="node1" presStyleIdx="15" presStyleCnt="19"/>
      <dgm:spPr>
        <a:solidFill>
          <a:srgbClr val="006699"/>
        </a:solidFill>
        <a:ln>
          <a:solidFill>
            <a:srgbClr val="FFFFFF"/>
          </a:solidFill>
        </a:ln>
      </dgm:spPr>
    </dgm:pt>
    <dgm:pt modelId="{F4106545-AAD7-8A49-B5C4-D6C2E1E0F183}" type="pres">
      <dgm:prSet presAssocID="{DEAB88A9-6268-6047-BA73-2DDCC5B5D535}" presName="c17" presStyleLbl="node1" presStyleIdx="16" presStyleCnt="19"/>
      <dgm:spPr>
        <a:solidFill>
          <a:srgbClr val="006699"/>
        </a:solidFill>
        <a:ln>
          <a:solidFill>
            <a:srgbClr val="FFFFFF"/>
          </a:solidFill>
        </a:ln>
      </dgm:spPr>
    </dgm:pt>
    <dgm:pt modelId="{00485BCF-4E16-C543-8D9E-22B3AEEA4EB3}" type="pres">
      <dgm:prSet presAssocID="{DEAB88A9-6268-6047-BA73-2DDCC5B5D535}" presName="c18" presStyleLbl="node1" presStyleIdx="17" presStyleCnt="19"/>
      <dgm:spPr>
        <a:solidFill>
          <a:srgbClr val="006699"/>
        </a:solidFill>
        <a:ln>
          <a:solidFill>
            <a:srgbClr val="FFFFFF"/>
          </a:solidFill>
        </a:ln>
      </dgm:spPr>
    </dgm:pt>
    <dgm:pt modelId="{31407EAC-0F92-DB46-BF58-FF398293B4E5}" type="pres">
      <dgm:prSet presAssocID="{5D68964F-5C17-5C41-A6FC-BFFD7731FDCE}" presName="chevronComposite1" presStyleCnt="0"/>
      <dgm:spPr/>
    </dgm:pt>
    <dgm:pt modelId="{F7FC9103-F115-7747-A093-D8F80CB11918}" type="pres">
      <dgm:prSet presAssocID="{5D68964F-5C17-5C41-A6FC-BFFD7731FDCE}" presName="chevron1" presStyleLbl="sibTrans2D1" presStyleIdx="0" presStyleCnt="2"/>
      <dgm:spPr>
        <a:solidFill>
          <a:srgbClr val="006699"/>
        </a:solidFill>
        <a:ln>
          <a:solidFill>
            <a:srgbClr val="FFFFFF"/>
          </a:solidFill>
        </a:ln>
      </dgm:spPr>
    </dgm:pt>
    <dgm:pt modelId="{D15CC544-93FE-4043-8E09-C0D98C62B525}" type="pres">
      <dgm:prSet presAssocID="{5D68964F-5C17-5C41-A6FC-BFFD7731FDCE}" presName="spChevron1" presStyleCnt="0"/>
      <dgm:spPr/>
    </dgm:pt>
    <dgm:pt modelId="{F42ED151-7821-AC41-8F72-76ECCF320152}" type="pres">
      <dgm:prSet presAssocID="{5D68964F-5C17-5C41-A6FC-BFFD7731FDCE}" presName="overlap" presStyleCnt="0"/>
      <dgm:spPr/>
    </dgm:pt>
    <dgm:pt modelId="{F80D3937-AD00-A142-967D-8511CCEE22A9}" type="pres">
      <dgm:prSet presAssocID="{5D68964F-5C17-5C41-A6FC-BFFD7731FDCE}" presName="chevronComposite2" presStyleCnt="0"/>
      <dgm:spPr/>
    </dgm:pt>
    <dgm:pt modelId="{8271E8B3-DA58-7C43-8EF8-6EF514DAA6C6}" type="pres">
      <dgm:prSet presAssocID="{5D68964F-5C17-5C41-A6FC-BFFD7731FDCE}" presName="chevron2" presStyleLbl="sibTrans2D1" presStyleIdx="1" presStyleCnt="2"/>
      <dgm:spPr>
        <a:solidFill>
          <a:srgbClr val="006699"/>
        </a:solidFill>
        <a:ln>
          <a:solidFill>
            <a:srgbClr val="FFFFFF"/>
          </a:solidFill>
        </a:ln>
      </dgm:spPr>
    </dgm:pt>
    <dgm:pt modelId="{A34C38E4-251F-8843-A361-87B55854C03E}" type="pres">
      <dgm:prSet presAssocID="{5D68964F-5C17-5C41-A6FC-BFFD7731FDCE}" presName="spChevron2" presStyleCnt="0"/>
      <dgm:spPr/>
    </dgm:pt>
    <dgm:pt modelId="{92821ADB-1A88-5B4D-9C4B-8A72288C409A}" type="pres">
      <dgm:prSet presAssocID="{744F4528-7132-9541-BB0D-DF3A0B9CA9AF}" presName="last" presStyleCnt="0"/>
      <dgm:spPr/>
    </dgm:pt>
    <dgm:pt modelId="{B37340ED-8874-CE4A-9C6D-D05E3F54FB3B}" type="pres">
      <dgm:prSet presAssocID="{744F4528-7132-9541-BB0D-DF3A0B9CA9AF}" presName="circleTx" presStyleLbl="node1" presStyleIdx="18" presStyleCnt="19"/>
      <dgm:spPr/>
      <dgm:t>
        <a:bodyPr/>
        <a:lstStyle/>
        <a:p>
          <a:endParaRPr lang="en-GB"/>
        </a:p>
      </dgm:t>
    </dgm:pt>
    <dgm:pt modelId="{5DB3E8A8-8FB6-7C4E-AE7F-54FC01DD9F06}" type="pres">
      <dgm:prSet presAssocID="{744F4528-7132-9541-BB0D-DF3A0B9CA9AF}" presName="spN" presStyleCnt="0"/>
      <dgm:spPr/>
    </dgm:pt>
  </dgm:ptLst>
  <dgm:cxnLst>
    <dgm:cxn modelId="{05D118C7-035F-4D2E-9B97-153B2A169658}" type="presOf" srcId="{744F4528-7132-9541-BB0D-DF3A0B9CA9AF}" destId="{B37340ED-8874-CE4A-9C6D-D05E3F54FB3B}" srcOrd="0" destOrd="0" presId="urn:microsoft.com/office/officeart/2009/3/layout/RandomtoResultProcess"/>
    <dgm:cxn modelId="{A4CE0F2F-C9CF-41A5-97AC-AA7F4F56DD8B}" type="presOf" srcId="{03283DF8-FEFC-734F-8B7D-5946C77BB0B6}" destId="{54764386-D903-E144-B20F-7C4769880944}" srcOrd="0" destOrd="0" presId="urn:microsoft.com/office/officeart/2009/3/layout/RandomtoResultProcess"/>
    <dgm:cxn modelId="{8E8ADCBC-83AA-435B-9672-B96506EF9A93}" type="presOf" srcId="{DEAB88A9-6268-6047-BA73-2DDCC5B5D535}" destId="{60DCC2FF-6FB4-8B41-8122-66FB518BEBD7}" srcOrd="0" destOrd="0" presId="urn:microsoft.com/office/officeart/2009/3/layout/RandomtoResultProcess"/>
    <dgm:cxn modelId="{96BC2677-0E2E-3C4C-8C15-E69C5AFC4390}" srcId="{03283DF8-FEFC-734F-8B7D-5946C77BB0B6}" destId="{744F4528-7132-9541-BB0D-DF3A0B9CA9AF}" srcOrd="1" destOrd="0" parTransId="{55DB8A47-2053-9149-BA22-22681ABF5EC5}" sibTransId="{637CC75A-552E-564F-B908-40D9EE87C7F5}"/>
    <dgm:cxn modelId="{DFBD1141-46A6-3241-870A-853C41695E4D}" srcId="{03283DF8-FEFC-734F-8B7D-5946C77BB0B6}" destId="{DEAB88A9-6268-6047-BA73-2DDCC5B5D535}" srcOrd="0" destOrd="0" parTransId="{2A327051-9C02-2449-94D9-CC3FDB4C89D4}" sibTransId="{5D68964F-5C17-5C41-A6FC-BFFD7731FDCE}"/>
    <dgm:cxn modelId="{216938D0-2AFB-47DE-B36F-E496DF31EF60}" type="presParOf" srcId="{54764386-D903-E144-B20F-7C4769880944}" destId="{83D560B2-E6E9-9541-AF72-053357DF5E6E}" srcOrd="0" destOrd="0" presId="urn:microsoft.com/office/officeart/2009/3/layout/RandomtoResultProcess"/>
    <dgm:cxn modelId="{AD5D7FAA-6F2E-4886-90C4-1C82FDDE6C2B}" type="presParOf" srcId="{83D560B2-E6E9-9541-AF72-053357DF5E6E}" destId="{60DCC2FF-6FB4-8B41-8122-66FB518BEBD7}" srcOrd="0" destOrd="0" presId="urn:microsoft.com/office/officeart/2009/3/layout/RandomtoResultProcess"/>
    <dgm:cxn modelId="{E1E584AB-2B1C-41E3-A918-2C85A4D24736}" type="presParOf" srcId="{83D560B2-E6E9-9541-AF72-053357DF5E6E}" destId="{5C6F4EDF-8FE6-D047-A438-3E8989EC3457}" srcOrd="1" destOrd="0" presId="urn:microsoft.com/office/officeart/2009/3/layout/RandomtoResultProcess"/>
    <dgm:cxn modelId="{9EA7C456-28FB-4E6D-8CF6-13956A89D482}" type="presParOf" srcId="{83D560B2-E6E9-9541-AF72-053357DF5E6E}" destId="{CD9556E5-81E5-5E49-820C-72C171F96105}" srcOrd="2" destOrd="0" presId="urn:microsoft.com/office/officeart/2009/3/layout/RandomtoResultProcess"/>
    <dgm:cxn modelId="{9683627E-7152-4136-8850-DFED85096648}" type="presParOf" srcId="{83D560B2-E6E9-9541-AF72-053357DF5E6E}" destId="{FF389CB0-1F0D-6947-95F8-0AC9469E5D99}" srcOrd="3" destOrd="0" presId="urn:microsoft.com/office/officeart/2009/3/layout/RandomtoResultProcess"/>
    <dgm:cxn modelId="{8BF62729-1D5E-40FD-B6A4-2261115F2918}" type="presParOf" srcId="{83D560B2-E6E9-9541-AF72-053357DF5E6E}" destId="{8AA0FB6E-FA97-D341-B962-C561464F4FC5}" srcOrd="4" destOrd="0" presId="urn:microsoft.com/office/officeart/2009/3/layout/RandomtoResultProcess"/>
    <dgm:cxn modelId="{7326992A-21EC-4A7F-847E-B6EE3ADC9551}" type="presParOf" srcId="{83D560B2-E6E9-9541-AF72-053357DF5E6E}" destId="{FE28F562-AD98-B249-9AB1-CFC41C26617B}" srcOrd="5" destOrd="0" presId="urn:microsoft.com/office/officeart/2009/3/layout/RandomtoResultProcess"/>
    <dgm:cxn modelId="{92F42ACE-0274-4A17-AA79-9B97782A6CD7}" type="presParOf" srcId="{83D560B2-E6E9-9541-AF72-053357DF5E6E}" destId="{FA0FEB36-8872-7E46-9FC7-130115E88168}" srcOrd="6" destOrd="0" presId="urn:microsoft.com/office/officeart/2009/3/layout/RandomtoResultProcess"/>
    <dgm:cxn modelId="{ABC14A25-5A0B-42AB-A64A-0F2D13E74A57}" type="presParOf" srcId="{83D560B2-E6E9-9541-AF72-053357DF5E6E}" destId="{391D0BA1-9C3C-EB43-B318-52A99B48F678}" srcOrd="7" destOrd="0" presId="urn:microsoft.com/office/officeart/2009/3/layout/RandomtoResultProcess"/>
    <dgm:cxn modelId="{AA53D188-B254-4210-8D53-B06E62470097}" type="presParOf" srcId="{83D560B2-E6E9-9541-AF72-053357DF5E6E}" destId="{EAB755A0-69AB-4149-AAA9-7972C1E3BA97}" srcOrd="8" destOrd="0" presId="urn:microsoft.com/office/officeart/2009/3/layout/RandomtoResultProcess"/>
    <dgm:cxn modelId="{5A11074C-CC49-46CC-97A3-6E03C44E8B60}" type="presParOf" srcId="{83D560B2-E6E9-9541-AF72-053357DF5E6E}" destId="{42391F0C-4762-6548-B39F-48FF1951153E}" srcOrd="9" destOrd="0" presId="urn:microsoft.com/office/officeart/2009/3/layout/RandomtoResultProcess"/>
    <dgm:cxn modelId="{2F74A539-A82A-4864-99F8-4950C406FC2C}" type="presParOf" srcId="{83D560B2-E6E9-9541-AF72-053357DF5E6E}" destId="{A480E766-BD1A-1F4F-9031-3DF6A8765EE1}" srcOrd="10" destOrd="0" presId="urn:microsoft.com/office/officeart/2009/3/layout/RandomtoResultProcess"/>
    <dgm:cxn modelId="{3A15C34C-E847-4C1A-ADEB-95D155EC9F73}" type="presParOf" srcId="{83D560B2-E6E9-9541-AF72-053357DF5E6E}" destId="{A5C43AA5-092B-E546-B2F1-3401DEEFF55F}" srcOrd="11" destOrd="0" presId="urn:microsoft.com/office/officeart/2009/3/layout/RandomtoResultProcess"/>
    <dgm:cxn modelId="{E8BA01CE-A720-46C5-BB2B-CBEA9DFBF19E}" type="presParOf" srcId="{83D560B2-E6E9-9541-AF72-053357DF5E6E}" destId="{28313441-CF25-AE4B-B2C9-470078033DF8}" srcOrd="12" destOrd="0" presId="urn:microsoft.com/office/officeart/2009/3/layout/RandomtoResultProcess"/>
    <dgm:cxn modelId="{2DD13D46-BE3C-4572-B46A-AA8C0AD13D40}" type="presParOf" srcId="{83D560B2-E6E9-9541-AF72-053357DF5E6E}" destId="{0F3895B5-88F9-9F4C-9669-5C63CE167B81}" srcOrd="13" destOrd="0" presId="urn:microsoft.com/office/officeart/2009/3/layout/RandomtoResultProcess"/>
    <dgm:cxn modelId="{8083DE85-BEE0-45A9-BFC6-D3CAD8B8EC01}" type="presParOf" srcId="{83D560B2-E6E9-9541-AF72-053357DF5E6E}" destId="{CD09F2A7-4F51-CE48-B65D-E266ADC27E12}" srcOrd="14" destOrd="0" presId="urn:microsoft.com/office/officeart/2009/3/layout/RandomtoResultProcess"/>
    <dgm:cxn modelId="{0C131079-5230-41EA-94BB-E89F4CA18ADE}" type="presParOf" srcId="{83D560B2-E6E9-9541-AF72-053357DF5E6E}" destId="{9A1E1A6E-27AC-F241-902D-C58C9138A2E9}" srcOrd="15" destOrd="0" presId="urn:microsoft.com/office/officeart/2009/3/layout/RandomtoResultProcess"/>
    <dgm:cxn modelId="{B2471E0C-283C-4737-9F29-FE49FAB63F62}" type="presParOf" srcId="{83D560B2-E6E9-9541-AF72-053357DF5E6E}" destId="{31BB0B46-E019-5B4E-A33C-C336068F3579}" srcOrd="16" destOrd="0" presId="urn:microsoft.com/office/officeart/2009/3/layout/RandomtoResultProcess"/>
    <dgm:cxn modelId="{00D2D9BB-1613-4768-8F7C-9E9A62E6FD1B}" type="presParOf" srcId="{83D560B2-E6E9-9541-AF72-053357DF5E6E}" destId="{F4106545-AAD7-8A49-B5C4-D6C2E1E0F183}" srcOrd="17" destOrd="0" presId="urn:microsoft.com/office/officeart/2009/3/layout/RandomtoResultProcess"/>
    <dgm:cxn modelId="{26660AD7-45CE-4D40-ADC0-D87CCE196D02}" type="presParOf" srcId="{83D560B2-E6E9-9541-AF72-053357DF5E6E}" destId="{00485BCF-4E16-C543-8D9E-22B3AEEA4EB3}" srcOrd="18" destOrd="0" presId="urn:microsoft.com/office/officeart/2009/3/layout/RandomtoResultProcess"/>
    <dgm:cxn modelId="{37886C96-46FC-4A65-BAA9-DA563BDF4099}" type="presParOf" srcId="{54764386-D903-E144-B20F-7C4769880944}" destId="{31407EAC-0F92-DB46-BF58-FF398293B4E5}" srcOrd="1" destOrd="0" presId="urn:microsoft.com/office/officeart/2009/3/layout/RandomtoResultProcess"/>
    <dgm:cxn modelId="{4267D29C-4AC9-4BD4-A0A9-F0892D15B659}" type="presParOf" srcId="{31407EAC-0F92-DB46-BF58-FF398293B4E5}" destId="{F7FC9103-F115-7747-A093-D8F80CB11918}" srcOrd="0" destOrd="0" presId="urn:microsoft.com/office/officeart/2009/3/layout/RandomtoResultProcess"/>
    <dgm:cxn modelId="{3B064A90-18B0-443C-BDB0-ADAF12A8FB8D}" type="presParOf" srcId="{31407EAC-0F92-DB46-BF58-FF398293B4E5}" destId="{D15CC544-93FE-4043-8E09-C0D98C62B525}" srcOrd="1" destOrd="0" presId="urn:microsoft.com/office/officeart/2009/3/layout/RandomtoResultProcess"/>
    <dgm:cxn modelId="{47AC48D9-89FD-42BA-A93B-F426BBEB177D}" type="presParOf" srcId="{54764386-D903-E144-B20F-7C4769880944}" destId="{F42ED151-7821-AC41-8F72-76ECCF320152}" srcOrd="2" destOrd="0" presId="urn:microsoft.com/office/officeart/2009/3/layout/RandomtoResultProcess"/>
    <dgm:cxn modelId="{9837D91E-D1E5-4423-8A3C-DD12EEAA4D3E}" type="presParOf" srcId="{54764386-D903-E144-B20F-7C4769880944}" destId="{F80D3937-AD00-A142-967D-8511CCEE22A9}" srcOrd="3" destOrd="0" presId="urn:microsoft.com/office/officeart/2009/3/layout/RandomtoResultProcess"/>
    <dgm:cxn modelId="{55CEEE20-6B56-45EF-9630-2177D65E5FB8}" type="presParOf" srcId="{F80D3937-AD00-A142-967D-8511CCEE22A9}" destId="{8271E8B3-DA58-7C43-8EF8-6EF514DAA6C6}" srcOrd="0" destOrd="0" presId="urn:microsoft.com/office/officeart/2009/3/layout/RandomtoResultProcess"/>
    <dgm:cxn modelId="{4EF2C4C4-DE67-4E56-A079-0126F32B7105}" type="presParOf" srcId="{F80D3937-AD00-A142-967D-8511CCEE22A9}" destId="{A34C38E4-251F-8843-A361-87B55854C03E}" srcOrd="1" destOrd="0" presId="urn:microsoft.com/office/officeart/2009/3/layout/RandomtoResultProcess"/>
    <dgm:cxn modelId="{9D1EA6AD-01A0-461A-BEB3-0DECD78DA763}" type="presParOf" srcId="{54764386-D903-E144-B20F-7C4769880944}" destId="{92821ADB-1A88-5B4D-9C4B-8A72288C409A}" srcOrd="4" destOrd="0" presId="urn:microsoft.com/office/officeart/2009/3/layout/RandomtoResultProcess"/>
    <dgm:cxn modelId="{390E52C7-0353-40A3-96F7-62EF1D614D24}" type="presParOf" srcId="{92821ADB-1A88-5B4D-9C4B-8A72288C409A}" destId="{B37340ED-8874-CE4A-9C6D-D05E3F54FB3B}" srcOrd="0" destOrd="0" presId="urn:microsoft.com/office/officeart/2009/3/layout/RandomtoResultProcess"/>
    <dgm:cxn modelId="{7E923068-29F6-429E-9D01-A324E615C981}" type="presParOf" srcId="{92821ADB-1A88-5B4D-9C4B-8A72288C409A}" destId="{5DB3E8A8-8FB6-7C4E-AE7F-54FC01DD9F06}" srcOrd="1" destOrd="0" presId="urn:microsoft.com/office/officeart/2009/3/layout/RandomtoResult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9EC6AA0-6F11-B14A-AAF5-19143185E3AE}" type="doc">
      <dgm:prSet loTypeId="urn:microsoft.com/office/officeart/2005/8/layout/venn2" loCatId="" qsTypeId="urn:microsoft.com/office/officeart/2005/8/quickstyle/simple4" qsCatId="simple" csTypeId="urn:microsoft.com/office/officeart/2005/8/colors/accent2_2" csCatId="accent2" phldr="1"/>
      <dgm:spPr/>
      <dgm:t>
        <a:bodyPr/>
        <a:lstStyle/>
        <a:p>
          <a:endParaRPr lang="en-US"/>
        </a:p>
      </dgm:t>
    </dgm:pt>
    <dgm:pt modelId="{9BACDABF-E056-3A49-ACBB-40A2D1EABC9E}">
      <dgm:prSet phldrT="[Text]" custT="1"/>
      <dgm:spPr>
        <a:noFill/>
        <a:ln w="38100" cap="flat" cmpd="dbl">
          <a:solidFill>
            <a:srgbClr val="99211D"/>
          </a:solidFill>
          <a:prstDash val="solid"/>
          <a:round/>
        </a:ln>
      </dgm:spPr>
      <dgm:t>
        <a:bodyPr/>
        <a:lstStyle/>
        <a:p>
          <a:r>
            <a:rPr lang="en-US" sz="800" b="1" dirty="0" smtClean="0">
              <a:solidFill>
                <a:srgbClr val="006699"/>
              </a:solidFill>
              <a:hlinkClick xmlns:r="http://schemas.openxmlformats.org/officeDocument/2006/relationships" r:id="rId1" action="ppaction://hlinksldjump"/>
            </a:rPr>
            <a:t>Questions</a:t>
          </a:r>
          <a:r>
            <a:rPr lang="en-US" sz="800" b="1" dirty="0" smtClean="0">
              <a:solidFill>
                <a:srgbClr val="006699"/>
              </a:solidFill>
            </a:rPr>
            <a:t> for future workshops</a:t>
          </a:r>
          <a:endParaRPr lang="en-US" sz="800" b="1" dirty="0">
            <a:solidFill>
              <a:srgbClr val="006699"/>
            </a:solidFill>
          </a:endParaRPr>
        </a:p>
      </dgm:t>
    </dgm:pt>
    <dgm:pt modelId="{4B4EB6FB-D008-4642-BBB5-EAB25E8FC0EA}" type="parTrans" cxnId="{307F78BB-4B7E-1145-A9B8-1BEB4AC3DF91}">
      <dgm:prSet/>
      <dgm:spPr/>
      <dgm:t>
        <a:bodyPr/>
        <a:lstStyle/>
        <a:p>
          <a:endParaRPr lang="en-US" sz="1800" b="1">
            <a:solidFill>
              <a:srgbClr val="006699"/>
            </a:solidFill>
          </a:endParaRPr>
        </a:p>
      </dgm:t>
    </dgm:pt>
    <dgm:pt modelId="{519FFADC-A61A-1F4B-AD04-B8E7FF038F39}" type="sibTrans" cxnId="{307F78BB-4B7E-1145-A9B8-1BEB4AC3DF91}">
      <dgm:prSet/>
      <dgm:spPr/>
      <dgm:t>
        <a:bodyPr/>
        <a:lstStyle/>
        <a:p>
          <a:endParaRPr lang="en-US" sz="1800" b="1">
            <a:solidFill>
              <a:srgbClr val="006699"/>
            </a:solidFill>
          </a:endParaRPr>
        </a:p>
      </dgm:t>
    </dgm:pt>
    <dgm:pt modelId="{7F26C3DC-FD55-1043-8DB5-ED12ADD19E7B}" type="pres">
      <dgm:prSet presAssocID="{09EC6AA0-6F11-B14A-AAF5-19143185E3AE}" presName="Name0" presStyleCnt="0">
        <dgm:presLayoutVars>
          <dgm:chMax val="7"/>
          <dgm:resizeHandles val="exact"/>
        </dgm:presLayoutVars>
      </dgm:prSet>
      <dgm:spPr/>
      <dgm:t>
        <a:bodyPr/>
        <a:lstStyle/>
        <a:p>
          <a:endParaRPr lang="en-US"/>
        </a:p>
      </dgm:t>
    </dgm:pt>
    <dgm:pt modelId="{E2ECB715-EB9A-EA4E-B33C-879A27EF0408}" type="pres">
      <dgm:prSet presAssocID="{09EC6AA0-6F11-B14A-AAF5-19143185E3AE}" presName="comp1" presStyleCnt="0"/>
      <dgm:spPr/>
    </dgm:pt>
    <dgm:pt modelId="{88954CF4-4B36-0046-8A9A-93773B935D96}" type="pres">
      <dgm:prSet presAssocID="{09EC6AA0-6F11-B14A-AAF5-19143185E3AE}" presName="circle1" presStyleLbl="node1" presStyleIdx="0" presStyleCnt="1" custLinFactNeighborX="-9548" custLinFactNeighborY="4787"/>
      <dgm:spPr/>
      <dgm:t>
        <a:bodyPr/>
        <a:lstStyle/>
        <a:p>
          <a:endParaRPr lang="en-US"/>
        </a:p>
      </dgm:t>
    </dgm:pt>
    <dgm:pt modelId="{64380396-73BD-074C-A4FF-7FE67D9338FC}" type="pres">
      <dgm:prSet presAssocID="{09EC6AA0-6F11-B14A-AAF5-19143185E3AE}" presName="c1text" presStyleLbl="node1" presStyleIdx="0" presStyleCnt="1">
        <dgm:presLayoutVars>
          <dgm:bulletEnabled val="1"/>
        </dgm:presLayoutVars>
      </dgm:prSet>
      <dgm:spPr/>
      <dgm:t>
        <a:bodyPr/>
        <a:lstStyle/>
        <a:p>
          <a:endParaRPr lang="en-US"/>
        </a:p>
      </dgm:t>
    </dgm:pt>
  </dgm:ptLst>
  <dgm:cxnLst>
    <dgm:cxn modelId="{307F78BB-4B7E-1145-A9B8-1BEB4AC3DF91}" srcId="{09EC6AA0-6F11-B14A-AAF5-19143185E3AE}" destId="{9BACDABF-E056-3A49-ACBB-40A2D1EABC9E}" srcOrd="0" destOrd="0" parTransId="{4B4EB6FB-D008-4642-BBB5-EAB25E8FC0EA}" sibTransId="{519FFADC-A61A-1F4B-AD04-B8E7FF038F39}"/>
    <dgm:cxn modelId="{13804E2E-58F8-40F2-896F-7B7F1BB2EFB9}" type="presOf" srcId="{9BACDABF-E056-3A49-ACBB-40A2D1EABC9E}" destId="{64380396-73BD-074C-A4FF-7FE67D9338FC}" srcOrd="1" destOrd="0" presId="urn:microsoft.com/office/officeart/2005/8/layout/venn2"/>
    <dgm:cxn modelId="{86B453B3-6F04-4E9F-92FC-13CF480D1BFD}" type="presOf" srcId="{9BACDABF-E056-3A49-ACBB-40A2D1EABC9E}" destId="{88954CF4-4B36-0046-8A9A-93773B935D96}" srcOrd="0" destOrd="0" presId="urn:microsoft.com/office/officeart/2005/8/layout/venn2"/>
    <dgm:cxn modelId="{41E69877-710A-4FE9-A677-A5519131A6BC}" type="presOf" srcId="{09EC6AA0-6F11-B14A-AAF5-19143185E3AE}" destId="{7F26C3DC-FD55-1043-8DB5-ED12ADD19E7B}" srcOrd="0" destOrd="0" presId="urn:microsoft.com/office/officeart/2005/8/layout/venn2"/>
    <dgm:cxn modelId="{CEBF95E3-C67F-44D3-96EF-2D0AA3432D35}" type="presParOf" srcId="{7F26C3DC-FD55-1043-8DB5-ED12ADD19E7B}" destId="{E2ECB715-EB9A-EA4E-B33C-879A27EF0408}" srcOrd="0" destOrd="0" presId="urn:microsoft.com/office/officeart/2005/8/layout/venn2"/>
    <dgm:cxn modelId="{D8C27FDD-0A50-4032-ADCD-9E188327545D}" type="presParOf" srcId="{E2ECB715-EB9A-EA4E-B33C-879A27EF0408}" destId="{88954CF4-4B36-0046-8A9A-93773B935D96}" srcOrd="0" destOrd="0" presId="urn:microsoft.com/office/officeart/2005/8/layout/venn2"/>
    <dgm:cxn modelId="{12F3F709-65FA-4E46-AC08-CE2194B7FA48}" type="presParOf" srcId="{E2ECB715-EB9A-EA4E-B33C-879A27EF0408}" destId="{64380396-73BD-074C-A4FF-7FE67D9338FC}" srcOrd="1" destOrd="0" presId="urn:microsoft.com/office/officeart/2005/8/layout/venn2"/>
  </dgm:cxnLst>
  <dgm:bg>
    <a:noFill/>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3FD16D-75BA-4552-B96E-7C88EC0BB622}">
      <dsp:nvSpPr>
        <dsp:cNvPr id="0" name=""/>
        <dsp:cNvSpPr/>
      </dsp:nvSpPr>
      <dsp:spPr>
        <a:xfrm>
          <a:off x="779898" y="358641"/>
          <a:ext cx="2659779" cy="2659779"/>
        </a:xfrm>
        <a:prstGeom prst="blockArc">
          <a:avLst>
            <a:gd name="adj1" fmla="val 10788466"/>
            <a:gd name="adj2" fmla="val 16481680"/>
            <a:gd name="adj3" fmla="val 4644"/>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E7221D1-BD93-4438-A4CC-B5FDD409697F}">
      <dsp:nvSpPr>
        <dsp:cNvPr id="0" name=""/>
        <dsp:cNvSpPr/>
      </dsp:nvSpPr>
      <dsp:spPr>
        <a:xfrm>
          <a:off x="779898" y="367357"/>
          <a:ext cx="2659779" cy="2659779"/>
        </a:xfrm>
        <a:prstGeom prst="blockArc">
          <a:avLst>
            <a:gd name="adj1" fmla="val 5118320"/>
            <a:gd name="adj2" fmla="val 10811534"/>
            <a:gd name="adj3" fmla="val 4644"/>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FB5BD3D-F71F-4D20-AB75-14ED646BCBE5}">
      <dsp:nvSpPr>
        <dsp:cNvPr id="0" name=""/>
        <dsp:cNvSpPr/>
      </dsp:nvSpPr>
      <dsp:spPr>
        <a:xfrm>
          <a:off x="1024894" y="370422"/>
          <a:ext cx="2659779" cy="2659779"/>
        </a:xfrm>
        <a:prstGeom prst="blockArc">
          <a:avLst>
            <a:gd name="adj1" fmla="val 21580354"/>
            <a:gd name="adj2" fmla="val 5767702"/>
            <a:gd name="adj3" fmla="val 4644"/>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26C1664-C312-4364-85B5-2315E15261B0}">
      <dsp:nvSpPr>
        <dsp:cNvPr id="0" name=""/>
        <dsp:cNvSpPr/>
      </dsp:nvSpPr>
      <dsp:spPr>
        <a:xfrm>
          <a:off x="1024894" y="355575"/>
          <a:ext cx="2659779" cy="2659779"/>
        </a:xfrm>
        <a:prstGeom prst="blockArc">
          <a:avLst>
            <a:gd name="adj1" fmla="val 15832298"/>
            <a:gd name="adj2" fmla="val 19646"/>
            <a:gd name="adj3" fmla="val 4644"/>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96DDA88-2A99-4DF1-AFA1-BBDEF7F63E7B}">
      <dsp:nvSpPr>
        <dsp:cNvPr id="0" name=""/>
        <dsp:cNvSpPr/>
      </dsp:nvSpPr>
      <dsp:spPr>
        <a:xfrm>
          <a:off x="1603465" y="1080247"/>
          <a:ext cx="1225282" cy="1225282"/>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n-GB" sz="1600" b="1" kern="1200" dirty="0" smtClean="0">
              <a:solidFill>
                <a:schemeClr val="bg1"/>
              </a:solidFill>
              <a:cs typeface="Arial" pitchFamily="34" charset="0"/>
            </a:rPr>
            <a:t>Reassess every 3-5 years</a:t>
          </a:r>
          <a:endParaRPr lang="en-GB" sz="1600" kern="1200" dirty="0"/>
        </a:p>
      </dsp:txBody>
      <dsp:txXfrm>
        <a:off x="1782903" y="1259685"/>
        <a:ext cx="866406" cy="866406"/>
      </dsp:txXfrm>
    </dsp:sp>
    <dsp:sp modelId="{4598B228-212F-4608-9543-D7FD4543CE1D}">
      <dsp:nvSpPr>
        <dsp:cNvPr id="0" name=""/>
        <dsp:cNvSpPr/>
      </dsp:nvSpPr>
      <dsp:spPr>
        <a:xfrm>
          <a:off x="1704005" y="-113061"/>
          <a:ext cx="1024202" cy="1013876"/>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GB" sz="1000" b="1" kern="1200" dirty="0" smtClean="0"/>
            <a:t>Assessment of reserves and capabilities</a:t>
          </a:r>
          <a:endParaRPr lang="en-GB" sz="1000" kern="1200" dirty="0"/>
        </a:p>
      </dsp:txBody>
      <dsp:txXfrm>
        <a:off x="1853996" y="35418"/>
        <a:ext cx="724220" cy="716918"/>
      </dsp:txXfrm>
    </dsp:sp>
    <dsp:sp modelId="{55C7D89D-1F30-4F87-90B6-6AEE2797E5CC}">
      <dsp:nvSpPr>
        <dsp:cNvPr id="0" name=""/>
        <dsp:cNvSpPr/>
      </dsp:nvSpPr>
      <dsp:spPr>
        <a:xfrm>
          <a:off x="2963796" y="1037445"/>
          <a:ext cx="1379958" cy="1310888"/>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GB" sz="1000" b="1" kern="1200" dirty="0" smtClean="0">
              <a:solidFill>
                <a:schemeClr val="bg1"/>
              </a:solidFill>
            </a:rPr>
            <a:t>Policy objectives</a:t>
          </a:r>
        </a:p>
        <a:p>
          <a:pPr lvl="0" algn="ctr" defTabSz="444500">
            <a:lnSpc>
              <a:spcPct val="90000"/>
            </a:lnSpc>
            <a:spcBef>
              <a:spcPct val="0"/>
            </a:spcBef>
            <a:spcAft>
              <a:spcPct val="35000"/>
            </a:spcAft>
          </a:pPr>
          <a:r>
            <a:rPr lang="en-GB" sz="1000" kern="1200" dirty="0" smtClean="0">
              <a:solidFill>
                <a:schemeClr val="bg1"/>
              </a:solidFill>
            </a:rPr>
            <a:t>Prioritization and attribution of roles and responsibilities</a:t>
          </a:r>
          <a:endParaRPr lang="en-GB" sz="1000" kern="1200" dirty="0">
            <a:solidFill>
              <a:schemeClr val="bg1"/>
            </a:solidFill>
          </a:endParaRPr>
        </a:p>
      </dsp:txBody>
      <dsp:txXfrm>
        <a:off x="3165886" y="1229420"/>
        <a:ext cx="975778" cy="926938"/>
      </dsp:txXfrm>
    </dsp:sp>
    <dsp:sp modelId="{058E5EBB-5922-4A43-B54C-609D743D17D8}">
      <dsp:nvSpPr>
        <dsp:cNvPr id="0" name=""/>
        <dsp:cNvSpPr/>
      </dsp:nvSpPr>
      <dsp:spPr>
        <a:xfrm>
          <a:off x="1650604" y="2412548"/>
          <a:ext cx="1131003" cy="1158707"/>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GB" sz="1100" b="1" kern="1200" dirty="0" smtClean="0">
              <a:solidFill>
                <a:schemeClr val="bg1"/>
              </a:solidFill>
            </a:rPr>
            <a:t>Enablers</a:t>
          </a:r>
          <a:br>
            <a:rPr lang="en-GB" sz="1100" b="1" kern="1200" dirty="0" smtClean="0">
              <a:solidFill>
                <a:schemeClr val="bg1"/>
              </a:solidFill>
            </a:rPr>
          </a:br>
          <a:r>
            <a:rPr lang="en-GB" sz="1100" kern="1200" dirty="0" smtClean="0">
              <a:solidFill>
                <a:schemeClr val="bg1"/>
              </a:solidFill>
            </a:rPr>
            <a:t>Financing, capabilities, autonomy,</a:t>
          </a:r>
          <a:br>
            <a:rPr lang="en-GB" sz="1100" kern="1200" dirty="0" smtClean="0">
              <a:solidFill>
                <a:schemeClr val="bg1"/>
              </a:solidFill>
            </a:rPr>
          </a:br>
          <a:r>
            <a:rPr lang="en-GB" sz="1100" kern="1200" dirty="0" smtClean="0">
              <a:solidFill>
                <a:schemeClr val="bg1"/>
              </a:solidFill>
            </a:rPr>
            <a:t>governance</a:t>
          </a:r>
          <a:endParaRPr lang="en-GB" sz="1100" kern="1200" dirty="0">
            <a:solidFill>
              <a:schemeClr val="bg1"/>
            </a:solidFill>
          </a:endParaRPr>
        </a:p>
      </dsp:txBody>
      <dsp:txXfrm>
        <a:off x="1816236" y="2582237"/>
        <a:ext cx="799739" cy="819329"/>
      </dsp:txXfrm>
    </dsp:sp>
    <dsp:sp modelId="{D68AA82D-02D2-4EC6-AADD-F20E464D2485}">
      <dsp:nvSpPr>
        <dsp:cNvPr id="0" name=""/>
        <dsp:cNvSpPr/>
      </dsp:nvSpPr>
      <dsp:spPr>
        <a:xfrm>
          <a:off x="193758" y="1070873"/>
          <a:ext cx="1234047" cy="1244030"/>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GB" sz="1000" kern="1200" dirty="0" smtClean="0">
              <a:solidFill>
                <a:schemeClr val="bg1"/>
              </a:solidFill>
            </a:rPr>
            <a:t/>
          </a:r>
          <a:br>
            <a:rPr lang="en-GB" sz="1000" kern="1200" dirty="0" smtClean="0">
              <a:solidFill>
                <a:schemeClr val="bg1"/>
              </a:solidFill>
            </a:rPr>
          </a:br>
          <a:r>
            <a:rPr lang="en-GB" sz="1000" b="1" kern="1200" dirty="0" smtClean="0">
              <a:solidFill>
                <a:schemeClr val="bg1"/>
              </a:solidFill>
            </a:rPr>
            <a:t>Accountability</a:t>
          </a:r>
        </a:p>
        <a:p>
          <a:pPr lvl="0" algn="ctr" defTabSz="444500">
            <a:lnSpc>
              <a:spcPct val="90000"/>
            </a:lnSpc>
            <a:spcBef>
              <a:spcPct val="0"/>
            </a:spcBef>
            <a:spcAft>
              <a:spcPct val="35000"/>
            </a:spcAft>
          </a:pPr>
          <a:r>
            <a:rPr lang="en-GB" sz="1000" kern="1200" dirty="0" smtClean="0">
              <a:solidFill>
                <a:schemeClr val="bg1"/>
              </a:solidFill>
            </a:rPr>
            <a:t>Organisations held to account for performance</a:t>
          </a:r>
        </a:p>
        <a:p>
          <a:pPr lvl="0" algn="ctr" defTabSz="444500">
            <a:lnSpc>
              <a:spcPct val="90000"/>
            </a:lnSpc>
            <a:spcBef>
              <a:spcPct val="0"/>
            </a:spcBef>
            <a:spcAft>
              <a:spcPct val="35000"/>
            </a:spcAft>
          </a:pPr>
          <a:endParaRPr lang="en-GB" sz="900" kern="1200" dirty="0">
            <a:solidFill>
              <a:schemeClr val="bg1"/>
            </a:solidFill>
          </a:endParaRPr>
        </a:p>
      </dsp:txBody>
      <dsp:txXfrm>
        <a:off x="374480" y="1253057"/>
        <a:ext cx="872603" cy="8796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4DE702-05BD-7746-846C-31FFD74AA418}">
      <dsp:nvSpPr>
        <dsp:cNvPr id="0" name=""/>
        <dsp:cNvSpPr/>
      </dsp:nvSpPr>
      <dsp:spPr>
        <a:xfrm>
          <a:off x="1103259" y="648074"/>
          <a:ext cx="1056979" cy="728437"/>
        </a:xfrm>
        <a:prstGeom prst="roundRect">
          <a:avLst>
            <a:gd name="adj" fmla="val 10000"/>
          </a:avLst>
        </a:prstGeom>
        <a:solidFill>
          <a:schemeClr val="bg1">
            <a:lumMod val="85000"/>
            <a:alpha val="90000"/>
          </a:schemeClr>
        </a:solidFill>
        <a:ln w="2540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smtClean="0"/>
            <a:t>Stimulates local industry</a:t>
          </a:r>
          <a:endParaRPr lang="en-US" sz="1500" kern="1200" dirty="0"/>
        </a:p>
      </dsp:txBody>
      <dsp:txXfrm>
        <a:off x="1124594" y="669409"/>
        <a:ext cx="1014309" cy="685767"/>
      </dsp:txXfrm>
    </dsp:sp>
    <dsp:sp modelId="{21CB3FE9-9334-FE4A-B256-E1EDDDC1264C}">
      <dsp:nvSpPr>
        <dsp:cNvPr id="0" name=""/>
        <dsp:cNvSpPr/>
      </dsp:nvSpPr>
      <dsp:spPr>
        <a:xfrm>
          <a:off x="4653341" y="711145"/>
          <a:ext cx="1114216" cy="657003"/>
        </a:xfrm>
        <a:prstGeom prst="roundRect">
          <a:avLst>
            <a:gd name="adj" fmla="val 10000"/>
          </a:avLst>
        </a:prstGeom>
        <a:solidFill>
          <a:schemeClr val="bg1">
            <a:lumMod val="85000"/>
            <a:alpha val="90000"/>
          </a:schemeClr>
        </a:solidFill>
        <a:ln w="2540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smtClean="0"/>
            <a:t>Possible Dutch disease</a:t>
          </a:r>
          <a:endParaRPr lang="en-US" sz="1500" kern="1200" dirty="0"/>
        </a:p>
      </dsp:txBody>
      <dsp:txXfrm>
        <a:off x="4672584" y="730388"/>
        <a:ext cx="1075730" cy="618517"/>
      </dsp:txXfrm>
    </dsp:sp>
    <dsp:sp modelId="{F8AAD5CC-CD24-1949-8D9A-05F36DE35359}">
      <dsp:nvSpPr>
        <dsp:cNvPr id="0" name=""/>
        <dsp:cNvSpPr/>
      </dsp:nvSpPr>
      <dsp:spPr>
        <a:xfrm>
          <a:off x="3224255" y="2658146"/>
          <a:ext cx="464256" cy="464256"/>
        </a:xfrm>
        <a:prstGeom prst="triangle">
          <a:avLst/>
        </a:prstGeom>
        <a:solidFill>
          <a:schemeClr val="bg1">
            <a:lumMod val="85000"/>
            <a:alpha val="90000"/>
          </a:schemeClr>
        </a:solidFill>
        <a:ln w="2540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CEFDA7B-9F44-A34A-884E-BF6A9ED1CAB0}">
      <dsp:nvSpPr>
        <dsp:cNvPr id="0" name=""/>
        <dsp:cNvSpPr/>
      </dsp:nvSpPr>
      <dsp:spPr>
        <a:xfrm>
          <a:off x="1062461" y="2452039"/>
          <a:ext cx="4787844" cy="211654"/>
        </a:xfrm>
        <a:prstGeom prst="rect">
          <a:avLst/>
        </a:prstGeom>
        <a:solidFill>
          <a:schemeClr val="bg1">
            <a:lumMod val="85000"/>
            <a:alpha val="90000"/>
          </a:schemeClr>
        </a:solidFill>
        <a:ln w="2540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BBAA51B-0145-2640-A0B1-DFCD7E073408}">
      <dsp:nvSpPr>
        <dsp:cNvPr id="0" name=""/>
        <dsp:cNvSpPr/>
      </dsp:nvSpPr>
      <dsp:spPr>
        <a:xfrm>
          <a:off x="1062464" y="1466730"/>
          <a:ext cx="1114216" cy="843009"/>
        </a:xfrm>
        <a:prstGeom prst="roundRect">
          <a:avLst/>
        </a:prstGeom>
        <a:solidFill>
          <a:srgbClr val="00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kern="1200" dirty="0" smtClean="0"/>
            <a:t>National participation in sector</a:t>
          </a:r>
          <a:endParaRPr lang="en-US" sz="1300" kern="1200" dirty="0"/>
        </a:p>
      </dsp:txBody>
      <dsp:txXfrm>
        <a:off x="1103616" y="1507882"/>
        <a:ext cx="1031912" cy="760705"/>
      </dsp:txXfrm>
    </dsp:sp>
    <dsp:sp modelId="{30416E8E-C506-0543-8405-255F618FB726}">
      <dsp:nvSpPr>
        <dsp:cNvPr id="0" name=""/>
        <dsp:cNvSpPr/>
      </dsp:nvSpPr>
      <dsp:spPr>
        <a:xfrm>
          <a:off x="4653344" y="1466730"/>
          <a:ext cx="1114216" cy="843009"/>
        </a:xfrm>
        <a:prstGeom prst="roundRect">
          <a:avLst/>
        </a:prstGeom>
        <a:solidFill>
          <a:srgbClr val="0066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kern="1200" dirty="0" smtClean="0"/>
            <a:t>↑ energy consumption</a:t>
          </a:r>
          <a:endParaRPr lang="en-US" sz="1300" kern="1200" dirty="0"/>
        </a:p>
      </dsp:txBody>
      <dsp:txXfrm>
        <a:off x="4694496" y="1507882"/>
        <a:ext cx="1031912" cy="76070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1BE11C-67ED-449B-BCC4-AB1FEA39D7CC}">
      <dsp:nvSpPr>
        <dsp:cNvPr id="0" name=""/>
        <dsp:cNvSpPr/>
      </dsp:nvSpPr>
      <dsp:spPr>
        <a:xfrm>
          <a:off x="2586704" y="1958609"/>
          <a:ext cx="1808986" cy="1752037"/>
        </a:xfrm>
        <a:prstGeom prst="ellipse">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a:lnSpc>
              <a:spcPct val="90000"/>
            </a:lnSpc>
            <a:spcBef>
              <a:spcPct val="0"/>
            </a:spcBef>
            <a:spcAft>
              <a:spcPct val="35000"/>
            </a:spcAft>
          </a:pPr>
          <a:r>
            <a:rPr lang="en-US" sz="1500" kern="1200" dirty="0" smtClean="0"/>
            <a:t>Implementation</a:t>
          </a:r>
          <a:endParaRPr lang="en-US" sz="1500" kern="1200" dirty="0"/>
        </a:p>
      </dsp:txBody>
      <dsp:txXfrm>
        <a:off x="2851624" y="2215189"/>
        <a:ext cx="1279146" cy="1238877"/>
      </dsp:txXfrm>
    </dsp:sp>
    <dsp:sp modelId="{A3AB1F7D-9BE1-4E7B-8437-EB7640AE7EF4}">
      <dsp:nvSpPr>
        <dsp:cNvPr id="0" name=""/>
        <dsp:cNvSpPr/>
      </dsp:nvSpPr>
      <dsp:spPr>
        <a:xfrm rot="10800000">
          <a:off x="1159929" y="2608448"/>
          <a:ext cx="1348302" cy="452357"/>
        </a:xfrm>
        <a:prstGeom prst="leftArrow">
          <a:avLst>
            <a:gd name="adj1" fmla="val 60000"/>
            <a:gd name="adj2" fmla="val 50000"/>
          </a:avLst>
        </a:prstGeom>
        <a:solidFill>
          <a:schemeClr val="accent1">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sp>
    <dsp:sp modelId="{1EEF6026-A11D-4B39-A823-8A63C8F9F5C5}">
      <dsp:nvSpPr>
        <dsp:cNvPr id="0" name=""/>
        <dsp:cNvSpPr/>
      </dsp:nvSpPr>
      <dsp:spPr>
        <a:xfrm>
          <a:off x="500105" y="2409930"/>
          <a:ext cx="1319648" cy="849395"/>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2385" tIns="32385" rIns="32385" bIns="32385" numCol="1" spcCol="1270" anchor="ctr" anchorCtr="0">
          <a:noAutofit/>
        </a:bodyPr>
        <a:lstStyle/>
        <a:p>
          <a:pPr lvl="0" algn="ctr" defTabSz="755650">
            <a:lnSpc>
              <a:spcPct val="90000"/>
            </a:lnSpc>
            <a:spcBef>
              <a:spcPct val="0"/>
            </a:spcBef>
            <a:spcAft>
              <a:spcPct val="35000"/>
            </a:spcAft>
          </a:pPr>
          <a:r>
            <a:rPr lang="en-US" sz="1700" kern="1200" dirty="0" smtClean="0"/>
            <a:t>Electoral cycles</a:t>
          </a:r>
          <a:endParaRPr lang="en-US" sz="1700" kern="1200" dirty="0"/>
        </a:p>
      </dsp:txBody>
      <dsp:txXfrm>
        <a:off x="524983" y="2434808"/>
        <a:ext cx="1269892" cy="799639"/>
      </dsp:txXfrm>
    </dsp:sp>
    <dsp:sp modelId="{89E01693-60C9-481E-90F3-CD0B1BC36AD0}">
      <dsp:nvSpPr>
        <dsp:cNvPr id="0" name=""/>
        <dsp:cNvSpPr/>
      </dsp:nvSpPr>
      <dsp:spPr>
        <a:xfrm rot="13500000">
          <a:off x="1643270" y="1441560"/>
          <a:ext cx="1362079" cy="452357"/>
        </a:xfrm>
        <a:prstGeom prst="leftArrow">
          <a:avLst>
            <a:gd name="adj1" fmla="val 60000"/>
            <a:gd name="adj2" fmla="val 50000"/>
          </a:avLst>
        </a:prstGeom>
        <a:solidFill>
          <a:schemeClr val="accent1">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sp>
    <dsp:sp modelId="{8F6F6FB8-3FA6-448C-B2D8-384EDB729110}">
      <dsp:nvSpPr>
        <dsp:cNvPr id="0" name=""/>
        <dsp:cNvSpPr/>
      </dsp:nvSpPr>
      <dsp:spPr>
        <a:xfrm>
          <a:off x="1209501" y="732981"/>
          <a:ext cx="1266481" cy="906380"/>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2385" tIns="32385" rIns="32385" bIns="32385" numCol="1" spcCol="1270" anchor="ctr" anchorCtr="0">
          <a:noAutofit/>
        </a:bodyPr>
        <a:lstStyle/>
        <a:p>
          <a:pPr lvl="0" algn="ctr" defTabSz="755650">
            <a:lnSpc>
              <a:spcPct val="90000"/>
            </a:lnSpc>
            <a:spcBef>
              <a:spcPct val="0"/>
            </a:spcBef>
            <a:spcAft>
              <a:spcPct val="35000"/>
            </a:spcAft>
          </a:pPr>
          <a:r>
            <a:rPr lang="en-US" sz="1700" kern="1200" dirty="0" smtClean="0"/>
            <a:t>Corruption</a:t>
          </a:r>
          <a:endParaRPr lang="en-US" sz="1700" kern="1200" dirty="0"/>
        </a:p>
      </dsp:txBody>
      <dsp:txXfrm>
        <a:off x="1236048" y="759528"/>
        <a:ext cx="1213387" cy="853286"/>
      </dsp:txXfrm>
    </dsp:sp>
    <dsp:sp modelId="{DDA22110-70A0-4538-9B46-36449E34F8E7}">
      <dsp:nvSpPr>
        <dsp:cNvPr id="0" name=""/>
        <dsp:cNvSpPr/>
      </dsp:nvSpPr>
      <dsp:spPr>
        <a:xfrm rot="16200000">
          <a:off x="2803592" y="964785"/>
          <a:ext cx="1375211" cy="452357"/>
        </a:xfrm>
        <a:prstGeom prst="leftArrow">
          <a:avLst>
            <a:gd name="adj1" fmla="val 60000"/>
            <a:gd name="adj2" fmla="val 50000"/>
          </a:avLst>
        </a:prstGeom>
        <a:solidFill>
          <a:schemeClr val="accent1">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sp>
    <dsp:sp modelId="{1692C3E1-00C1-474F-B6F3-7103FC7F81E6}">
      <dsp:nvSpPr>
        <dsp:cNvPr id="0" name=""/>
        <dsp:cNvSpPr/>
      </dsp:nvSpPr>
      <dsp:spPr>
        <a:xfrm>
          <a:off x="2829459" y="17906"/>
          <a:ext cx="1323478" cy="970904"/>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2385" tIns="32385" rIns="32385" bIns="32385" numCol="1" spcCol="1270" anchor="ctr" anchorCtr="0">
          <a:noAutofit/>
        </a:bodyPr>
        <a:lstStyle/>
        <a:p>
          <a:pPr lvl="0" algn="ctr" defTabSz="755650">
            <a:lnSpc>
              <a:spcPct val="90000"/>
            </a:lnSpc>
            <a:spcBef>
              <a:spcPct val="0"/>
            </a:spcBef>
            <a:spcAft>
              <a:spcPct val="35000"/>
            </a:spcAft>
          </a:pPr>
          <a:r>
            <a:rPr lang="en-US" sz="1700" kern="1200" dirty="0" smtClean="0"/>
            <a:t>Changing development needs</a:t>
          </a:r>
          <a:endParaRPr lang="en-US" sz="1700" kern="1200" dirty="0"/>
        </a:p>
      </dsp:txBody>
      <dsp:txXfrm>
        <a:off x="2857896" y="46343"/>
        <a:ext cx="1266604" cy="914030"/>
      </dsp:txXfrm>
    </dsp:sp>
    <dsp:sp modelId="{D909AA1D-85C9-423F-AF81-F873F41D0CAF}">
      <dsp:nvSpPr>
        <dsp:cNvPr id="0" name=""/>
        <dsp:cNvSpPr/>
      </dsp:nvSpPr>
      <dsp:spPr>
        <a:xfrm rot="18895961">
          <a:off x="3978061" y="1449220"/>
          <a:ext cx="1339287" cy="452357"/>
        </a:xfrm>
        <a:prstGeom prst="leftArrow">
          <a:avLst>
            <a:gd name="adj1" fmla="val 60000"/>
            <a:gd name="adj2" fmla="val 50000"/>
          </a:avLst>
        </a:prstGeom>
        <a:solidFill>
          <a:schemeClr val="accent1">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sp>
    <dsp:sp modelId="{3BBF2DF5-2BC1-4CCC-B9CD-E5EAD2920BE8}">
      <dsp:nvSpPr>
        <dsp:cNvPr id="0" name=""/>
        <dsp:cNvSpPr/>
      </dsp:nvSpPr>
      <dsp:spPr>
        <a:xfrm>
          <a:off x="4484303" y="747004"/>
          <a:ext cx="1272708" cy="908660"/>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2385" tIns="32385" rIns="32385" bIns="32385" numCol="1" spcCol="1270" anchor="ctr" anchorCtr="0">
          <a:noAutofit/>
        </a:bodyPr>
        <a:lstStyle/>
        <a:p>
          <a:pPr lvl="0" algn="ctr" defTabSz="755650">
            <a:lnSpc>
              <a:spcPct val="90000"/>
            </a:lnSpc>
            <a:spcBef>
              <a:spcPct val="0"/>
            </a:spcBef>
            <a:spcAft>
              <a:spcPct val="35000"/>
            </a:spcAft>
          </a:pPr>
          <a:r>
            <a:rPr lang="en-US" sz="1700" kern="1200" dirty="0" smtClean="0"/>
            <a:t>Institutions at crossed purpose</a:t>
          </a:r>
          <a:endParaRPr lang="en-US" sz="1700" kern="1200" dirty="0"/>
        </a:p>
      </dsp:txBody>
      <dsp:txXfrm>
        <a:off x="4510917" y="773618"/>
        <a:ext cx="1219480" cy="855432"/>
      </dsp:txXfrm>
    </dsp:sp>
    <dsp:sp modelId="{3BDF2F7B-B19B-4C78-B57C-609424970FD8}">
      <dsp:nvSpPr>
        <dsp:cNvPr id="0" name=""/>
        <dsp:cNvSpPr/>
      </dsp:nvSpPr>
      <dsp:spPr>
        <a:xfrm>
          <a:off x="4474164" y="2608448"/>
          <a:ext cx="1348302" cy="452357"/>
        </a:xfrm>
        <a:prstGeom prst="leftArrow">
          <a:avLst>
            <a:gd name="adj1" fmla="val 60000"/>
            <a:gd name="adj2" fmla="val 50000"/>
          </a:avLst>
        </a:prstGeom>
        <a:solidFill>
          <a:schemeClr val="accent1">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sp>
    <dsp:sp modelId="{8816CFFC-F85B-4E5A-BF3D-CA5F69042192}">
      <dsp:nvSpPr>
        <dsp:cNvPr id="0" name=""/>
        <dsp:cNvSpPr/>
      </dsp:nvSpPr>
      <dsp:spPr>
        <a:xfrm>
          <a:off x="5225867" y="2371057"/>
          <a:ext cx="1193199" cy="927140"/>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2385" tIns="32385" rIns="32385" bIns="32385" numCol="1" spcCol="1270" anchor="ctr" anchorCtr="0">
          <a:noAutofit/>
        </a:bodyPr>
        <a:lstStyle/>
        <a:p>
          <a:pPr lvl="0" algn="ctr" defTabSz="755650">
            <a:lnSpc>
              <a:spcPct val="90000"/>
            </a:lnSpc>
            <a:spcBef>
              <a:spcPct val="0"/>
            </a:spcBef>
            <a:spcAft>
              <a:spcPct val="35000"/>
            </a:spcAft>
          </a:pPr>
          <a:r>
            <a:rPr lang="en-US" sz="1700" kern="1200" dirty="0" smtClean="0"/>
            <a:t>Limited capacities</a:t>
          </a:r>
          <a:endParaRPr lang="en-US" sz="1700" kern="1200" dirty="0"/>
        </a:p>
      </dsp:txBody>
      <dsp:txXfrm>
        <a:off x="5253022" y="2398212"/>
        <a:ext cx="1138889" cy="87283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3.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5.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9.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10.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9/3/layout/RandomtoResultProcess">
  <dgm:title val=""/>
  <dgm:desc val=""/>
  <dgm:catLst>
    <dgm:cat type="process" pri="1275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clrData>
  <dgm:layoutNode name="Name0">
    <dgm:varLst>
      <dgm:dir/>
      <dgm:animOne val="branch"/>
      <dgm:animLvl val="lvl"/>
    </dgm:varLst>
    <dgm:choose name="Name1">
      <dgm:if name="Name2" func="var" arg="dir" op="equ" val="norm">
        <dgm:alg type="lin">
          <dgm:param type="fallback" val="2D"/>
          <dgm:param type="nodeVertAlign" val="t"/>
        </dgm:alg>
      </dgm:if>
      <dgm:else name="Name3">
        <dgm:alg type="lin">
          <dgm:param type="fallback" val="2D"/>
          <dgm:param type="nodeVertAlign" val="t"/>
          <dgm:param type="linDir" val="fromR"/>
        </dgm:alg>
      </dgm:else>
    </dgm:choose>
    <dgm:shape xmlns:r="http://schemas.openxmlformats.org/officeDocument/2006/relationships" r:blip="">
      <dgm:adjLst/>
    </dgm:shape>
    <dgm:constrLst>
      <dgm:constr type="userH" refType="h" fact="2"/>
      <dgm:constr type="w" for="ch" forName="chaos" refType="userH" fact="0.681"/>
      <dgm:constr type="h" for="ch" forName="chaos" refType="userH"/>
      <dgm:constr type="w" for="ch" forName="middle" refType="userH" fact="0.6"/>
      <dgm:constr type="h" for="ch" forName="middle" refType="userH"/>
      <dgm:constr type="w" for="ch" forName="last" refType="userH" fact="0.6"/>
      <dgm:constr type="h" for="ch" forName="last" refType="userH"/>
      <dgm:constr type="w" for="ch" forName="chevronComposite1" refType="userH" fact="0.22"/>
      <dgm:constr type="h" for="ch" forName="chevronComposite1" refType="userH" fact="0.52"/>
      <dgm:constr type="w" for="ch" forName="chevronComposite2" refType="userH" fact="0.22"/>
      <dgm:constr type="h" for="ch" forName="chevronComposite2" refType="userH" fact="0.52"/>
      <dgm:constr type="w" for="ch" forName="overlap" refType="userH" fact="-0.04"/>
      <dgm:constr type="h" for="ch" forName="overlap" refType="userH" fact="0.06"/>
      <dgm:constr type="primFontSz" for="des" forName="parTx1" op="equ" val="65"/>
      <dgm:constr type="primFontSz" for="des" forName="parTxMid" refType="primFontSz" refFor="des" refForName="parTx1" op="equ"/>
      <dgm:constr type="primFontSz" for="des" forName="circleTx" refType="primFontSz" refFor="des" refForName="parTx1" op="equ"/>
      <dgm:constr type="primFontSz" for="des" forName="desTx1" op="equ" val="65"/>
      <dgm:constr type="primFontSz" for="des" forName="desTxMid" refType="primFontSz" refFor="des" refForName="desTx1" op="equ"/>
      <dgm:constr type="primFontSz" for="des" forName="desTxN" refType="primFontSz" refFor="des" refForName="desTx1" op="equ"/>
    </dgm:constrLst>
    <dgm:forEach name="Name4" axis="ch" ptType="node">
      <dgm:choose name="Name5">
        <dgm:if name="Name6" axis="self" ptType="node" func="pos" op="equ" val="1">
          <dgm:layoutNode name="chaos">
            <dgm:alg type="composite"/>
            <dgm:shape xmlns:r="http://schemas.openxmlformats.org/officeDocument/2006/relationships" r:blip="">
              <dgm:adjLst/>
            </dgm:shape>
            <dgm:presOf/>
            <dgm:constrLst>
              <dgm:constr type="ctrX" for="ch" forName="parTx1" refType="w" fact="0.5"/>
              <dgm:constr type="t" for="ch" forName="parTx1" refType="w" fact="0.32"/>
              <dgm:constr type="w" for="ch" forName="parTx1" refType="w" fact="0.88"/>
              <dgm:constr type="h" for="ch" forName="parTx1" refType="w" fact="0.29"/>
              <dgm:constr type="ctrX" for="ch" forName="desTx1" refType="w" fact="0.5"/>
              <dgm:constr type="b" for="ch" forName="desTx1" refType="h"/>
              <dgm:constr type="w" for="ch" forName="desTx1" refType="w" fact="0.88"/>
              <dgm:constr type="h" for="ch" forName="desTx1" refType="h" fact="0.37"/>
              <dgm:constr type="l" for="ch" forName="c1" refType="w" fact="0.05"/>
              <dgm:constr type="t" for="ch" forName="c1" refType="w" fact="0.23"/>
              <dgm:constr type="w" for="ch" forName="c1" refType="w" fact="0.07"/>
              <dgm:constr type="h" for="ch" forName="c1" refType="w" refFor="ch" refForName="c1"/>
              <dgm:constr type="l" for="ch" forName="c2" refType="w" fact="0.1"/>
              <dgm:constr type="t" for="ch" forName="c2" refType="w" fact="0.13"/>
              <dgm:constr type="w" for="ch" forName="c2" refType="w" fact="0.07"/>
              <dgm:constr type="h" for="ch" forName="c2" refType="w" refFor="ch" refForName="c2"/>
              <dgm:constr type="l" for="ch" forName="c3" refType="w" fact="0.22"/>
              <dgm:constr type="t" for="ch" forName="c3" refType="w" fact="0.15"/>
              <dgm:constr type="w" for="ch" forName="c3" refType="w" fact="0.11"/>
              <dgm:constr type="h" for="ch" forName="c3" refType="w" refFor="ch" refForName="c3"/>
              <dgm:constr type="l" for="ch" forName="c4" refType="w" fact="0.32"/>
              <dgm:constr type="t" for="ch" forName="c4" refType="w" fact="0.04"/>
              <dgm:constr type="w" for="ch" forName="c4" refType="w" fact="0.07"/>
              <dgm:constr type="h" for="ch" forName="c4" refType="w" refFor="ch" refForName="c4"/>
              <dgm:constr type="l" for="ch" forName="c5" refType="w" fact="0.45"/>
              <dgm:constr type="t" for="ch" forName="c5" refType="w" fact="0"/>
              <dgm:constr type="w" for="ch" forName="c5" refType="w" fact="0.07"/>
              <dgm:constr type="h" for="ch" forName="c5" refType="w" refFor="ch" refForName="c5"/>
              <dgm:constr type="l" for="ch" forName="c6" refType="w" fact="0.61"/>
              <dgm:constr type="t" for="ch" forName="c6" refType="w" fact="0.07"/>
              <dgm:constr type="w" for="ch" forName="c6" refType="w" fact="0.07"/>
              <dgm:constr type="h" for="ch" forName="c6" refType="w" refFor="ch" refForName="c6"/>
              <dgm:constr type="l" for="ch" forName="c7" refType="w" fact="0.71"/>
              <dgm:constr type="t" for="ch" forName="c7" refType="w" fact="0.12"/>
              <dgm:constr type="w" for="ch" forName="c7" refType="w" fact="0.11"/>
              <dgm:constr type="h" for="ch" forName="c7" refType="w" refFor="ch" refForName="c7"/>
              <dgm:constr type="l" for="ch" forName="c8" refType="w" fact="0.85"/>
              <dgm:constr type="t" for="ch" forName="c8" refType="w" fact="0.23"/>
              <dgm:constr type="w" for="ch" forName="c8" refType="w" fact="0.07"/>
              <dgm:constr type="h" for="ch" forName="c8" refType="w" refFor="ch" refForName="c8"/>
              <dgm:constr type="l" for="ch" forName="c9" refType="w" fact="0.91"/>
              <dgm:constr type="t" for="ch" forName="c9" refType="w" fact="0.34"/>
              <dgm:constr type="w" for="ch" forName="c9" refType="w" fact="0.07"/>
              <dgm:constr type="h" for="ch" forName="c9" refType="w" refFor="ch" refForName="c9"/>
              <dgm:constr type="l" for="ch" forName="c10" refType="w" fact="0.39"/>
              <dgm:constr type="t" for="ch" forName="c10" refType="w" fact="0.13"/>
              <dgm:constr type="w" for="ch" forName="c10" refType="w" fact="0.18"/>
              <dgm:constr type="h" for="ch" forName="c10" refType="w" refFor="ch" refForName="c10"/>
              <dgm:constr type="l" for="ch" forName="c11" refType="w" fact="0"/>
              <dgm:constr type="t" for="ch" forName="c11" refType="w" fact="0.51"/>
              <dgm:constr type="w" for="ch" forName="c11" refType="w" fact="0.07"/>
              <dgm:constr type="h" for="ch" forName="c11" refType="w" refFor="ch" refForName="c11"/>
              <dgm:constr type="l" for="ch" forName="c12" refType="w" fact="0.06"/>
              <dgm:constr type="t" for="ch" forName="c12" refType="w" fact="0.6"/>
              <dgm:constr type="w" for="ch" forName="c12" refType="w" fact="0.11"/>
              <dgm:constr type="h" for="ch" forName="c12" refType="w" refFor="ch" refForName="c12"/>
              <dgm:constr type="l" for="ch" forName="c13" refType="w" fact="0.21"/>
              <dgm:constr type="t" for="ch" forName="c13" refType="w" fact="0.68"/>
              <dgm:constr type="w" for="ch" forName="c13" refType="w" fact="0.16"/>
              <dgm:constr type="h" for="ch" forName="c13" refType="w" refFor="ch" refForName="c13"/>
              <dgm:constr type="l" for="ch" forName="c14" refType="w" fact="0.42"/>
              <dgm:constr type="t" for="ch" forName="c14" refType="w" fact="0.81"/>
              <dgm:constr type="w" for="ch" forName="c14" refType="w" fact="0.07"/>
              <dgm:constr type="h" for="ch" forName="c14" refType="w" refFor="ch" refForName="c14"/>
              <dgm:constr type="l" for="ch" forName="c15" refType="w" fact="0.46"/>
              <dgm:constr type="t" for="ch" forName="c15" refType="w" fact="0.68"/>
              <dgm:constr type="w" for="ch" forName="c15" refType="w" fact="0.11"/>
              <dgm:constr type="h" for="ch" forName="c15" refType="w" refFor="ch" refForName="c15"/>
              <dgm:constr type="l" for="ch" forName="c16" refType="w" fact="0.56"/>
              <dgm:constr type="t" for="ch" forName="c16" refType="w" fact="0.82"/>
              <dgm:constr type="w" for="ch" forName="c16" refType="w" fact="0.07"/>
              <dgm:constr type="h" for="ch" forName="c16" refType="w" refFor="ch" refForName="c16"/>
              <dgm:constr type="l" for="ch" forName="c17" refType="w" fact="0.65"/>
              <dgm:constr type="t" for="ch" forName="c17" refType="w" fact="0.66"/>
              <dgm:constr type="w" for="ch" forName="c17" refType="w" fact="0.16"/>
              <dgm:constr type="h" for="ch" forName="c17" refType="w" refFor="ch" refForName="c17"/>
              <dgm:constr type="l" for="ch" forName="c18" refType="w" fact="0.87"/>
              <dgm:constr type="t" for="ch" forName="c18" refType="w" fact="0.62"/>
              <dgm:constr type="w" for="ch" forName="c18" refType="w" fact="0.11"/>
              <dgm:constr type="h" for="ch" forName="c18" refType="w" refFor="ch" refForName="c18"/>
            </dgm:constrLst>
            <dgm:layoutNode name="parTx1"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7">
              <dgm:if name="Name8" axis="ch" ptType="node" func="cnt" op="gte" val="1">
                <dgm:layoutNode name="desTx1" styleLbl="revTx">
                  <dgm:varLst>
                    <dgm:bulletEnabled val="1"/>
                  </dgm:varLst>
                  <dgm:choose name="Name9">
                    <dgm:if name="Name10" axis="ch" ptType="node" func="cnt" op="equ" val="1">
                      <dgm:alg type="tx">
                        <dgm:param type="shpTxLTRAlignCh" val="l"/>
                      </dgm:alg>
                    </dgm:if>
                    <dgm:else name="Name11">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2"/>
            </dgm:choose>
            <dgm:layoutNode name="c1" styleLbl="node1">
              <dgm:alg type="sp"/>
              <dgm:shape xmlns:r="http://schemas.openxmlformats.org/officeDocument/2006/relationships" type="ellipse" r:blip="">
                <dgm:adjLst/>
              </dgm:shape>
              <dgm:presOf/>
            </dgm:layoutNode>
            <dgm:layoutNode name="c2" styleLbl="node1">
              <dgm:alg type="sp"/>
              <dgm:shape xmlns:r="http://schemas.openxmlformats.org/officeDocument/2006/relationships" type="ellipse" r:blip="">
                <dgm:adjLst/>
              </dgm:shape>
              <dgm:presOf/>
            </dgm:layoutNode>
            <dgm:layoutNode name="c3" styleLbl="node1">
              <dgm:alg type="sp"/>
              <dgm:shape xmlns:r="http://schemas.openxmlformats.org/officeDocument/2006/relationships" type="ellipse" r:blip="">
                <dgm:adjLst/>
              </dgm:shape>
              <dgm:presOf/>
            </dgm:layoutNode>
            <dgm:layoutNode name="c4" styleLbl="node1">
              <dgm:alg type="sp"/>
              <dgm:shape xmlns:r="http://schemas.openxmlformats.org/officeDocument/2006/relationships" type="ellipse" r:blip="">
                <dgm:adjLst/>
              </dgm:shape>
              <dgm:presOf/>
            </dgm:layoutNode>
            <dgm:layoutNode name="c5" styleLbl="node1">
              <dgm:alg type="sp"/>
              <dgm:shape xmlns:r="http://schemas.openxmlformats.org/officeDocument/2006/relationships" type="ellipse" r:blip="">
                <dgm:adjLst/>
              </dgm:shape>
              <dgm:presOf/>
            </dgm:layoutNode>
            <dgm:layoutNode name="c6" styleLbl="node1">
              <dgm:alg type="sp"/>
              <dgm:shape xmlns:r="http://schemas.openxmlformats.org/officeDocument/2006/relationships" type="ellipse" r:blip="">
                <dgm:adjLst/>
              </dgm:shape>
              <dgm:presOf/>
            </dgm:layoutNode>
            <dgm:layoutNode name="c7" styleLbl="node1">
              <dgm:alg type="sp"/>
              <dgm:shape xmlns:r="http://schemas.openxmlformats.org/officeDocument/2006/relationships" type="ellipse" r:blip="">
                <dgm:adjLst/>
              </dgm:shape>
              <dgm:presOf/>
            </dgm:layoutNode>
            <dgm:layoutNode name="c8" styleLbl="node1">
              <dgm:alg type="sp"/>
              <dgm:shape xmlns:r="http://schemas.openxmlformats.org/officeDocument/2006/relationships" type="ellipse" r:blip="">
                <dgm:adjLst/>
              </dgm:shape>
              <dgm:presOf/>
            </dgm:layoutNode>
            <dgm:layoutNode name="c9" styleLbl="node1">
              <dgm:alg type="sp"/>
              <dgm:shape xmlns:r="http://schemas.openxmlformats.org/officeDocument/2006/relationships" type="ellipse" r:blip="">
                <dgm:adjLst/>
              </dgm:shape>
              <dgm:presOf/>
            </dgm:layoutNode>
            <dgm:layoutNode name="c10" styleLbl="node1">
              <dgm:alg type="sp"/>
              <dgm:shape xmlns:r="http://schemas.openxmlformats.org/officeDocument/2006/relationships" type="ellipse" r:blip="">
                <dgm:adjLst/>
              </dgm:shape>
              <dgm:presOf/>
            </dgm:layoutNode>
            <dgm:layoutNode name="c11" styleLbl="node1">
              <dgm:alg type="sp"/>
              <dgm:shape xmlns:r="http://schemas.openxmlformats.org/officeDocument/2006/relationships" type="ellipse" r:blip="">
                <dgm:adjLst/>
              </dgm:shape>
              <dgm:presOf/>
            </dgm:layoutNode>
            <dgm:layoutNode name="c12" styleLbl="node1">
              <dgm:alg type="sp"/>
              <dgm:shape xmlns:r="http://schemas.openxmlformats.org/officeDocument/2006/relationships" type="ellipse" r:blip="">
                <dgm:adjLst/>
              </dgm:shape>
              <dgm:presOf/>
            </dgm:layoutNode>
            <dgm:layoutNode name="c13" styleLbl="node1">
              <dgm:alg type="sp"/>
              <dgm:shape xmlns:r="http://schemas.openxmlformats.org/officeDocument/2006/relationships" type="ellipse" r:blip="">
                <dgm:adjLst/>
              </dgm:shape>
              <dgm:presOf/>
            </dgm:layoutNode>
            <dgm:layoutNode name="c14" styleLbl="node1">
              <dgm:alg type="sp"/>
              <dgm:shape xmlns:r="http://schemas.openxmlformats.org/officeDocument/2006/relationships" type="ellipse" r:blip="">
                <dgm:adjLst/>
              </dgm:shape>
              <dgm:presOf/>
            </dgm:layoutNode>
            <dgm:layoutNode name="c15" styleLbl="node1">
              <dgm:alg type="sp"/>
              <dgm:shape xmlns:r="http://schemas.openxmlformats.org/officeDocument/2006/relationships" type="ellipse" r:blip="">
                <dgm:adjLst/>
              </dgm:shape>
              <dgm:presOf/>
            </dgm:layoutNode>
            <dgm:layoutNode name="c16" styleLbl="node1">
              <dgm:alg type="sp"/>
              <dgm:shape xmlns:r="http://schemas.openxmlformats.org/officeDocument/2006/relationships" type="ellipse" r:blip="">
                <dgm:adjLst/>
              </dgm:shape>
              <dgm:presOf/>
            </dgm:layoutNode>
            <dgm:layoutNode name="c17" styleLbl="node1">
              <dgm:alg type="sp"/>
              <dgm:shape xmlns:r="http://schemas.openxmlformats.org/officeDocument/2006/relationships" type="ellipse" r:blip="">
                <dgm:adjLst/>
              </dgm:shape>
              <dgm:presOf/>
            </dgm:layoutNode>
            <dgm:layoutNode name="c18" styleLbl="node1">
              <dgm:alg type="sp"/>
              <dgm:shape xmlns:r="http://schemas.openxmlformats.org/officeDocument/2006/relationships" type="ellipse" r:blip="">
                <dgm:adjLst/>
              </dgm:shape>
              <dgm:presOf/>
            </dgm:layoutNode>
          </dgm:layoutNode>
        </dgm:if>
        <dgm:if name="Name13" axis="self" ptType="node" func="revPos" op="equ" val="1">
          <dgm:layoutNode name="last">
            <dgm:alg type="composite"/>
            <dgm:shape xmlns:r="http://schemas.openxmlformats.org/officeDocument/2006/relationships" r:blip="">
              <dgm:adjLst/>
            </dgm:shape>
            <dgm:presOf/>
            <dgm:constrLst>
              <dgm:constr type="ctrX" for="ch" forName="circleTx" refType="w" fact="0.5"/>
              <dgm:constr type="t" for="ch" forName="circleTx" refType="w" fact="0.117"/>
              <dgm:constr type="w" for="ch" forName="circleTx" refType="h" refFor="ch" refForName="circleTx"/>
              <dgm:constr type="h" for="ch" forName="circleTx" refType="w" fact="0.85"/>
              <dgm:constr type="l" for="ch" forName="desTxN"/>
              <dgm:constr type="b" for="ch" forName="desTxN" refType="h"/>
              <dgm:constr type="w" for="ch" forName="desTxN" refType="w"/>
              <dgm:constr type="h" for="ch" forName="desTxN" refType="h" fact="0.37"/>
              <dgm:constr type="ctrX" for="ch" forName="spN" refType="w" fact="0.5"/>
              <dgm:constr type="t" for="ch" forName="spN"/>
              <dgm:constr type="w" for="ch" forName="spN" refType="w" fact="0.93"/>
              <dgm:constr type="h" for="ch" forName="spN" refType="h" fact="0.01"/>
            </dgm:constrLst>
            <dgm:layoutNode name="circleTx" styleLbl="node1">
              <dgm:alg type="tx"/>
              <dgm:shape xmlns:r="http://schemas.openxmlformats.org/officeDocument/2006/relationships" type="ellipse" r:blip="">
                <dgm:adjLst/>
              </dgm:shape>
              <dgm:presOf axis="self" ptType="node"/>
              <dgm:constrLst>
                <dgm:constr type="lMarg"/>
                <dgm:constr type="rMarg"/>
                <dgm:constr type="tMarg"/>
                <dgm:constr type="bMarg"/>
              </dgm:constrLst>
              <dgm:ruleLst>
                <dgm:rule type="primFontSz" val="5" fact="NaN" max="NaN"/>
              </dgm:ruleLst>
            </dgm:layoutNode>
            <dgm:choose name="Name14">
              <dgm:if name="Name15" axis="ch" ptType="node" func="cnt" op="gte" val="1">
                <dgm:layoutNode name="desTxN" styleLbl="revTx">
                  <dgm:varLst>
                    <dgm:bulletEnabled val="1"/>
                  </dgm:varLst>
                  <dgm:choose name="Name16">
                    <dgm:if name="Name17" axis="ch" ptType="node" func="cnt" op="equ" val="1">
                      <dgm:alg type="tx">
                        <dgm:param type="shpTxLTRAlignCh" val="l"/>
                      </dgm:alg>
                    </dgm:if>
                    <dgm:else name="Name18">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9"/>
            </dgm:choose>
            <dgm:layoutNode name="spN">
              <dgm:alg type="sp"/>
              <dgm:shape xmlns:r="http://schemas.openxmlformats.org/officeDocument/2006/relationships" r:blip="">
                <dgm:adjLst/>
              </dgm:shape>
              <dgm:presOf/>
            </dgm:layoutNode>
          </dgm:layoutNode>
        </dgm:if>
        <dgm:else name="Name20">
          <dgm:layoutNode name="middle">
            <dgm:alg type="composite"/>
            <dgm:shape xmlns:r="http://schemas.openxmlformats.org/officeDocument/2006/relationships" r:blip="">
              <dgm:adjLst/>
            </dgm:shape>
            <dgm:presOf/>
            <dgm:constrLst>
              <dgm:constr type="l" for="ch" forName="parTxMid"/>
              <dgm:constr type="t" for="ch" forName="parTxMid" refType="w" fact="0.167"/>
              <dgm:constr type="w" for="ch" forName="parTxMid" refType="w"/>
              <dgm:constr type="h" for="ch" forName="parTxMid" refType="w" fact="0.7"/>
              <dgm:constr type="l" for="ch" forName="desTxMid"/>
              <dgm:constr type="b" for="ch" forName="desTxMid" refType="h"/>
              <dgm:constr type="w" for="ch" forName="desTxMid" refType="w"/>
              <dgm:constr type="h" for="ch" forName="desTxMid" refType="h" fact="0.37"/>
              <dgm:constr type="ctrX" for="ch" forName="spMid" refType="w" fact="0.5"/>
              <dgm:constr type="t" for="ch" forName="spMid"/>
              <dgm:constr type="w" for="ch" forName="spMid" refType="w" fact="0.01"/>
              <dgm:constr type="h" for="ch" forName="spMid" refType="h" fact="0.01"/>
            </dgm:constrLst>
            <dgm:layoutNode name="parTxMid"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1">
              <dgm:if name="Name22" axis="ch" ptType="node" func="cnt" op="gte" val="1">
                <dgm:layoutNode name="desTxMid" styleLbl="revTx">
                  <dgm:varLst>
                    <dgm:bulletEnabled val="1"/>
                  </dgm:varLst>
                  <dgm:choose name="Name23">
                    <dgm:if name="Name24" axis="ch" ptType="node" func="cnt" op="equ" val="1">
                      <dgm:alg type="tx">
                        <dgm:param type="shpTxLTRAlignCh" val="l"/>
                      </dgm:alg>
                    </dgm:if>
                    <dgm:else name="Name25">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26"/>
            </dgm:choose>
            <dgm:layoutNode name="spMid">
              <dgm:alg type="sp"/>
              <dgm:shape xmlns:r="http://schemas.openxmlformats.org/officeDocument/2006/relationships" r:blip="">
                <dgm:adjLst/>
              </dgm:shape>
              <dgm:presOf/>
            </dgm:layoutNode>
          </dgm:layoutNode>
        </dgm:else>
      </dgm:choose>
      <dgm:forEach name="Name27" axis="followSib" ptType="sibTrans" cnt="1">
        <dgm:layoutNode name="chevronComposite1" styleLbl="alignImgPlace1">
          <dgm:alg type="composite"/>
          <dgm:shape xmlns:r="http://schemas.openxmlformats.org/officeDocument/2006/relationships" r:blip="">
            <dgm:adjLst/>
          </dgm:shape>
          <dgm:presOf/>
          <dgm:constrLst>
            <dgm:constr type="l" for="ch" forName="chevron1"/>
            <dgm:constr type="t" for="ch" forName="chevron1" refType="h" fact="0.1923"/>
            <dgm:constr type="w" for="ch" forName="chevron1" refType="w"/>
            <dgm:constr type="b" for="ch" forName="chevron1" refType="h"/>
            <dgm:constr type="l" for="ch" forName="spChevron1"/>
            <dgm:constr type="t" for="ch" forName="spChevron1"/>
            <dgm:constr type="w" for="ch" forName="spChevron1" refType="w" fact="0.01"/>
            <dgm:constr type="h" for="ch" forName="spChevron1" refType="h" fact="0.01"/>
          </dgm:constrLst>
          <dgm:layoutNode name="chevron1">
            <dgm:alg type="sp"/>
            <dgm:choose name="Name28">
              <dgm:if name="Name29" func="var" arg="dir" op="equ" val="norm">
                <dgm:shape xmlns:r="http://schemas.openxmlformats.org/officeDocument/2006/relationships" type="chevron" r:blip="">
                  <dgm:adjLst>
                    <dgm:adj idx="1" val="0.6231"/>
                  </dgm:adjLst>
                </dgm:shape>
              </dgm:if>
              <dgm:else name="Name30">
                <dgm:shape xmlns:r="http://schemas.openxmlformats.org/officeDocument/2006/relationships" rot="180" type="chevron" r:blip="">
                  <dgm:adjLst>
                    <dgm:adj idx="1" val="0.6231"/>
                  </dgm:adjLst>
                </dgm:shape>
              </dgm:else>
            </dgm:choose>
            <dgm:presOf/>
          </dgm:layoutNode>
          <dgm:layoutNode name="spChevron1">
            <dgm:alg type="sp"/>
            <dgm:shape xmlns:r="http://schemas.openxmlformats.org/officeDocument/2006/relationships" r:blip="">
              <dgm:adjLst/>
            </dgm:shape>
            <dgm:presOf/>
          </dgm:layoutNode>
        </dgm:layoutNode>
        <dgm:choose name="Name31">
          <dgm:if name="Name32" axis="root ch" ptType="all node" func="cnt" op="equ" val="2">
            <dgm:layoutNode name="overlap">
              <dgm:alg type="sp"/>
              <dgm:shape xmlns:r="http://schemas.openxmlformats.org/officeDocument/2006/relationships" r:blip="">
                <dgm:adjLst/>
              </dgm:shape>
              <dgm:presOf/>
            </dgm:layoutNode>
            <dgm:layoutNode name="chevronComposite2" styleLbl="alignImgPlace1">
              <dgm:alg type="composite"/>
              <dgm:shape xmlns:r="http://schemas.openxmlformats.org/officeDocument/2006/relationships" r:blip="">
                <dgm:adjLst/>
              </dgm:shape>
              <dgm:presOf/>
              <dgm:constrLst>
                <dgm:constr type="l" for="ch" forName="chevron2"/>
                <dgm:constr type="t" for="ch" forName="chevron2" refType="h" fact="0.1923"/>
                <dgm:constr type="w" for="ch" forName="chevron2" refType="w"/>
                <dgm:constr type="b" for="ch" forName="chevron2" refType="h"/>
                <dgm:constr type="l" for="ch" forName="spChevron2"/>
                <dgm:constr type="t" for="ch" forName="spChevron2"/>
                <dgm:constr type="w" for="ch" forName="spChevron2" refType="w" fact="0.01"/>
                <dgm:constr type="h" for="ch" forName="spChevron2" refType="h" fact="0.01"/>
              </dgm:constrLst>
              <dgm:layoutNode name="chevron2">
                <dgm:alg type="sp"/>
                <dgm:choose name="Name33">
                  <dgm:if name="Name34" func="var" arg="dir" op="equ" val="norm">
                    <dgm:shape xmlns:r="http://schemas.openxmlformats.org/officeDocument/2006/relationships" type="chevron" r:blip="">
                      <dgm:adjLst>
                        <dgm:adj idx="1" val="0.6231"/>
                      </dgm:adjLst>
                    </dgm:shape>
                  </dgm:if>
                  <dgm:else name="Name35">
                    <dgm:shape xmlns:r="http://schemas.openxmlformats.org/officeDocument/2006/relationships" rot="180" type="chevron" r:blip="">
                      <dgm:adjLst>
                        <dgm:adj idx="1" val="0.6231"/>
                      </dgm:adjLst>
                    </dgm:shape>
                  </dgm:else>
                </dgm:choose>
                <dgm:presOf/>
              </dgm:layoutNode>
              <dgm:layoutNode name="spChevron2">
                <dgm:alg type="sp"/>
                <dgm:shape xmlns:r="http://schemas.openxmlformats.org/officeDocument/2006/relationships" r:blip="">
                  <dgm:adjLst/>
                </dgm:shape>
                <dgm:presOf/>
              </dgm:layoutNode>
            </dgm:layoutNode>
          </dgm:if>
          <dgm:else name="Name36"/>
        </dgm:choos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CD72810-0719-45F3-B663-E9ABF62E6D4C}" type="datetimeFigureOut">
              <a:rPr lang="en-GB" smtClean="0"/>
              <a:t>12/07/2016</a:t>
            </a:fld>
            <a:endParaRPr lang="en-GB"/>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1597BBB-7028-49A2-82B4-CE6F8CC81324}" type="slidenum">
              <a:rPr lang="en-GB" smtClean="0"/>
              <a:t>‹#›</a:t>
            </a:fld>
            <a:endParaRPr lang="en-GB"/>
          </a:p>
        </p:txBody>
      </p:sp>
    </p:spTree>
    <p:extLst>
      <p:ext uri="{BB962C8B-B14F-4D97-AF65-F5344CB8AC3E}">
        <p14:creationId xmlns:p14="http://schemas.microsoft.com/office/powerpoint/2010/main" val="42447173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43C40EE-421D-4046-8E7C-7B7C4FCD6B74}" type="datetimeFigureOut">
              <a:rPr lang="en-GB" smtClean="0"/>
              <a:t>12/07/2016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89DA277-5AC3-499E-9A91-33C3D980CF02}" type="slidenum">
              <a:rPr lang="en-GB" smtClean="0"/>
              <a:t>‹#›</a:t>
            </a:fld>
            <a:endParaRPr lang="en-GB"/>
          </a:p>
        </p:txBody>
      </p:sp>
    </p:spTree>
    <p:extLst>
      <p:ext uri="{BB962C8B-B14F-4D97-AF65-F5344CB8AC3E}">
        <p14:creationId xmlns:p14="http://schemas.microsoft.com/office/powerpoint/2010/main" val="1136176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89DA277-5AC3-499E-9A91-33C3D980CF02}" type="slidenum">
              <a:rPr lang="en-GB" smtClean="0"/>
              <a:t>1</a:t>
            </a:fld>
            <a:endParaRPr lang="en-GB"/>
          </a:p>
        </p:txBody>
      </p:sp>
    </p:spTree>
    <p:extLst>
      <p:ext uri="{BB962C8B-B14F-4D97-AF65-F5344CB8AC3E}">
        <p14:creationId xmlns:p14="http://schemas.microsoft.com/office/powerpoint/2010/main" val="33825971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189DA277-5AC3-499E-9A91-33C3D980CF02}" type="slidenum">
              <a:rPr lang="en-GB" smtClean="0"/>
              <a:t>2</a:t>
            </a:fld>
            <a:endParaRPr lang="en-GB"/>
          </a:p>
        </p:txBody>
      </p:sp>
    </p:spTree>
    <p:extLst>
      <p:ext uri="{BB962C8B-B14F-4D97-AF65-F5344CB8AC3E}">
        <p14:creationId xmlns:p14="http://schemas.microsoft.com/office/powerpoint/2010/main" val="26842297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Diagram brings it all together.</a:t>
            </a:r>
            <a:r>
              <a:rPr lang="en-GB" baseline="0" dirty="0" smtClean="0"/>
              <a:t> </a:t>
            </a:r>
            <a:br>
              <a:rPr lang="en-GB" baseline="0" dirty="0" smtClean="0"/>
            </a:br>
            <a:r>
              <a:rPr lang="en-GB" baseline="0" dirty="0" smtClean="0"/>
              <a:t>National vision =) role of energy sector =) examine national capacity + resources =) determine policy objectives =) enable the actors involved ($, </a:t>
            </a:r>
            <a:r>
              <a:rPr lang="en-GB" baseline="0" dirty="0" err="1" smtClean="0"/>
              <a:t>capabability</a:t>
            </a:r>
            <a:r>
              <a:rPr lang="en-GB" baseline="0" dirty="0" smtClean="0"/>
              <a:t>, autonomy) =) hold them to account =) reassess.</a:t>
            </a:r>
            <a:endParaRPr lang="en-GB" dirty="0" smtClean="0"/>
          </a:p>
          <a:p>
            <a:endParaRPr lang="en-GB" baseline="0" dirty="0" smtClean="0"/>
          </a:p>
          <a:p>
            <a:r>
              <a:rPr lang="en-GB" baseline="0" dirty="0" smtClean="0"/>
              <a:t>Taking into account the changing circumstances of the sector itself and of national capabilities is particularly important in an emerging producer. </a:t>
            </a:r>
            <a:endParaRPr lang="en-GB" dirty="0"/>
          </a:p>
        </p:txBody>
      </p:sp>
      <p:sp>
        <p:nvSpPr>
          <p:cNvPr id="4" name="Slide Number Placeholder 3"/>
          <p:cNvSpPr>
            <a:spLocks noGrp="1"/>
          </p:cNvSpPr>
          <p:nvPr>
            <p:ph type="sldNum" sz="quarter" idx="10"/>
          </p:nvPr>
        </p:nvSpPr>
        <p:spPr/>
        <p:txBody>
          <a:bodyPr/>
          <a:lstStyle/>
          <a:p>
            <a:fld id="{189DA277-5AC3-499E-9A91-33C3D980CF02}" type="slidenum">
              <a:rPr lang="en-GB" smtClean="0"/>
              <a:t>4</a:t>
            </a:fld>
            <a:endParaRPr lang="en-GB"/>
          </a:p>
        </p:txBody>
      </p:sp>
    </p:spTree>
    <p:extLst>
      <p:ext uri="{BB962C8B-B14F-4D97-AF65-F5344CB8AC3E}">
        <p14:creationId xmlns:p14="http://schemas.microsoft.com/office/powerpoint/2010/main" val="25611681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latin typeface="Georgia"/>
                <a:cs typeface="Georgia"/>
              </a:rPr>
              <a:t>These principles</a:t>
            </a:r>
            <a:r>
              <a:rPr lang="en-GB" baseline="0" dirty="0" smtClean="0">
                <a:latin typeface="Georgia"/>
                <a:cs typeface="Georgia"/>
              </a:rPr>
              <a:t> are from the</a:t>
            </a:r>
            <a:r>
              <a:rPr lang="en-GB" dirty="0" smtClean="0">
                <a:latin typeface="Georgia"/>
                <a:cs typeface="Georgia"/>
              </a:rPr>
              <a:t> Chatham House Document.</a:t>
            </a:r>
            <a:r>
              <a:rPr lang="en-GB" baseline="0" dirty="0" smtClean="0">
                <a:latin typeface="Georgia"/>
                <a:cs typeface="Georgia"/>
              </a:rPr>
              <a:t> They are </a:t>
            </a:r>
            <a:r>
              <a:rPr lang="en-GB" dirty="0" smtClean="0">
                <a:latin typeface="Georgia"/>
                <a:cs typeface="Georgia"/>
              </a:rPr>
              <a:t>5 guiding principles for good governance of the national petroleum sector. Like the Guidelines for Emerging Producers, the governance principles were driven and shaped by discussions between producers. These principles apply to producers at any stage of development of the resource.</a:t>
            </a:r>
          </a:p>
          <a:p>
            <a:endParaRPr lang="en-GB" dirty="0" smtClean="0"/>
          </a:p>
          <a:p>
            <a:r>
              <a:rPr lang="en-GB" dirty="0" smtClean="0"/>
              <a:t>Clear goals</a:t>
            </a:r>
            <a:r>
              <a:rPr lang="en-GB" baseline="0" dirty="0" smtClean="0"/>
              <a:t> = national vision. What role should energy play in this national vision? Clear goals for the NOC too. What is its mandate? How can it support the national agenda? </a:t>
            </a:r>
          </a:p>
          <a:p>
            <a:r>
              <a:rPr lang="en-GB" baseline="0" dirty="0" smtClean="0"/>
              <a:t>Clear roles and responsibility</a:t>
            </a:r>
          </a:p>
          <a:p>
            <a:endParaRPr lang="en-GB" baseline="0" dirty="0" smtClean="0"/>
          </a:p>
          <a:p>
            <a:r>
              <a:rPr lang="en-GB" dirty="0" smtClean="0"/>
              <a:t>Enablement is a key challenge</a:t>
            </a:r>
          </a:p>
          <a:p>
            <a:r>
              <a:rPr lang="en-GB" dirty="0" smtClean="0"/>
              <a:t>Build capacity – technical</a:t>
            </a:r>
            <a:r>
              <a:rPr lang="en-GB" baseline="0" dirty="0" smtClean="0"/>
              <a:t> skills to be able to monitor operators or handle own operations. </a:t>
            </a:r>
          </a:p>
          <a:p>
            <a:r>
              <a:rPr lang="en-GB" baseline="0" dirty="0" smtClean="0"/>
              <a:t>But also means that NOC must be given the financial means to deliver on its mandate. (often not the case)</a:t>
            </a:r>
            <a:endParaRPr lang="en-GB" dirty="0" smtClean="0"/>
          </a:p>
          <a:p>
            <a:endParaRPr lang="en-GB" baseline="0" dirty="0" smtClean="0"/>
          </a:p>
          <a:p>
            <a:r>
              <a:rPr lang="en-GB" baseline="0" dirty="0" smtClean="0"/>
              <a:t>Transparency – NOC must provide the government with clear accounts. Strong reporting is critical. </a:t>
            </a:r>
          </a:p>
          <a:p>
            <a:r>
              <a:rPr lang="en-GB" baseline="0" dirty="0" smtClean="0"/>
              <a:t>Allows for accountability processes. Accountability also requires clear roles. If you don’t have clear delineation of which organisation does what, can’t hold to account. </a:t>
            </a:r>
          </a:p>
          <a:p>
            <a:endParaRPr lang="en-GB" baseline="0" dirty="0" smtClean="0"/>
          </a:p>
        </p:txBody>
      </p:sp>
      <p:sp>
        <p:nvSpPr>
          <p:cNvPr id="4" name="Slide Number Placeholder 3"/>
          <p:cNvSpPr>
            <a:spLocks noGrp="1"/>
          </p:cNvSpPr>
          <p:nvPr>
            <p:ph type="sldNum" sz="quarter" idx="10"/>
          </p:nvPr>
        </p:nvSpPr>
        <p:spPr/>
        <p:txBody>
          <a:bodyPr/>
          <a:lstStyle/>
          <a:p>
            <a:fld id="{189DA277-5AC3-499E-9A91-33C3D980CF02}" type="slidenum">
              <a:rPr lang="en-GB" smtClean="0"/>
              <a:t>5</a:t>
            </a:fld>
            <a:endParaRPr lang="en-GB"/>
          </a:p>
        </p:txBody>
      </p:sp>
    </p:spTree>
    <p:extLst>
      <p:ext uri="{BB962C8B-B14F-4D97-AF65-F5344CB8AC3E}">
        <p14:creationId xmlns:p14="http://schemas.microsoft.com/office/powerpoint/2010/main" val="26962690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smtClean="0"/>
              <a:t>Some objectives can be put on hold until the country’s capacity is developed</a:t>
            </a:r>
          </a:p>
          <a:p>
            <a:pPr lvl="1" algn="just"/>
            <a:r>
              <a:rPr lang="en-US" dirty="0" smtClean="0"/>
              <a:t>Governments should determine priority objectives and put forward a sequence of steps to achieve them</a:t>
            </a:r>
            <a:endParaRPr lang="en-US" dirty="0"/>
          </a:p>
        </p:txBody>
      </p:sp>
      <p:sp>
        <p:nvSpPr>
          <p:cNvPr id="4" name="Slide Number Placeholder 3"/>
          <p:cNvSpPr>
            <a:spLocks noGrp="1"/>
          </p:cNvSpPr>
          <p:nvPr>
            <p:ph type="sldNum" sz="quarter" idx="10"/>
          </p:nvPr>
        </p:nvSpPr>
        <p:spPr/>
        <p:txBody>
          <a:bodyPr/>
          <a:lstStyle/>
          <a:p>
            <a:fld id="{189DA277-5AC3-499E-9A91-33C3D980CF02}" type="slidenum">
              <a:rPr lang="en-GB" smtClean="0"/>
              <a:t>6</a:t>
            </a:fld>
            <a:endParaRPr lang="en-GB"/>
          </a:p>
        </p:txBody>
      </p:sp>
    </p:spTree>
    <p:extLst>
      <p:ext uri="{BB962C8B-B14F-4D97-AF65-F5344CB8AC3E}">
        <p14:creationId xmlns:p14="http://schemas.microsoft.com/office/powerpoint/2010/main" val="3273792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89DA277-5AC3-499E-9A91-33C3D980CF02}" type="slidenum">
              <a:rPr lang="en-GB" smtClean="0"/>
              <a:t>7</a:t>
            </a:fld>
            <a:endParaRPr lang="en-GB"/>
          </a:p>
        </p:txBody>
      </p:sp>
    </p:spTree>
    <p:extLst>
      <p:ext uri="{BB962C8B-B14F-4D97-AF65-F5344CB8AC3E}">
        <p14:creationId xmlns:p14="http://schemas.microsoft.com/office/powerpoint/2010/main" val="32297662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cxnSp>
        <p:nvCxnSpPr>
          <p:cNvPr id="8" name="Straight Connector 7"/>
          <p:cNvCxnSpPr/>
          <p:nvPr userDrawn="1"/>
        </p:nvCxnSpPr>
        <p:spPr>
          <a:xfrm>
            <a:off x="467544" y="1628800"/>
            <a:ext cx="8208912" cy="0"/>
          </a:xfrm>
          <a:prstGeom prst="line">
            <a:avLst/>
          </a:prstGeom>
          <a:ln w="19050" cmpd="thickThi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Rectangle 10"/>
          <p:cNvSpPr/>
          <p:nvPr userDrawn="1"/>
        </p:nvSpPr>
        <p:spPr>
          <a:xfrm>
            <a:off x="0" y="4869160"/>
            <a:ext cx="9144000" cy="1988840"/>
          </a:xfrm>
          <a:prstGeom prst="rect">
            <a:avLst/>
          </a:prstGeom>
          <a:solidFill>
            <a:srgbClr val="4D91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78218" y="5812950"/>
            <a:ext cx="1470221" cy="882506"/>
          </a:xfrm>
          <a:prstGeom prst="rect">
            <a:avLst/>
          </a:prstGeom>
        </p:spPr>
      </p:pic>
      <p:sp>
        <p:nvSpPr>
          <p:cNvPr id="3" name="Text Placeholder 2"/>
          <p:cNvSpPr>
            <a:spLocks noGrp="1"/>
          </p:cNvSpPr>
          <p:nvPr>
            <p:ph type="body" sz="quarter" idx="10" hasCustomPrompt="1"/>
          </p:nvPr>
        </p:nvSpPr>
        <p:spPr>
          <a:xfrm>
            <a:off x="468313" y="908720"/>
            <a:ext cx="8180126" cy="576064"/>
          </a:xfr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baseline="0">
                <a:solidFill>
                  <a:srgbClr val="006699"/>
                </a:solidFill>
                <a:latin typeface="Georgia" pitchFamily="18" charset="0"/>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GB" sz="3200" dirty="0" smtClean="0">
                <a:solidFill>
                  <a:srgbClr val="005984"/>
                </a:solidFill>
                <a:latin typeface="Georgia" pitchFamily="18" charset="0"/>
              </a:rPr>
              <a:t>Add title here</a:t>
            </a:r>
          </a:p>
          <a:p>
            <a:pPr lvl="0"/>
            <a:endParaRPr lang="en-US" dirty="0" smtClean="0"/>
          </a:p>
        </p:txBody>
      </p:sp>
      <p:sp>
        <p:nvSpPr>
          <p:cNvPr id="5" name="Text Placeholder 4"/>
          <p:cNvSpPr>
            <a:spLocks noGrp="1"/>
          </p:cNvSpPr>
          <p:nvPr>
            <p:ph type="body" sz="quarter" idx="11" hasCustomPrompt="1"/>
          </p:nvPr>
        </p:nvSpPr>
        <p:spPr>
          <a:xfrm>
            <a:off x="468311" y="1701180"/>
            <a:ext cx="8180127" cy="359668"/>
          </a:xfrm>
        </p:spPr>
        <p:txBody>
          <a:bodyPr>
            <a:normAutofit/>
          </a:bodyPr>
          <a:lstStyle>
            <a:lvl1pPr marL="0" indent="0">
              <a:buNone/>
              <a:defRPr sz="1800" baseline="0">
                <a:solidFill>
                  <a:schemeClr val="tx1"/>
                </a:solidFill>
                <a:latin typeface="Georgia" pitchFamily="18" charset="0"/>
              </a:defRPr>
            </a:lvl1pPr>
          </a:lstStyle>
          <a:p>
            <a:pPr lvl="0"/>
            <a:r>
              <a:rPr lang="en-GB" dirty="0" smtClean="0"/>
              <a:t>Name of presenter, job title</a:t>
            </a:r>
            <a:endParaRPr lang="en-GB" dirty="0"/>
          </a:p>
        </p:txBody>
      </p:sp>
      <p:sp>
        <p:nvSpPr>
          <p:cNvPr id="13" name="Text Placeholder 12"/>
          <p:cNvSpPr>
            <a:spLocks noGrp="1"/>
          </p:cNvSpPr>
          <p:nvPr>
            <p:ph type="body" sz="quarter" idx="12" hasCustomPrompt="1"/>
          </p:nvPr>
        </p:nvSpPr>
        <p:spPr>
          <a:xfrm>
            <a:off x="468312" y="4509120"/>
            <a:ext cx="8208143" cy="287338"/>
          </a:xfrm>
        </p:spPr>
        <p:txBody>
          <a:bodyPr/>
          <a:lstStyle>
            <a:lvl1pPr marL="0" indent="0">
              <a:buNone/>
              <a:defRPr sz="1200" baseline="0">
                <a:latin typeface="Georgia" pitchFamily="18" charset="0"/>
              </a:defRPr>
            </a:lvl1pPr>
          </a:lstStyle>
          <a:p>
            <a:pPr lvl="0"/>
            <a:r>
              <a:rPr lang="en-GB" dirty="0" smtClean="0"/>
              <a:t>Type of meeting, date</a:t>
            </a:r>
            <a:endParaRPr lang="en-GB" dirty="0"/>
          </a:p>
        </p:txBody>
      </p:sp>
    </p:spTree>
    <p:extLst>
      <p:ext uri="{BB962C8B-B14F-4D97-AF65-F5344CB8AC3E}">
        <p14:creationId xmlns:p14="http://schemas.microsoft.com/office/powerpoint/2010/main" val="93438983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cxnSp>
        <p:nvCxnSpPr>
          <p:cNvPr id="8" name="Straight Connector 7"/>
          <p:cNvCxnSpPr/>
          <p:nvPr userDrawn="1"/>
        </p:nvCxnSpPr>
        <p:spPr>
          <a:xfrm>
            <a:off x="467544" y="908720"/>
            <a:ext cx="8208912" cy="0"/>
          </a:xfrm>
          <a:prstGeom prst="line">
            <a:avLst/>
          </a:prstGeom>
          <a:ln w="19050" cmpd="thickThi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Footer Placeholder 3"/>
          <p:cNvSpPr>
            <a:spLocks noGrp="1"/>
          </p:cNvSpPr>
          <p:nvPr>
            <p:ph type="ftr" sz="quarter" idx="4294967295"/>
          </p:nvPr>
        </p:nvSpPr>
        <p:spPr>
          <a:xfrm>
            <a:off x="434124" y="6381328"/>
            <a:ext cx="7920037" cy="360362"/>
          </a:xfrm>
          <a:prstGeom prst="rect">
            <a:avLst/>
          </a:prstGeo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12" name="Slide Number Placeholder 4"/>
          <p:cNvSpPr>
            <a:spLocks noGrp="1"/>
          </p:cNvSpPr>
          <p:nvPr>
            <p:ph type="sldNum" sz="quarter" idx="4294967295"/>
          </p:nvPr>
        </p:nvSpPr>
        <p:spPr>
          <a:xfrm>
            <a:off x="8388424" y="6381328"/>
            <a:ext cx="360363" cy="360362"/>
          </a:xfrm>
          <a:prstGeom prst="rect">
            <a:avLst/>
          </a:prstGeom>
        </p:spPr>
        <p:txBody>
          <a:bodyPr/>
          <a:lstStyle/>
          <a:p>
            <a:fld id="{418A78CD-E27B-441A-A2B1-21C1D5FFEB65}" type="slidenum">
              <a:rPr lang="en-US" sz="1200" smtClean="0">
                <a:solidFill>
                  <a:prstClr val="black"/>
                </a:solidFill>
                <a:latin typeface="Georgia" pitchFamily="18" charset="0"/>
              </a:rPr>
              <a:pPr/>
              <a:t>‹#›</a:t>
            </a:fld>
            <a:endParaRPr lang="en-US" sz="1200" dirty="0">
              <a:solidFill>
                <a:prstClr val="black"/>
              </a:solidFill>
              <a:latin typeface="Georgia" pitchFamily="18" charset="0"/>
            </a:endParaRPr>
          </a:p>
        </p:txBody>
      </p:sp>
      <p:sp>
        <p:nvSpPr>
          <p:cNvPr id="3" name="Text Placeholder 2"/>
          <p:cNvSpPr>
            <a:spLocks noGrp="1"/>
          </p:cNvSpPr>
          <p:nvPr>
            <p:ph type="body" sz="quarter" idx="10" hasCustomPrompt="1"/>
          </p:nvPr>
        </p:nvSpPr>
        <p:spPr>
          <a:xfrm>
            <a:off x="468313" y="332656"/>
            <a:ext cx="8208143" cy="432048"/>
          </a:xfrm>
        </p:spPr>
        <p:txBody>
          <a:bodyPr/>
          <a:lstStyle>
            <a:lvl1pPr marL="0" marR="0" indent="0" algn="l" defTabSz="914400" rtl="0" eaLnBrk="1" fontAlgn="auto" latinLnBrk="0" hangingPunct="1">
              <a:lnSpc>
                <a:spcPct val="100000"/>
              </a:lnSpc>
              <a:spcBef>
                <a:spcPts val="0"/>
              </a:spcBef>
              <a:spcAft>
                <a:spcPts val="0"/>
              </a:spcAft>
              <a:buClrTx/>
              <a:buSzTx/>
              <a:buFontTx/>
              <a:buNone/>
              <a:tabLst/>
              <a:defRPr>
                <a:solidFill>
                  <a:srgbClr val="00669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smtClean="0">
                <a:ln>
                  <a:noFill/>
                </a:ln>
                <a:solidFill>
                  <a:srgbClr val="005984"/>
                </a:solidFill>
                <a:effectLst/>
                <a:uLnTx/>
                <a:uFillTx/>
                <a:latin typeface="Georgia" pitchFamily="18" charset="0"/>
                <a:ea typeface="+mn-ea"/>
                <a:cs typeface="+mn-cs"/>
              </a:rPr>
              <a:t>Slide title</a:t>
            </a:r>
          </a:p>
        </p:txBody>
      </p:sp>
      <p:sp>
        <p:nvSpPr>
          <p:cNvPr id="5" name="Text Placeholder 4"/>
          <p:cNvSpPr>
            <a:spLocks noGrp="1"/>
          </p:cNvSpPr>
          <p:nvPr>
            <p:ph type="body" sz="quarter" idx="11" hasCustomPrompt="1"/>
          </p:nvPr>
        </p:nvSpPr>
        <p:spPr>
          <a:xfrm>
            <a:off x="468312" y="980728"/>
            <a:ext cx="8208143" cy="3600400"/>
          </a:xfrm>
        </p:spPr>
        <p:txBody>
          <a:bodyPr/>
          <a:lstStyle>
            <a:lvl1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lvl1pPr>
            <a:lvl2pPr marL="742950" marR="0" indent="-285750" algn="l" defTabSz="914400" rtl="0" eaLnBrk="1" fontAlgn="auto" latinLnBrk="0" hangingPunct="1">
              <a:lnSpc>
                <a:spcPct val="100000"/>
              </a:lnSpc>
              <a:spcBef>
                <a:spcPts val="0"/>
              </a:spcBef>
              <a:spcAft>
                <a:spcPts val="0"/>
              </a:spcAft>
              <a:buClrTx/>
              <a:buSzTx/>
              <a:buFont typeface="Arial" pitchFamily="34" charset="0"/>
              <a:buChar char="•"/>
              <a:tabLst/>
              <a:defRPr/>
            </a:lvl2pPr>
          </a:lstStyle>
          <a:p>
            <a:pPr marL="285750" marR="0" lvl="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GB" sz="2400" b="0" i="0" u="none" strike="noStrike" kern="1200" cap="none" spc="0" normalizeH="0" baseline="0" noProof="0" dirty="0" smtClean="0">
                <a:ln>
                  <a:noFill/>
                </a:ln>
                <a:solidFill>
                  <a:prstClr val="black"/>
                </a:solidFill>
                <a:effectLst/>
                <a:uLnTx/>
                <a:uFillTx/>
                <a:latin typeface="Georgia" pitchFamily="18" charset="0"/>
                <a:ea typeface="+mn-ea"/>
                <a:cs typeface="+mn-cs"/>
              </a:rPr>
              <a:t>This is a sample slide.</a:t>
            </a:r>
            <a:endParaRPr lang="en-GB" dirty="0"/>
          </a:p>
        </p:txBody>
      </p:sp>
      <p:cxnSp>
        <p:nvCxnSpPr>
          <p:cNvPr id="9" name="Straight Connector 8"/>
          <p:cNvCxnSpPr/>
          <p:nvPr userDrawn="1"/>
        </p:nvCxnSpPr>
        <p:spPr>
          <a:xfrm>
            <a:off x="468000" y="6310800"/>
            <a:ext cx="8208000" cy="0"/>
          </a:xfrm>
          <a:prstGeom prst="line">
            <a:avLst/>
          </a:prstGeom>
          <a:ln w="19050" cmpd="thickThi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800132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d page">
    <p:spTree>
      <p:nvGrpSpPr>
        <p:cNvPr id="1" name=""/>
        <p:cNvGrpSpPr/>
        <p:nvPr/>
      </p:nvGrpSpPr>
      <p:grpSpPr>
        <a:xfrm>
          <a:off x="0" y="0"/>
          <a:ext cx="0" cy="0"/>
          <a:chOff x="0" y="0"/>
          <a:chExt cx="0" cy="0"/>
        </a:xfrm>
      </p:grpSpPr>
      <p:sp>
        <p:nvSpPr>
          <p:cNvPr id="8" name="Rectangle 7"/>
          <p:cNvSpPr/>
          <p:nvPr userDrawn="1"/>
        </p:nvSpPr>
        <p:spPr>
          <a:xfrm>
            <a:off x="0" y="0"/>
            <a:ext cx="9144000" cy="6858000"/>
          </a:xfrm>
          <a:prstGeom prst="rect">
            <a:avLst/>
          </a:prstGeom>
          <a:solidFill>
            <a:srgbClr val="4D91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GB" dirty="0"/>
          </a:p>
        </p:txBody>
      </p:sp>
      <p:sp>
        <p:nvSpPr>
          <p:cNvPr id="9" name="TextBox 8"/>
          <p:cNvSpPr txBox="1"/>
          <p:nvPr userDrawn="1"/>
        </p:nvSpPr>
        <p:spPr>
          <a:xfrm>
            <a:off x="467544" y="308639"/>
            <a:ext cx="8208912" cy="461665"/>
          </a:xfrm>
          <a:prstGeom prst="rect">
            <a:avLst/>
          </a:prstGeom>
          <a:noFill/>
        </p:spPr>
        <p:txBody>
          <a:bodyPr wrap="square" lIns="0" rtlCol="0">
            <a:spAutoFit/>
          </a:bodyPr>
          <a:lstStyle/>
          <a:p>
            <a:r>
              <a:rPr lang="en-GB" sz="2400" dirty="0" smtClean="0">
                <a:solidFill>
                  <a:schemeClr val="bg1"/>
                </a:solidFill>
                <a:latin typeface="Georgia" pitchFamily="18" charset="0"/>
              </a:rPr>
              <a:t>Thank you</a:t>
            </a:r>
            <a:endParaRPr lang="en-GB" sz="2400" dirty="0">
              <a:solidFill>
                <a:schemeClr val="bg1"/>
              </a:solidFill>
              <a:latin typeface="Georgia" pitchFamily="18" charset="0"/>
            </a:endParaRPr>
          </a:p>
        </p:txBody>
      </p:sp>
      <p:cxnSp>
        <p:nvCxnSpPr>
          <p:cNvPr id="10" name="Straight Connector 9"/>
          <p:cNvCxnSpPr/>
          <p:nvPr userDrawn="1"/>
        </p:nvCxnSpPr>
        <p:spPr>
          <a:xfrm>
            <a:off x="467544" y="908720"/>
            <a:ext cx="8208912" cy="0"/>
          </a:xfrm>
          <a:prstGeom prst="line">
            <a:avLst/>
          </a:prstGeom>
          <a:ln w="19050" cmpd="thickThi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a:off x="467544" y="6309320"/>
            <a:ext cx="8208912" cy="0"/>
          </a:xfrm>
          <a:prstGeom prst="line">
            <a:avLst/>
          </a:prstGeom>
          <a:ln w="19050" cmpd="thickThin">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Footer Placeholder 3"/>
          <p:cNvSpPr>
            <a:spLocks noGrp="1"/>
          </p:cNvSpPr>
          <p:nvPr>
            <p:ph type="ftr" sz="quarter" idx="4294967295"/>
          </p:nvPr>
        </p:nvSpPr>
        <p:spPr>
          <a:xfrm>
            <a:off x="434124" y="6381328"/>
            <a:ext cx="7920037" cy="360362"/>
          </a:xfrm>
          <a:prstGeom prst="rect">
            <a:avLst/>
          </a:prstGeom>
        </p:spPr>
        <p:txBody>
          <a:bodyPr/>
          <a:lstStyle/>
          <a:p>
            <a:pPr algn="l"/>
            <a:r>
              <a:rPr lang="en-US" dirty="0" smtClean="0">
                <a:solidFill>
                  <a:schemeClr val="bg1"/>
                </a:solidFill>
                <a:latin typeface="Georgia" pitchFamily="18" charset="0"/>
              </a:rPr>
              <a:t>Chatham House  |  The Royal Institute of International Affairs </a:t>
            </a:r>
            <a:endParaRPr lang="en-US" dirty="0">
              <a:solidFill>
                <a:schemeClr val="bg1"/>
              </a:solidFill>
              <a:latin typeface="Georgia" pitchFamily="18" charset="0"/>
            </a:endParaRPr>
          </a:p>
        </p:txBody>
      </p:sp>
      <p:sp>
        <p:nvSpPr>
          <p:cNvPr id="16" name="Slide Number Placeholder 4"/>
          <p:cNvSpPr>
            <a:spLocks noGrp="1"/>
          </p:cNvSpPr>
          <p:nvPr>
            <p:ph type="sldNum" sz="quarter" idx="4294967295"/>
          </p:nvPr>
        </p:nvSpPr>
        <p:spPr>
          <a:xfrm>
            <a:off x="8388424" y="6381328"/>
            <a:ext cx="360363" cy="360362"/>
          </a:xfrm>
          <a:prstGeom prst="rect">
            <a:avLst/>
          </a:prstGeom>
        </p:spPr>
        <p:txBody>
          <a:bodyPr/>
          <a:lstStyle/>
          <a:p>
            <a:fld id="{418A78CD-E27B-441A-A2B1-21C1D5FFEB65}" type="slidenum">
              <a:rPr lang="en-US" sz="1200" smtClean="0">
                <a:solidFill>
                  <a:schemeClr val="bg1"/>
                </a:solidFill>
                <a:latin typeface="Georgia" pitchFamily="18" charset="0"/>
              </a:rPr>
              <a:pPr/>
              <a:t>‹#›</a:t>
            </a:fld>
            <a:endParaRPr lang="en-US" sz="1200" dirty="0">
              <a:solidFill>
                <a:schemeClr val="bg1"/>
              </a:solidFill>
              <a:latin typeface="Georgia" pitchFamily="18" charset="0"/>
            </a:endParaRPr>
          </a:p>
        </p:txBody>
      </p:sp>
      <p:sp>
        <p:nvSpPr>
          <p:cNvPr id="3" name="Text Placeholder 2"/>
          <p:cNvSpPr>
            <a:spLocks noGrp="1"/>
          </p:cNvSpPr>
          <p:nvPr>
            <p:ph type="body" sz="quarter" idx="10" hasCustomPrompt="1"/>
          </p:nvPr>
        </p:nvSpPr>
        <p:spPr>
          <a:xfrm>
            <a:off x="468312" y="1196975"/>
            <a:ext cx="8208143" cy="2232025"/>
          </a:xfrm>
        </p:spPr>
        <p:txBody>
          <a:bodyPr>
            <a:normAutofit/>
          </a:bodyPr>
          <a:lstStyle>
            <a:lvl1pPr marL="0" indent="0">
              <a:buNone/>
              <a:defRPr sz="1800" baseline="0">
                <a:solidFill>
                  <a:schemeClr val="bg1"/>
                </a:solidFill>
                <a:latin typeface="Georgia" pitchFamily="18" charset="0"/>
              </a:defRPr>
            </a:lvl1pPr>
          </a:lstStyle>
          <a:p>
            <a:pPr lvl="0"/>
            <a:r>
              <a:rPr lang="en-GB" sz="1800" dirty="0" smtClean="0">
                <a:latin typeface="Georgia" pitchFamily="18" charset="0"/>
              </a:rPr>
              <a:t>You can use this space for any closing marks or delete if not needed</a:t>
            </a:r>
            <a:endParaRPr lang="en-GB" dirty="0"/>
          </a:p>
        </p:txBody>
      </p:sp>
    </p:spTree>
    <p:extLst>
      <p:ext uri="{BB962C8B-B14F-4D97-AF65-F5344CB8AC3E}">
        <p14:creationId xmlns:p14="http://schemas.microsoft.com/office/powerpoint/2010/main" val="408853442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endParaRPr lang="en-GB"/>
          </a:p>
        </p:txBody>
      </p:sp>
      <p:sp>
        <p:nvSpPr>
          <p:cNvPr id="8" name="Footer Placeholder 7"/>
          <p:cNvSpPr>
            <a:spLocks noGrp="1"/>
          </p:cNvSpPr>
          <p:nvPr>
            <p:ph type="ftr" sz="quarter" idx="11"/>
          </p:nvPr>
        </p:nvSpPr>
        <p:spPr/>
        <p:txBody>
          <a:bodyPr/>
          <a:lstStyle/>
          <a:p>
            <a:r>
              <a:rPr lang="en-GB" smtClean="0"/>
              <a:t>Chatham House  |  The Royal Institute of International Affairs </a:t>
            </a:r>
            <a:endParaRPr lang="en-GB"/>
          </a:p>
        </p:txBody>
      </p:sp>
      <p:sp>
        <p:nvSpPr>
          <p:cNvPr id="9" name="Slide Number Placeholder 8"/>
          <p:cNvSpPr>
            <a:spLocks noGrp="1"/>
          </p:cNvSpPr>
          <p:nvPr>
            <p:ph type="sldNum" sz="quarter" idx="12"/>
          </p:nvPr>
        </p:nvSpPr>
        <p:spPr/>
        <p:txBody>
          <a:bodyPr/>
          <a:lstStyle/>
          <a:p>
            <a:fld id="{4E93DA66-EBF5-4E90-9785-1613283ED912}" type="slidenum">
              <a:rPr lang="en-GB" smtClean="0"/>
              <a:t>‹#›</a:t>
            </a:fld>
            <a:endParaRPr lang="en-GB"/>
          </a:p>
        </p:txBody>
      </p:sp>
    </p:spTree>
    <p:extLst>
      <p:ext uri="{BB962C8B-B14F-4D97-AF65-F5344CB8AC3E}">
        <p14:creationId xmlns:p14="http://schemas.microsoft.com/office/powerpoint/2010/main" val="2062143723"/>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endParaRPr lang="en-GB"/>
          </a:p>
        </p:txBody>
      </p:sp>
      <p:sp>
        <p:nvSpPr>
          <p:cNvPr id="4" name="Footer Placeholder 3"/>
          <p:cNvSpPr>
            <a:spLocks noGrp="1"/>
          </p:cNvSpPr>
          <p:nvPr>
            <p:ph type="ftr" sz="quarter" idx="11"/>
          </p:nvPr>
        </p:nvSpPr>
        <p:spPr/>
        <p:txBody>
          <a:bodyPr/>
          <a:lstStyle/>
          <a:p>
            <a:r>
              <a:rPr lang="en-GB" smtClean="0"/>
              <a:t>Chatham House  |  The Royal Institute of International Affairs </a:t>
            </a:r>
            <a:endParaRPr lang="en-GB"/>
          </a:p>
        </p:txBody>
      </p:sp>
      <p:sp>
        <p:nvSpPr>
          <p:cNvPr id="5" name="Slide Number Placeholder 4"/>
          <p:cNvSpPr>
            <a:spLocks noGrp="1"/>
          </p:cNvSpPr>
          <p:nvPr>
            <p:ph type="sldNum" sz="quarter" idx="12"/>
          </p:nvPr>
        </p:nvSpPr>
        <p:spPr/>
        <p:txBody>
          <a:bodyPr/>
          <a:lstStyle/>
          <a:p>
            <a:fld id="{4E93DA66-EBF5-4E90-9785-1613283ED912}" type="slidenum">
              <a:rPr lang="en-GB" smtClean="0"/>
              <a:t>‹#›</a:t>
            </a:fld>
            <a:endParaRPr lang="en-GB"/>
          </a:p>
        </p:txBody>
      </p:sp>
    </p:spTree>
    <p:extLst>
      <p:ext uri="{BB962C8B-B14F-4D97-AF65-F5344CB8AC3E}">
        <p14:creationId xmlns:p14="http://schemas.microsoft.com/office/powerpoint/2010/main" val="17964553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GB"/>
          </a:p>
        </p:txBody>
      </p:sp>
      <p:sp>
        <p:nvSpPr>
          <p:cNvPr id="3" name="Footer Placeholder 2"/>
          <p:cNvSpPr>
            <a:spLocks noGrp="1"/>
          </p:cNvSpPr>
          <p:nvPr>
            <p:ph type="ftr" sz="quarter" idx="11"/>
          </p:nvPr>
        </p:nvSpPr>
        <p:spPr/>
        <p:txBody>
          <a:bodyPr/>
          <a:lstStyle/>
          <a:p>
            <a:r>
              <a:rPr lang="en-GB" smtClean="0"/>
              <a:t>Chatham House  |  The Royal Institute of International Affairs </a:t>
            </a:r>
            <a:endParaRPr lang="en-GB"/>
          </a:p>
        </p:txBody>
      </p:sp>
      <p:sp>
        <p:nvSpPr>
          <p:cNvPr id="4" name="Slide Number Placeholder 3"/>
          <p:cNvSpPr>
            <a:spLocks noGrp="1"/>
          </p:cNvSpPr>
          <p:nvPr>
            <p:ph type="sldNum" sz="quarter" idx="12"/>
          </p:nvPr>
        </p:nvSpPr>
        <p:spPr/>
        <p:txBody>
          <a:bodyPr/>
          <a:lstStyle/>
          <a:p>
            <a:fld id="{4E93DA66-EBF5-4E90-9785-1613283ED912}" type="slidenum">
              <a:rPr lang="en-GB" smtClean="0"/>
              <a:t>‹#›</a:t>
            </a:fld>
            <a:endParaRPr lang="en-GB"/>
          </a:p>
        </p:txBody>
      </p:sp>
    </p:spTree>
    <p:extLst>
      <p:ext uri="{BB962C8B-B14F-4D97-AF65-F5344CB8AC3E}">
        <p14:creationId xmlns:p14="http://schemas.microsoft.com/office/powerpoint/2010/main" val="1945829978"/>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GB"/>
          </a:p>
        </p:txBody>
      </p:sp>
      <p:sp>
        <p:nvSpPr>
          <p:cNvPr id="6" name="Footer Placeholder 5"/>
          <p:cNvSpPr>
            <a:spLocks noGrp="1"/>
          </p:cNvSpPr>
          <p:nvPr>
            <p:ph type="ftr" sz="quarter" idx="11"/>
          </p:nvPr>
        </p:nvSpPr>
        <p:spPr/>
        <p:txBody>
          <a:bodyPr/>
          <a:lstStyle/>
          <a:p>
            <a:r>
              <a:rPr lang="en-GB" smtClean="0"/>
              <a:t>Chatham House  |  The Royal Institute of International Affairs </a:t>
            </a:r>
            <a:endParaRPr lang="en-GB"/>
          </a:p>
        </p:txBody>
      </p:sp>
      <p:sp>
        <p:nvSpPr>
          <p:cNvPr id="7" name="Slide Number Placeholder 6"/>
          <p:cNvSpPr>
            <a:spLocks noGrp="1"/>
          </p:cNvSpPr>
          <p:nvPr>
            <p:ph type="sldNum" sz="quarter" idx="12"/>
          </p:nvPr>
        </p:nvSpPr>
        <p:spPr/>
        <p:txBody>
          <a:bodyPr/>
          <a:lstStyle/>
          <a:p>
            <a:fld id="{4E93DA66-EBF5-4E90-9785-1613283ED912}" type="slidenum">
              <a:rPr lang="en-GB" smtClean="0"/>
              <a:t>‹#›</a:t>
            </a:fld>
            <a:endParaRPr lang="en-GB"/>
          </a:p>
        </p:txBody>
      </p:sp>
    </p:spTree>
    <p:extLst>
      <p:ext uri="{BB962C8B-B14F-4D97-AF65-F5344CB8AC3E}">
        <p14:creationId xmlns:p14="http://schemas.microsoft.com/office/powerpoint/2010/main" val="429883337"/>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GB"/>
          </a:p>
        </p:txBody>
      </p:sp>
      <p:sp>
        <p:nvSpPr>
          <p:cNvPr id="6" name="Footer Placeholder 5"/>
          <p:cNvSpPr>
            <a:spLocks noGrp="1"/>
          </p:cNvSpPr>
          <p:nvPr>
            <p:ph type="ftr" sz="quarter" idx="11"/>
          </p:nvPr>
        </p:nvSpPr>
        <p:spPr/>
        <p:txBody>
          <a:bodyPr/>
          <a:lstStyle/>
          <a:p>
            <a:r>
              <a:rPr lang="en-GB" smtClean="0"/>
              <a:t>Chatham House  |  The Royal Institute of International Affairs </a:t>
            </a:r>
            <a:endParaRPr lang="en-GB"/>
          </a:p>
        </p:txBody>
      </p:sp>
      <p:sp>
        <p:nvSpPr>
          <p:cNvPr id="7" name="Slide Number Placeholder 6"/>
          <p:cNvSpPr>
            <a:spLocks noGrp="1"/>
          </p:cNvSpPr>
          <p:nvPr>
            <p:ph type="sldNum" sz="quarter" idx="12"/>
          </p:nvPr>
        </p:nvSpPr>
        <p:spPr/>
        <p:txBody>
          <a:bodyPr/>
          <a:lstStyle/>
          <a:p>
            <a:fld id="{4E93DA66-EBF5-4E90-9785-1613283ED912}" type="slidenum">
              <a:rPr lang="en-GB" smtClean="0"/>
              <a:t>‹#›</a:t>
            </a:fld>
            <a:endParaRPr lang="en-GB"/>
          </a:p>
        </p:txBody>
      </p:sp>
    </p:spTree>
    <p:extLst>
      <p:ext uri="{BB962C8B-B14F-4D97-AF65-F5344CB8AC3E}">
        <p14:creationId xmlns:p14="http://schemas.microsoft.com/office/powerpoint/2010/main" val="3194446111"/>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r>
              <a:rPr lang="en-GB" smtClean="0"/>
              <a:t>Chatham House  |  The Royal Institute of International Affairs </a:t>
            </a:r>
            <a:endParaRPr lang="en-GB"/>
          </a:p>
        </p:txBody>
      </p:sp>
      <p:sp>
        <p:nvSpPr>
          <p:cNvPr id="6" name="Slide Number Placeholder 5"/>
          <p:cNvSpPr>
            <a:spLocks noGrp="1"/>
          </p:cNvSpPr>
          <p:nvPr>
            <p:ph type="sldNum" sz="quarter" idx="12"/>
          </p:nvPr>
        </p:nvSpPr>
        <p:spPr/>
        <p:txBody>
          <a:bodyPr/>
          <a:lstStyle/>
          <a:p>
            <a:fld id="{4E93DA66-EBF5-4E90-9785-1613283ED912}" type="slidenum">
              <a:rPr lang="en-GB" smtClean="0"/>
              <a:t>‹#›</a:t>
            </a:fld>
            <a:endParaRPr lang="en-GB"/>
          </a:p>
        </p:txBody>
      </p:sp>
    </p:spTree>
    <p:extLst>
      <p:ext uri="{BB962C8B-B14F-4D97-AF65-F5344CB8AC3E}">
        <p14:creationId xmlns:p14="http://schemas.microsoft.com/office/powerpoint/2010/main" val="769251593"/>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r>
              <a:rPr lang="en-GB" smtClean="0"/>
              <a:t>Chatham House  |  The Royal Institute of International Affairs </a:t>
            </a:r>
            <a:endParaRPr lang="en-GB"/>
          </a:p>
        </p:txBody>
      </p:sp>
      <p:sp>
        <p:nvSpPr>
          <p:cNvPr id="6" name="Slide Number Placeholder 5"/>
          <p:cNvSpPr>
            <a:spLocks noGrp="1"/>
          </p:cNvSpPr>
          <p:nvPr>
            <p:ph type="sldNum" sz="quarter" idx="12"/>
          </p:nvPr>
        </p:nvSpPr>
        <p:spPr/>
        <p:txBody>
          <a:bodyPr/>
          <a:lstStyle/>
          <a:p>
            <a:fld id="{4E93DA66-EBF5-4E90-9785-1613283ED912}" type="slidenum">
              <a:rPr lang="en-GB" smtClean="0"/>
              <a:t>‹#›</a:t>
            </a:fld>
            <a:endParaRPr lang="en-GB"/>
          </a:p>
        </p:txBody>
      </p:sp>
    </p:spTree>
    <p:extLst>
      <p:ext uri="{BB962C8B-B14F-4D97-AF65-F5344CB8AC3E}">
        <p14:creationId xmlns:p14="http://schemas.microsoft.com/office/powerpoint/2010/main" val="3325982252"/>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GB"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smtClean="0"/>
              <a:t>Chatham House  |  The Royal Institute of International Affairs </a:t>
            </a: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93DA66-EBF5-4E90-9785-1613283ED912}" type="slidenum">
              <a:rPr lang="en-GB" smtClean="0"/>
              <a:t>‹#›</a:t>
            </a:fld>
            <a:endParaRPr lang="en-GB"/>
          </a:p>
        </p:txBody>
      </p:sp>
    </p:spTree>
    <p:extLst>
      <p:ext uri="{BB962C8B-B14F-4D97-AF65-F5344CB8AC3E}">
        <p14:creationId xmlns:p14="http://schemas.microsoft.com/office/powerpoint/2010/main" val="1119001602"/>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timing>
    <p:tnLst>
      <p:par>
        <p:cTn id="1" dur="indefinite" restart="never" nodeType="tmRoot"/>
      </p:par>
    </p:tnLst>
  </p:timing>
  <p:hf hdr="0" dt="0"/>
  <p:txStyles>
    <p:titleStyle>
      <a:lvl1pPr algn="ctr" defTabSz="914400" rtl="0" eaLnBrk="1" latinLnBrk="0" hangingPunct="1">
        <a:spcBef>
          <a:spcPct val="0"/>
        </a:spcBef>
        <a:buNone/>
        <a:defRPr sz="4400" kern="1200">
          <a:solidFill>
            <a:schemeClr val="tx1"/>
          </a:solidFill>
          <a:latin typeface="Georgia" pitchFamily="18"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Georgia" pitchFamily="18"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Georgia" pitchFamily="18" charset="0"/>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Georgia" pitchFamily="18"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Georgia" pitchFamily="18"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Georgia" pitchFamily="18"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chathamhouse.org/publications/papers/view/194059"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www.chathamhouse.org/publications/papers/view/108469"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slide" Target="slide61.xml"/><Relationship Id="rId3" Type="http://schemas.openxmlformats.org/officeDocument/2006/relationships/slide" Target="slide16.xml"/><Relationship Id="rId7" Type="http://schemas.openxmlformats.org/officeDocument/2006/relationships/slide" Target="slide50.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slide" Target="slide42.xml"/><Relationship Id="rId5" Type="http://schemas.openxmlformats.org/officeDocument/2006/relationships/slide" Target="slide32.xml"/><Relationship Id="rId10" Type="http://schemas.openxmlformats.org/officeDocument/2006/relationships/slide" Target="slide8.xml"/><Relationship Id="rId4" Type="http://schemas.openxmlformats.org/officeDocument/2006/relationships/slide" Target="slide23.xml"/><Relationship Id="rId9" Type="http://schemas.openxmlformats.org/officeDocument/2006/relationships/slide" Target="slide66.xml"/></Relationships>
</file>

<file path=ppt/slides/_rels/slide8.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slide" Target="slide9.xml"/><Relationship Id="rId1" Type="http://schemas.openxmlformats.org/officeDocument/2006/relationships/slideLayout" Target="../slideLayouts/slideLayout6.xml"/><Relationship Id="rId6" Type="http://schemas.openxmlformats.org/officeDocument/2006/relationships/slide" Target="slide10.xml"/><Relationship Id="rId5" Type="http://schemas.openxmlformats.org/officeDocument/2006/relationships/slide" Target="slide7.xml"/><Relationship Id="rId4" Type="http://schemas.openxmlformats.org/officeDocument/2006/relationships/slide" Target="slide14.xml"/></Relationships>
</file>

<file path=ppt/slides/_rels/slide9.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slide" Target="slide11.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slide" Target="slide7.xml"/></Relationships>
</file>

<file path=ppt/slides/_rels/slide11.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13.xml"/><Relationship Id="rId1" Type="http://schemas.openxmlformats.org/officeDocument/2006/relationships/slideLayout" Target="../slideLayouts/slideLayout6.xml"/><Relationship Id="rId4" Type="http://schemas.openxmlformats.org/officeDocument/2006/relationships/slide" Target="slide7.xml"/></Relationships>
</file>

<file path=ppt/slides/_rels/slide13.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slide" Target="slide15.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slide" Target="slide7.xml"/></Relationships>
</file>

<file path=ppt/slides/_rels/slide15.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slide" Target="slide17.xml"/><Relationship Id="rId1" Type="http://schemas.openxmlformats.org/officeDocument/2006/relationships/slideLayout" Target="../slideLayouts/slideLayout5.xml"/><Relationship Id="rId4" Type="http://schemas.openxmlformats.org/officeDocument/2006/relationships/slide" Target="slide7.xml"/></Relationships>
</file>

<file path=ppt/slides/_rels/slide17.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slide" Target="slide18.xml"/><Relationship Id="rId1" Type="http://schemas.openxmlformats.org/officeDocument/2006/relationships/slideLayout" Target="../slideLayouts/slideLayout6.xml"/><Relationship Id="rId4" Type="http://schemas.openxmlformats.org/officeDocument/2006/relationships/slide" Target="slide7.xml"/></Relationships>
</file>

<file path=ppt/slides/_rels/slide18.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slide" Target="slide21.xml"/><Relationship Id="rId1" Type="http://schemas.openxmlformats.org/officeDocument/2006/relationships/slideLayout" Target="../slideLayouts/slideLayout6.xml"/><Relationship Id="rId4" Type="http://schemas.openxmlformats.org/officeDocument/2006/relationships/slide" Target="slide7.xml"/></Relationships>
</file>

<file path=ppt/slides/_rels/slide21.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slide" Target="slide22.xml"/><Relationship Id="rId1" Type="http://schemas.openxmlformats.org/officeDocument/2006/relationships/slideLayout" Target="../slideLayouts/slideLayout2.xml"/><Relationship Id="rId4" Type="http://schemas.openxmlformats.org/officeDocument/2006/relationships/slide" Target="slide7.xml"/></Relationships>
</file>

<file path=ppt/slides/_rels/slide22.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slide" Target="slide29.xml"/><Relationship Id="rId1" Type="http://schemas.openxmlformats.org/officeDocument/2006/relationships/slideLayout" Target="../slideLayouts/slideLayout6.xml"/><Relationship Id="rId5" Type="http://schemas.openxmlformats.org/officeDocument/2006/relationships/slide" Target="slide7.xml"/><Relationship Id="rId4" Type="http://schemas.openxmlformats.org/officeDocument/2006/relationships/slide" Target="slide24.xml"/></Relationships>
</file>

<file path=ppt/slides/_rels/slide24.xml.rels><?xml version="1.0" encoding="UTF-8" standalone="yes"?>
<Relationships xmlns="http://schemas.openxmlformats.org/package/2006/relationships"><Relationship Id="rId8" Type="http://schemas.openxmlformats.org/officeDocument/2006/relationships/slide" Target="slide23.xml"/><Relationship Id="rId3" Type="http://schemas.openxmlformats.org/officeDocument/2006/relationships/diagramLayout" Target="../diagrams/layout4.xml"/><Relationship Id="rId7" Type="http://schemas.openxmlformats.org/officeDocument/2006/relationships/slide" Target="slide25.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 Id="rId9" Type="http://schemas.openxmlformats.org/officeDocument/2006/relationships/slide" Target="slide7.xml"/></Relationships>
</file>

<file path=ppt/slides/_rels/slide25.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diagramLayout" Target="../diagrams/layout5.xml"/><Relationship Id="rId7" Type="http://schemas.openxmlformats.org/officeDocument/2006/relationships/slide" Target="slide23.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6.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slide" Target="slide28.xml"/><Relationship Id="rId1" Type="http://schemas.openxmlformats.org/officeDocument/2006/relationships/slideLayout" Target="../slideLayouts/slideLayout6.xml"/><Relationship Id="rId4" Type="http://schemas.openxmlformats.org/officeDocument/2006/relationships/slide" Target="slide7.xml"/></Relationships>
</file>

<file path=ppt/slides/_rels/slide28.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slide" Target="slide30.xml"/><Relationship Id="rId1" Type="http://schemas.openxmlformats.org/officeDocument/2006/relationships/slideLayout" Target="../slideLayouts/slideLayout6.xml"/><Relationship Id="rId4" Type="http://schemas.openxmlformats.org/officeDocument/2006/relationships/slide" Target="slide7.xml"/></Relationships>
</file>

<file path=ppt/slides/_rels/slide30.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 Target="slide36.xml"/><Relationship Id="rId2" Type="http://schemas.openxmlformats.org/officeDocument/2006/relationships/slide" Target="slide33.xml"/><Relationship Id="rId1" Type="http://schemas.openxmlformats.org/officeDocument/2006/relationships/slideLayout" Target="../slideLayouts/slideLayout6.xml"/><Relationship Id="rId6" Type="http://schemas.openxmlformats.org/officeDocument/2006/relationships/slide" Target="slide7.xml"/><Relationship Id="rId5" Type="http://schemas.openxmlformats.org/officeDocument/2006/relationships/slide" Target="slide40.xml"/><Relationship Id="rId4" Type="http://schemas.openxmlformats.org/officeDocument/2006/relationships/slide" Target="slide38.xml"/></Relationships>
</file>

<file path=ppt/slides/_rels/slide33.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34.xml"/><Relationship Id="rId1" Type="http://schemas.openxmlformats.org/officeDocument/2006/relationships/slideLayout" Target="../slideLayouts/slideLayout6.xml"/><Relationship Id="rId4" Type="http://schemas.openxmlformats.org/officeDocument/2006/relationships/slide" Target="slide7.xml"/></Relationships>
</file>

<file path=ppt/slides/_rels/slide34.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37.xml"/><Relationship Id="rId1" Type="http://schemas.openxmlformats.org/officeDocument/2006/relationships/slideLayout" Target="../slideLayouts/slideLayout6.xml"/><Relationship Id="rId4" Type="http://schemas.openxmlformats.org/officeDocument/2006/relationships/slide" Target="slide7.xml"/></Relationships>
</file>

<file path=ppt/slides/_rels/slide37.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39.xml"/><Relationship Id="rId1" Type="http://schemas.openxmlformats.org/officeDocument/2006/relationships/slideLayout" Target="../slideLayouts/slideLayout6.xml"/><Relationship Id="rId4" Type="http://schemas.openxmlformats.org/officeDocument/2006/relationships/slide" Target="slide7.xml"/></Relationships>
</file>

<file path=ppt/slides/_rels/slide39.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39.xml"/><Relationship Id="rId1" Type="http://schemas.openxmlformats.org/officeDocument/2006/relationships/slideLayout" Target="../slideLayouts/slideLayout6.xml"/><Relationship Id="rId4" Type="http://schemas.openxmlformats.org/officeDocument/2006/relationships/slide" Target="slide7.xml"/></Relationships>
</file>

<file path=ppt/slides/_rels/slide41.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slide" Target="slide45.xml"/><Relationship Id="rId3" Type="http://schemas.openxmlformats.org/officeDocument/2006/relationships/diagramLayout" Target="../diagrams/layout6.xml"/><Relationship Id="rId7" Type="http://schemas.openxmlformats.org/officeDocument/2006/relationships/slide" Target="slide43.xml"/><Relationship Id="rId2" Type="http://schemas.openxmlformats.org/officeDocument/2006/relationships/diagramData" Target="../diagrams/data6.xml"/><Relationship Id="rId1" Type="http://schemas.openxmlformats.org/officeDocument/2006/relationships/slideLayout" Target="../slideLayouts/slideLayout6.xml"/><Relationship Id="rId6" Type="http://schemas.microsoft.com/office/2007/relationships/diagramDrawing" Target="../diagrams/drawing6.xml"/><Relationship Id="rId5" Type="http://schemas.openxmlformats.org/officeDocument/2006/relationships/diagramColors" Target="../diagrams/colors6.xml"/><Relationship Id="rId10" Type="http://schemas.openxmlformats.org/officeDocument/2006/relationships/slide" Target="slide7.xml"/><Relationship Id="rId4" Type="http://schemas.openxmlformats.org/officeDocument/2006/relationships/diagramQuickStyle" Target="../diagrams/quickStyle6.xml"/><Relationship Id="rId9" Type="http://schemas.openxmlformats.org/officeDocument/2006/relationships/slide" Target="slide48.xml"/></Relationships>
</file>

<file path=ppt/slides/_rels/slide43.xml.rels><?xml version="1.0" encoding="UTF-8" standalone="yes"?>
<Relationships xmlns="http://schemas.openxmlformats.org/package/2006/relationships"><Relationship Id="rId8" Type="http://schemas.openxmlformats.org/officeDocument/2006/relationships/slide" Target="slide42.xml"/><Relationship Id="rId3" Type="http://schemas.openxmlformats.org/officeDocument/2006/relationships/diagramLayout" Target="../diagrams/layout7.xml"/><Relationship Id="rId7" Type="http://schemas.openxmlformats.org/officeDocument/2006/relationships/slide" Target="slide44.xml"/><Relationship Id="rId2" Type="http://schemas.openxmlformats.org/officeDocument/2006/relationships/diagramData" Target="../diagrams/data7.xml"/><Relationship Id="rId1" Type="http://schemas.openxmlformats.org/officeDocument/2006/relationships/slideLayout" Target="../slideLayouts/slideLayout6.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 Id="rId9" Type="http://schemas.openxmlformats.org/officeDocument/2006/relationships/slide" Target="slide7.xml"/></Relationships>
</file>

<file path=ppt/slides/_rels/slide44.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slide" Target="slide46.xml"/><Relationship Id="rId1" Type="http://schemas.openxmlformats.org/officeDocument/2006/relationships/slideLayout" Target="../slideLayouts/slideLayout6.xml"/><Relationship Id="rId4" Type="http://schemas.openxmlformats.org/officeDocument/2006/relationships/slide" Target="slide7.xml"/></Relationships>
</file>

<file path=ppt/slides/_rels/slide46.xml.rels><?xml version="1.0" encoding="UTF-8" standalone="yes"?>
<Relationships xmlns="http://schemas.openxmlformats.org/package/2006/relationships"><Relationship Id="rId8" Type="http://schemas.openxmlformats.org/officeDocument/2006/relationships/slide" Target="slide42.xml"/><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slide" Target="slide47.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 Id="rId9" Type="http://schemas.openxmlformats.org/officeDocument/2006/relationships/slide" Target="slide7.xml"/></Relationships>
</file>

<file path=ppt/slides/_rels/slide47.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slide" Target="slide49.xml"/><Relationship Id="rId1" Type="http://schemas.openxmlformats.org/officeDocument/2006/relationships/slideLayout" Target="../slideLayouts/slideLayout6.xml"/><Relationship Id="rId4" Type="http://schemas.openxmlformats.org/officeDocument/2006/relationships/slide" Target="slide7.xml"/></Relationships>
</file>

<file path=ppt/slides/_rels/slide49.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slide" Target="slide53.xml"/><Relationship Id="rId2" Type="http://schemas.openxmlformats.org/officeDocument/2006/relationships/slide" Target="slide51.xml"/><Relationship Id="rId1" Type="http://schemas.openxmlformats.org/officeDocument/2006/relationships/slideLayout" Target="../slideLayouts/slideLayout6.xml"/><Relationship Id="rId5" Type="http://schemas.openxmlformats.org/officeDocument/2006/relationships/slide" Target="slide7.xml"/><Relationship Id="rId4" Type="http://schemas.openxmlformats.org/officeDocument/2006/relationships/slide" Target="slide58.xml"/></Relationships>
</file>

<file path=ppt/slides/_rels/slide51.xml.rels><?xml version="1.0" encoding="UTF-8" standalone="yes"?>
<Relationships xmlns="http://schemas.openxmlformats.org/package/2006/relationships"><Relationship Id="rId3" Type="http://schemas.openxmlformats.org/officeDocument/2006/relationships/slide" Target="slide50.xml"/><Relationship Id="rId2" Type="http://schemas.openxmlformats.org/officeDocument/2006/relationships/slide" Target="slide52.xml"/><Relationship Id="rId1" Type="http://schemas.openxmlformats.org/officeDocument/2006/relationships/slideLayout" Target="../slideLayouts/slideLayout6.xml"/><Relationship Id="rId4" Type="http://schemas.openxmlformats.org/officeDocument/2006/relationships/slide" Target="slide7.xml"/></Relationships>
</file>

<file path=ppt/slides/_rels/slide52.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slide" Target="slide50.xml"/><Relationship Id="rId2" Type="http://schemas.openxmlformats.org/officeDocument/2006/relationships/slide" Target="slide54.xml"/><Relationship Id="rId1" Type="http://schemas.openxmlformats.org/officeDocument/2006/relationships/slideLayout" Target="../slideLayouts/slideLayout6.xml"/><Relationship Id="rId4" Type="http://schemas.openxmlformats.org/officeDocument/2006/relationships/slide" Target="slide7.xml"/></Relationships>
</file>

<file path=ppt/slides/_rels/slide54.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slide" Target="slide50.xml"/><Relationship Id="rId2" Type="http://schemas.openxmlformats.org/officeDocument/2006/relationships/slide" Target="slide56.xml"/><Relationship Id="rId1" Type="http://schemas.openxmlformats.org/officeDocument/2006/relationships/slideLayout" Target="../slideLayouts/slideLayout2.xml"/><Relationship Id="rId4" Type="http://schemas.openxmlformats.org/officeDocument/2006/relationships/slide" Target="slide7.xml"/></Relationships>
</file>

<file path=ppt/slides/_rels/slide56.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slide" Target="slide59.xml"/><Relationship Id="rId3" Type="http://schemas.openxmlformats.org/officeDocument/2006/relationships/diagramLayout" Target="../diagrams/layout9.xml"/><Relationship Id="rId7" Type="http://schemas.openxmlformats.org/officeDocument/2006/relationships/slide" Target="slide60.xml"/><Relationship Id="rId2" Type="http://schemas.openxmlformats.org/officeDocument/2006/relationships/diagramData" Target="../diagrams/data9.xml"/><Relationship Id="rId1" Type="http://schemas.openxmlformats.org/officeDocument/2006/relationships/slideLayout" Target="../slideLayouts/slideLayout6.xml"/><Relationship Id="rId6" Type="http://schemas.microsoft.com/office/2007/relationships/diagramDrawing" Target="../diagrams/drawing9.xml"/><Relationship Id="rId5" Type="http://schemas.openxmlformats.org/officeDocument/2006/relationships/diagramColors" Target="../diagrams/colors9.xml"/><Relationship Id="rId10" Type="http://schemas.openxmlformats.org/officeDocument/2006/relationships/slide" Target="slide7.xml"/><Relationship Id="rId4" Type="http://schemas.openxmlformats.org/officeDocument/2006/relationships/diagramQuickStyle" Target="../diagrams/quickStyle9.xml"/><Relationship Id="rId9" Type="http://schemas.openxmlformats.org/officeDocument/2006/relationships/slide" Target="slide50.xml"/></Relationships>
</file>

<file path=ppt/slides/_rels/slide59.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diagramLayout" Target="../diagrams/layout10.xml"/><Relationship Id="rId7" Type="http://schemas.openxmlformats.org/officeDocument/2006/relationships/slide" Target="slide58.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60.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diagramLayout" Target="../diagrams/layout11.xml"/><Relationship Id="rId7" Type="http://schemas.openxmlformats.org/officeDocument/2006/relationships/slide" Target="slide50.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61.xml.rels><?xml version="1.0" encoding="UTF-8" standalone="yes"?>
<Relationships xmlns="http://schemas.openxmlformats.org/package/2006/relationships"><Relationship Id="rId3" Type="http://schemas.openxmlformats.org/officeDocument/2006/relationships/slide" Target="slide63.xml"/><Relationship Id="rId2" Type="http://schemas.openxmlformats.org/officeDocument/2006/relationships/slide" Target="slide62.xml"/><Relationship Id="rId1" Type="http://schemas.openxmlformats.org/officeDocument/2006/relationships/slideLayout" Target="../slideLayouts/slideLayout6.xml"/><Relationship Id="rId5" Type="http://schemas.openxmlformats.org/officeDocument/2006/relationships/slide" Target="slide7.xml"/><Relationship Id="rId4" Type="http://schemas.openxmlformats.org/officeDocument/2006/relationships/slide" Target="slide65.xml"/></Relationships>
</file>

<file path=ppt/slides/_rels/slide62.xml.rels><?xml version="1.0" encoding="UTF-8" standalone="yes"?>
<Relationships xmlns="http://schemas.openxmlformats.org/package/2006/relationships"><Relationship Id="rId3" Type="http://schemas.openxmlformats.org/officeDocument/2006/relationships/slide" Target="slide61.xml"/><Relationship Id="rId2" Type="http://schemas.openxmlformats.org/officeDocument/2006/relationships/slide" Target="slide65.xml"/><Relationship Id="rId1" Type="http://schemas.openxmlformats.org/officeDocument/2006/relationships/slideLayout" Target="../slideLayouts/slideLayout2.xml"/><Relationship Id="rId4" Type="http://schemas.openxmlformats.org/officeDocument/2006/relationships/slide" Target="slide7.xml"/></Relationships>
</file>

<file path=ppt/slides/_rels/slide63.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slide" Target="slide61.xml"/><Relationship Id="rId2" Type="http://schemas.openxmlformats.org/officeDocument/2006/relationships/slide" Target="slide65.xml"/><Relationship Id="rId1" Type="http://schemas.openxmlformats.org/officeDocument/2006/relationships/slideLayout" Target="../slideLayouts/slideLayout2.xml"/><Relationship Id="rId4" Type="http://schemas.openxmlformats.org/officeDocument/2006/relationships/slide" Target="slide7.xml"/></Relationships>
</file>

<file path=ppt/slides/_rels/slide65.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6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69.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3" Type="http://schemas.openxmlformats.org/officeDocument/2006/relationships/slide" Target="slide66.xml"/><Relationship Id="rId2" Type="http://schemas.openxmlformats.org/officeDocument/2006/relationships/slide" Target="slide25.xml"/><Relationship Id="rId1" Type="http://schemas.openxmlformats.org/officeDocument/2006/relationships/slideLayout" Target="../slideLayouts/slideLayout6.xml"/><Relationship Id="rId4" Type="http://schemas.openxmlformats.org/officeDocument/2006/relationships/slide" Target="slide7.xml"/></Relationships>
</file>

<file path=ppt/slides/_rels/slide68.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6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openxmlformats.org/officeDocument/2006/relationships/slide" Target="slide66.xml"/><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slide" Target="slide47.xml"/><Relationship Id="rId1" Type="http://schemas.openxmlformats.org/officeDocument/2006/relationships/slideLayout" Target="../slideLayouts/slideLayout6.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 Id="rId9" Type="http://schemas.openxmlformats.org/officeDocument/2006/relationships/slide" Target="slide7.xml"/></Relationships>
</file>

<file path=ppt/slides/_rels/slide70.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hyperlink" Target="mailto:vmarcel@chathamhouse.org" TargetMode="External"/><Relationship Id="rId2" Type="http://schemas.openxmlformats.org/officeDocument/2006/relationships/hyperlink" Target="http://www.chathamhouse.org/publications/papers/view/194059"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468313" y="548680"/>
            <a:ext cx="8180126" cy="576064"/>
          </a:xfrm>
        </p:spPr>
        <p:txBody>
          <a:bodyPr>
            <a:noAutofit/>
          </a:bodyPr>
          <a:lstStyle/>
          <a:p>
            <a:r>
              <a:rPr lang="en-GB" sz="2400" dirty="0" smtClean="0"/>
              <a:t>Guidelines for Good Governance in </a:t>
            </a:r>
          </a:p>
          <a:p>
            <a:r>
              <a:rPr lang="en-GB" sz="2400" dirty="0" smtClean="0"/>
              <a:t>Emerging Oil and Gas Producers </a:t>
            </a:r>
            <a:endParaRPr lang="en-GB" sz="2400" dirty="0"/>
          </a:p>
        </p:txBody>
      </p:sp>
      <p:sp>
        <p:nvSpPr>
          <p:cNvPr id="4" name="Text Placeholder 3"/>
          <p:cNvSpPr>
            <a:spLocks noGrp="1"/>
          </p:cNvSpPr>
          <p:nvPr>
            <p:ph type="body" sz="quarter" idx="12"/>
          </p:nvPr>
        </p:nvSpPr>
        <p:spPr>
          <a:xfrm>
            <a:off x="468313" y="3573016"/>
            <a:ext cx="8208143" cy="647378"/>
          </a:xfrm>
          <a:ln>
            <a:solidFill>
              <a:srgbClr val="4F81BD"/>
            </a:solidFill>
          </a:ln>
        </p:spPr>
        <p:txBody>
          <a:bodyPr>
            <a:normAutofit fontScale="92500" lnSpcReduction="10000"/>
          </a:bodyPr>
          <a:lstStyle/>
          <a:p>
            <a:pPr>
              <a:defRPr/>
            </a:pPr>
            <a:r>
              <a:rPr lang="en-US" b="1" dirty="0">
                <a:solidFill>
                  <a:schemeClr val="accent1"/>
                </a:solidFill>
                <a:cs typeface="Geneva" charset="0"/>
              </a:rPr>
              <a:t>For the full text of the Guidelines for Good Governance in Emerging Oil and Gas Producers </a:t>
            </a:r>
          </a:p>
          <a:p>
            <a:pPr>
              <a:defRPr/>
            </a:pPr>
            <a:r>
              <a:rPr lang="en-US" b="1" dirty="0" smtClean="0">
                <a:solidFill>
                  <a:schemeClr val="accent1"/>
                </a:solidFill>
                <a:cs typeface="Geneva" charset="0"/>
              </a:rPr>
              <a:t>(3</a:t>
            </a:r>
            <a:r>
              <a:rPr lang="en-US" b="1" baseline="30000" dirty="0" smtClean="0">
                <a:solidFill>
                  <a:schemeClr val="accent1"/>
                </a:solidFill>
                <a:cs typeface="Geneva" charset="0"/>
              </a:rPr>
              <a:t>rd</a:t>
            </a:r>
            <a:r>
              <a:rPr lang="en-US" b="1" dirty="0" smtClean="0">
                <a:solidFill>
                  <a:schemeClr val="accent1"/>
                </a:solidFill>
                <a:cs typeface="Geneva" charset="0"/>
              </a:rPr>
              <a:t> Edition, 2016) </a:t>
            </a:r>
            <a:r>
              <a:rPr lang="en-US" b="1" dirty="0">
                <a:solidFill>
                  <a:schemeClr val="accent1"/>
                </a:solidFill>
                <a:cs typeface="Geneva" charset="0"/>
              </a:rPr>
              <a:t>please visit </a:t>
            </a:r>
            <a:r>
              <a:rPr lang="en-US" b="1" dirty="0">
                <a:solidFill>
                  <a:schemeClr val="accent1"/>
                </a:solidFill>
              </a:rPr>
              <a:t>the </a:t>
            </a:r>
            <a:r>
              <a:rPr lang="en-US" b="1" dirty="0">
                <a:solidFill>
                  <a:schemeClr val="accent1"/>
                </a:solidFill>
                <a:hlinkClick r:id="rId3"/>
              </a:rPr>
              <a:t>Chatham House website</a:t>
            </a:r>
            <a:r>
              <a:rPr lang="en-US" b="1" dirty="0">
                <a:solidFill>
                  <a:schemeClr val="accent1"/>
                </a:solidFill>
                <a:cs typeface="Geneva" charset="0"/>
              </a:rPr>
              <a:t>.</a:t>
            </a:r>
          </a:p>
          <a:p>
            <a:pPr>
              <a:defRPr/>
            </a:pPr>
            <a:r>
              <a:rPr lang="en-US" b="1" dirty="0">
                <a:solidFill>
                  <a:schemeClr val="accent1"/>
                </a:solidFill>
              </a:rPr>
              <a:t>Materials provided by Chatham House (c) The Royal Institute of International Affairs.</a:t>
            </a:r>
            <a:endParaRPr lang="en-GB" b="1" dirty="0">
              <a:solidFill>
                <a:schemeClr val="accent1"/>
              </a:solidFill>
            </a:endParaRPr>
          </a:p>
        </p:txBody>
      </p:sp>
      <p:pic>
        <p:nvPicPr>
          <p:cNvPr id="6" name="Picture 5" descr="http://comshare.comsec.int/cpad/brandhub/Logos/For%20Online-Electronic/JPEG/High%20resolution/Commonwealth_logo_blue_stacked_hi_res.jp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000" y="5734800"/>
            <a:ext cx="1656184" cy="924385"/>
          </a:xfrm>
          <a:prstGeom prst="rect">
            <a:avLst/>
          </a:prstGeom>
          <a:solidFill>
            <a:schemeClr val="tx2">
              <a:lumMod val="40000"/>
              <a:lumOff val="60000"/>
            </a:schemeClr>
          </a:solidFill>
          <a:ln>
            <a:noFill/>
          </a:ln>
        </p:spPr>
      </p:pic>
      <p:pic>
        <p:nvPicPr>
          <p:cNvPr id="9" name="Picture 8"/>
          <p:cNvPicPr>
            <a:picLocks noChangeAspect="1"/>
          </p:cNvPicPr>
          <p:nvPr/>
        </p:nvPicPr>
        <p:blipFill>
          <a:blip r:embed="rId5"/>
          <a:stretch>
            <a:fillRect/>
          </a:stretch>
        </p:blipFill>
        <p:spPr>
          <a:xfrm>
            <a:off x="3491880" y="5731751"/>
            <a:ext cx="1512168" cy="925890"/>
          </a:xfrm>
          <a:prstGeom prst="rect">
            <a:avLst/>
          </a:prstGeom>
        </p:spPr>
      </p:pic>
    </p:spTree>
    <p:extLst>
      <p:ext uri="{BB962C8B-B14F-4D97-AF65-F5344CB8AC3E}">
        <p14:creationId xmlns:p14="http://schemas.microsoft.com/office/powerpoint/2010/main" val="265666977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a:xfrm>
            <a:off x="8316000" y="6382800"/>
            <a:ext cx="360000" cy="360000"/>
          </a:xfrm>
        </p:spPr>
        <p:txBody>
          <a:bodyPr/>
          <a:lstStyle/>
          <a:p>
            <a:fld id="{418A78CD-E27B-441A-A2B1-21C1D5FFEB65}" type="slidenum">
              <a:rPr lang="en-US" sz="1200" smtClean="0">
                <a:solidFill>
                  <a:prstClr val="black"/>
                </a:solidFill>
                <a:latin typeface="Georgia" pitchFamily="18" charset="0"/>
              </a:rPr>
              <a:pPr/>
              <a:t>2</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a:xfrm>
            <a:off x="468313" y="404664"/>
            <a:ext cx="8208143" cy="432048"/>
          </a:xfrm>
        </p:spPr>
        <p:txBody>
          <a:bodyPr>
            <a:normAutofit fontScale="85000" lnSpcReduction="20000"/>
          </a:bodyPr>
          <a:lstStyle/>
          <a:p>
            <a:r>
              <a:rPr lang="en-GB" dirty="0" smtClean="0"/>
              <a:t>Introduction</a:t>
            </a:r>
            <a:endParaRPr lang="en-GB" dirty="0"/>
          </a:p>
        </p:txBody>
      </p:sp>
      <p:sp>
        <p:nvSpPr>
          <p:cNvPr id="5" name="Text Placeholder 4"/>
          <p:cNvSpPr>
            <a:spLocks noGrp="1"/>
          </p:cNvSpPr>
          <p:nvPr>
            <p:ph type="body" sz="quarter" idx="11"/>
          </p:nvPr>
        </p:nvSpPr>
        <p:spPr>
          <a:xfrm>
            <a:off x="468312" y="1340768"/>
            <a:ext cx="8208143" cy="4680520"/>
          </a:xfrm>
        </p:spPr>
        <p:txBody>
          <a:bodyPr>
            <a:normAutofit fontScale="70000" lnSpcReduction="20000"/>
          </a:bodyPr>
          <a:lstStyle/>
          <a:p>
            <a:pPr algn="just"/>
            <a:r>
              <a:rPr lang="en-GB" sz="3000" dirty="0" smtClean="0"/>
              <a:t>The New Petroleum Producers Discussion Group brings together officials from over 25 emerging producer countries in an annual forum. </a:t>
            </a:r>
          </a:p>
          <a:p>
            <a:pPr marL="0" indent="0" algn="just">
              <a:buNone/>
            </a:pPr>
            <a:endParaRPr lang="en-GB" sz="3000" dirty="0" smtClean="0"/>
          </a:p>
          <a:p>
            <a:pPr algn="just"/>
            <a:r>
              <a:rPr lang="en-GB" sz="3000" dirty="0" smtClean="0"/>
              <a:t>Together the group examines available policy options appropriate for countries in the first steps of development of petroleum resources and promotes peer-to-peer exchange.</a:t>
            </a:r>
          </a:p>
          <a:p>
            <a:pPr algn="just"/>
            <a:endParaRPr lang="en-GB" sz="3000" dirty="0" smtClean="0"/>
          </a:p>
          <a:p>
            <a:pPr algn="just"/>
            <a:r>
              <a:rPr lang="en-GB" sz="3000" dirty="0" smtClean="0"/>
              <a:t>International best practice may not be the best advice.</a:t>
            </a:r>
          </a:p>
          <a:p>
            <a:pPr algn="just"/>
            <a:endParaRPr lang="en-GB" sz="3000" dirty="0" smtClean="0"/>
          </a:p>
          <a:p>
            <a:pPr lvl="1" algn="just">
              <a:lnSpc>
                <a:spcPct val="170000"/>
              </a:lnSpc>
              <a:buFont typeface="Wingdings" charset="2"/>
              <a:buChar char="Ø"/>
            </a:pPr>
            <a:r>
              <a:rPr lang="en-GB" sz="3000" dirty="0" smtClean="0"/>
              <a:t>More appropriate practice – National context </a:t>
            </a:r>
          </a:p>
          <a:p>
            <a:pPr lvl="1" algn="just">
              <a:lnSpc>
                <a:spcPct val="170000"/>
              </a:lnSpc>
              <a:buFont typeface="Wingdings" charset="2"/>
              <a:buChar char="Ø"/>
            </a:pPr>
            <a:r>
              <a:rPr lang="en-GB" sz="3000" dirty="0" smtClean="0"/>
              <a:t>More effective practice – Rapid results</a:t>
            </a:r>
          </a:p>
          <a:p>
            <a:pPr lvl="1" algn="just">
              <a:lnSpc>
                <a:spcPct val="170000"/>
              </a:lnSpc>
              <a:buFont typeface="Wingdings" charset="2"/>
              <a:buChar char="Ø"/>
            </a:pPr>
            <a:r>
              <a:rPr lang="en-GB" sz="3000" dirty="0" smtClean="0"/>
              <a:t>Better practice – Incremental improvements to governance</a:t>
            </a:r>
          </a:p>
          <a:p>
            <a:pPr lvl="1" algn="just"/>
            <a:endParaRPr lang="en-GB" dirty="0" smtClean="0"/>
          </a:p>
        </p:txBody>
      </p:sp>
    </p:spTree>
    <p:extLst>
      <p:ext uri="{BB962C8B-B14F-4D97-AF65-F5344CB8AC3E}">
        <p14:creationId xmlns:p14="http://schemas.microsoft.com/office/powerpoint/2010/main" val="29154403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3</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p:txBody>
          <a:bodyPr>
            <a:noAutofit/>
          </a:bodyPr>
          <a:lstStyle/>
          <a:p>
            <a:r>
              <a:rPr lang="en-GB" sz="2400" dirty="0" smtClean="0"/>
              <a:t>What should emerging producers do with these Guidelines?</a:t>
            </a:r>
            <a:endParaRPr lang="en-GB" sz="2400" dirty="0"/>
          </a:p>
        </p:txBody>
      </p:sp>
      <p:sp>
        <p:nvSpPr>
          <p:cNvPr id="5" name="Text Placeholder 4"/>
          <p:cNvSpPr>
            <a:spLocks noGrp="1"/>
          </p:cNvSpPr>
          <p:nvPr>
            <p:ph type="body" sz="quarter" idx="11"/>
          </p:nvPr>
        </p:nvSpPr>
        <p:spPr>
          <a:xfrm>
            <a:off x="467544" y="1772816"/>
            <a:ext cx="8208143" cy="3384376"/>
          </a:xfrm>
        </p:spPr>
        <p:txBody>
          <a:bodyPr>
            <a:normAutofit/>
          </a:bodyPr>
          <a:lstStyle/>
          <a:p>
            <a:r>
              <a:rPr lang="en-GB" sz="2400" dirty="0" smtClean="0"/>
              <a:t>Conduct an open consultation</a:t>
            </a:r>
          </a:p>
          <a:p>
            <a:pPr lvl="1">
              <a:lnSpc>
                <a:spcPct val="150000"/>
              </a:lnSpc>
              <a:buFont typeface="Wingdings" charset="2"/>
              <a:buChar char="Ø"/>
            </a:pPr>
            <a:r>
              <a:rPr lang="en-GB" sz="2000" dirty="0" smtClean="0"/>
              <a:t>Decide priority objectives</a:t>
            </a:r>
          </a:p>
          <a:p>
            <a:pPr lvl="1">
              <a:lnSpc>
                <a:spcPct val="150000"/>
              </a:lnSpc>
              <a:buFont typeface="Wingdings" charset="2"/>
              <a:buChar char="Ø"/>
            </a:pPr>
            <a:r>
              <a:rPr lang="en-GB" sz="2000" dirty="0" smtClean="0"/>
              <a:t>Decide sequence of steps to achieve these</a:t>
            </a:r>
          </a:p>
          <a:p>
            <a:pPr marL="457200" lvl="1" indent="0">
              <a:buNone/>
            </a:pPr>
            <a:endParaRPr lang="en-GB" sz="2000" dirty="0" smtClean="0"/>
          </a:p>
          <a:p>
            <a:r>
              <a:rPr lang="en-GB" sz="2400" dirty="0" smtClean="0"/>
              <a:t>Plan for success</a:t>
            </a:r>
          </a:p>
          <a:p>
            <a:pPr lvl="1">
              <a:lnSpc>
                <a:spcPct val="150000"/>
              </a:lnSpc>
              <a:buFont typeface="Wingdings" charset="2"/>
              <a:buChar char="Ø"/>
            </a:pPr>
            <a:r>
              <a:rPr lang="en-GB" sz="2000" dirty="0" smtClean="0"/>
              <a:t>Devise an investment framework that can adapt</a:t>
            </a:r>
          </a:p>
          <a:p>
            <a:pPr lvl="1">
              <a:lnSpc>
                <a:spcPct val="110000"/>
              </a:lnSpc>
              <a:buFont typeface="Wingdings" charset="2"/>
              <a:buChar char="Ø"/>
            </a:pPr>
            <a:r>
              <a:rPr lang="en-GB" sz="2000" dirty="0" smtClean="0"/>
              <a:t>Build change into the institutional set up for governance of the sector</a:t>
            </a:r>
            <a:endParaRPr lang="en-GB" sz="2000" dirty="0"/>
          </a:p>
        </p:txBody>
      </p:sp>
    </p:spTree>
    <p:extLst>
      <p:ext uri="{BB962C8B-B14F-4D97-AF65-F5344CB8AC3E}">
        <p14:creationId xmlns:p14="http://schemas.microsoft.com/office/powerpoint/2010/main" val="16919235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4</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a:xfrm>
            <a:off x="468313" y="116632"/>
            <a:ext cx="8208143" cy="432048"/>
          </a:xfrm>
        </p:spPr>
        <p:txBody>
          <a:bodyPr>
            <a:noAutofit/>
          </a:bodyPr>
          <a:lstStyle/>
          <a:p>
            <a:r>
              <a:rPr lang="en-GB" sz="2400" dirty="0" smtClean="0">
                <a:latin typeface="Georgia"/>
                <a:cs typeface="Georgia"/>
              </a:rPr>
              <a:t>Recommendations for incremental governance improvement </a:t>
            </a:r>
            <a:endParaRPr lang="en-GB" sz="2400" dirty="0">
              <a:latin typeface="Georgia"/>
              <a:cs typeface="Georgia"/>
            </a:endParaRPr>
          </a:p>
        </p:txBody>
      </p:sp>
      <p:sp>
        <p:nvSpPr>
          <p:cNvPr id="45" name="Parallelogram 44"/>
          <p:cNvSpPr/>
          <p:nvPr/>
        </p:nvSpPr>
        <p:spPr>
          <a:xfrm>
            <a:off x="611560" y="1052736"/>
            <a:ext cx="4011612" cy="506412"/>
          </a:xfrm>
          <a:prstGeom prst="parallelogram">
            <a:avLst/>
          </a:prstGeom>
          <a:solidFill>
            <a:srgbClr val="006699"/>
          </a:solidFill>
          <a:ln>
            <a:solidFill>
              <a:srgbClr val="E5F2F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200"/>
              </a:spcBef>
              <a:defRPr/>
            </a:pPr>
            <a:r>
              <a:rPr lang="en-GB" b="1" dirty="0">
                <a:solidFill>
                  <a:schemeClr val="bg1"/>
                </a:solidFill>
              </a:rPr>
              <a:t>Potential </a:t>
            </a:r>
            <a:r>
              <a:rPr lang="en-GB" b="1" dirty="0" smtClean="0">
                <a:solidFill>
                  <a:schemeClr val="bg1"/>
                </a:solidFill>
              </a:rPr>
              <a:t>policy objectives</a:t>
            </a:r>
            <a:endParaRPr lang="en-GB" b="1" dirty="0">
              <a:solidFill>
                <a:schemeClr val="bg1"/>
              </a:solidFill>
            </a:endParaRPr>
          </a:p>
        </p:txBody>
      </p:sp>
      <p:sp>
        <p:nvSpPr>
          <p:cNvPr id="50" name="Parallelogram 49"/>
          <p:cNvSpPr/>
          <p:nvPr/>
        </p:nvSpPr>
        <p:spPr>
          <a:xfrm>
            <a:off x="4881563" y="1052736"/>
            <a:ext cx="4010025" cy="506412"/>
          </a:xfrm>
          <a:prstGeom prst="parallelogram">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200"/>
              </a:spcBef>
              <a:defRPr/>
            </a:pPr>
            <a:r>
              <a:rPr lang="en-GB" b="1" dirty="0" smtClean="0">
                <a:solidFill>
                  <a:schemeClr val="bg1"/>
                </a:solidFill>
              </a:rPr>
              <a:t>Assessment and prioritization</a:t>
            </a:r>
            <a:endParaRPr lang="en-GB" sz="2000" b="1" dirty="0">
              <a:solidFill>
                <a:schemeClr val="bg1"/>
              </a:solidFill>
            </a:endParaRPr>
          </a:p>
        </p:txBody>
      </p:sp>
      <p:sp>
        <p:nvSpPr>
          <p:cNvPr id="51" name="Right Arrow 50"/>
          <p:cNvSpPr/>
          <p:nvPr/>
        </p:nvSpPr>
        <p:spPr>
          <a:xfrm>
            <a:off x="4337082" y="2391634"/>
            <a:ext cx="368300" cy="3558316"/>
          </a:xfrm>
          <a:prstGeom prst="rightArrow">
            <a:avLst>
              <a:gd name="adj1" fmla="val 50000"/>
              <a:gd name="adj2" fmla="val 100000"/>
            </a:avLst>
          </a:prstGeom>
          <a:solidFill>
            <a:srgbClr val="7030A0">
              <a:alpha val="3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dirty="0"/>
          </a:p>
        </p:txBody>
      </p:sp>
      <p:sp>
        <p:nvSpPr>
          <p:cNvPr id="52" name="Rectangle 51"/>
          <p:cNvSpPr/>
          <p:nvPr/>
        </p:nvSpPr>
        <p:spPr>
          <a:xfrm>
            <a:off x="5868145" y="1700808"/>
            <a:ext cx="1872208" cy="560959"/>
          </a:xfrm>
          <a:prstGeom prst="rect">
            <a:avLst/>
          </a:prstGeom>
          <a:solidFill>
            <a:srgbClr val="E5F2F4"/>
          </a:solidFill>
          <a:ln>
            <a:solidFill>
              <a:srgbClr val="409DAD"/>
            </a:solidFill>
          </a:ln>
        </p:spPr>
        <p:style>
          <a:lnRef idx="2">
            <a:schemeClr val="accent1">
              <a:shade val="50000"/>
            </a:schemeClr>
          </a:lnRef>
          <a:fillRef idx="1">
            <a:schemeClr val="accent1"/>
          </a:fillRef>
          <a:effectRef idx="0">
            <a:schemeClr val="accent1"/>
          </a:effectRef>
          <a:fontRef idx="minor">
            <a:schemeClr val="lt1"/>
          </a:fontRef>
        </p:style>
        <p:txBody>
          <a:bodyPr tIns="274320" bIns="274320" anchor="ctr"/>
          <a:lstStyle/>
          <a:p>
            <a:pPr algn="ctr">
              <a:defRPr/>
            </a:pPr>
            <a:r>
              <a:rPr lang="en-GB" sz="1200" b="1" dirty="0">
                <a:solidFill>
                  <a:schemeClr val="tx1"/>
                </a:solidFill>
              </a:rPr>
              <a:t>National vision</a:t>
            </a:r>
          </a:p>
          <a:p>
            <a:pPr marL="0" lvl="2" algn="ctr">
              <a:defRPr/>
            </a:pPr>
            <a:r>
              <a:rPr lang="en-GB" sz="1200" dirty="0">
                <a:solidFill>
                  <a:srgbClr val="000000"/>
                </a:solidFill>
                <a:cs typeface="Arial" pitchFamily="34" charset="0"/>
              </a:rPr>
              <a:t>Role for energy sector</a:t>
            </a:r>
            <a:endParaRPr lang="en-GB" sz="1200" dirty="0">
              <a:solidFill>
                <a:schemeClr val="tx1"/>
              </a:solidFill>
            </a:endParaRPr>
          </a:p>
        </p:txBody>
      </p:sp>
      <p:sp>
        <p:nvSpPr>
          <p:cNvPr id="54" name="Right Arrow 53"/>
          <p:cNvSpPr/>
          <p:nvPr/>
        </p:nvSpPr>
        <p:spPr>
          <a:xfrm rot="5400000">
            <a:off x="6732810" y="1398710"/>
            <a:ext cx="142877" cy="1872208"/>
          </a:xfrm>
          <a:prstGeom prst="rightArrow">
            <a:avLst>
              <a:gd name="adj1" fmla="val 50000"/>
              <a:gd name="adj2" fmla="val 100000"/>
            </a:avLst>
          </a:prstGeom>
          <a:solidFill>
            <a:srgbClr val="7030A0">
              <a:alpha val="3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dirty="0"/>
          </a:p>
        </p:txBody>
      </p:sp>
      <p:sp>
        <p:nvSpPr>
          <p:cNvPr id="43" name="Parallelogram 42"/>
          <p:cNvSpPr/>
          <p:nvPr/>
        </p:nvSpPr>
        <p:spPr>
          <a:xfrm>
            <a:off x="250825" y="3100592"/>
            <a:ext cx="3954463" cy="533375"/>
          </a:xfrm>
          <a:prstGeom prst="parallelogram">
            <a:avLst/>
          </a:prstGeom>
          <a:solidFill>
            <a:srgbClr val="006699">
              <a:alpha val="28000"/>
            </a:srgbClr>
          </a:solidFill>
          <a:ln>
            <a:solidFill>
              <a:srgbClr val="409DA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200"/>
              </a:spcBef>
              <a:defRPr/>
            </a:pPr>
            <a:r>
              <a:rPr lang="en-GB" sz="1400" dirty="0" smtClean="0">
                <a:solidFill>
                  <a:schemeClr val="tx1"/>
                </a:solidFill>
              </a:rPr>
              <a:t>Maximise economic returns to the state</a:t>
            </a:r>
            <a:endParaRPr lang="en-GB" sz="1400" dirty="0">
              <a:solidFill>
                <a:schemeClr val="tx1"/>
              </a:solidFill>
            </a:endParaRPr>
          </a:p>
        </p:txBody>
      </p:sp>
      <p:sp>
        <p:nvSpPr>
          <p:cNvPr id="44" name="Parallelogram 43"/>
          <p:cNvSpPr/>
          <p:nvPr/>
        </p:nvSpPr>
        <p:spPr>
          <a:xfrm>
            <a:off x="250825" y="3587954"/>
            <a:ext cx="3954463" cy="533373"/>
          </a:xfrm>
          <a:prstGeom prst="parallelogram">
            <a:avLst/>
          </a:prstGeom>
          <a:solidFill>
            <a:srgbClr val="006699">
              <a:alpha val="28000"/>
            </a:srgbClr>
          </a:solidFill>
          <a:ln>
            <a:solidFill>
              <a:srgbClr val="409DA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200"/>
              </a:spcBef>
              <a:defRPr/>
            </a:pPr>
            <a:r>
              <a:rPr lang="en-GB" sz="1400" dirty="0" smtClean="0">
                <a:solidFill>
                  <a:schemeClr val="tx1"/>
                </a:solidFill>
              </a:rPr>
              <a:t>Earn public trust &amp; manage public expectations</a:t>
            </a:r>
            <a:endParaRPr lang="en-GB" sz="1400" dirty="0">
              <a:solidFill>
                <a:schemeClr val="tx1"/>
              </a:solidFill>
            </a:endParaRPr>
          </a:p>
        </p:txBody>
      </p:sp>
      <p:sp>
        <p:nvSpPr>
          <p:cNvPr id="46" name="Parallelogram 45"/>
          <p:cNvSpPr/>
          <p:nvPr/>
        </p:nvSpPr>
        <p:spPr>
          <a:xfrm>
            <a:off x="250825" y="4075317"/>
            <a:ext cx="3954463" cy="533375"/>
          </a:xfrm>
          <a:prstGeom prst="parallelogram">
            <a:avLst/>
          </a:prstGeom>
          <a:solidFill>
            <a:srgbClr val="006699">
              <a:alpha val="28000"/>
            </a:srgbClr>
          </a:solidFill>
          <a:ln>
            <a:solidFill>
              <a:srgbClr val="409DA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200"/>
              </a:spcBef>
              <a:defRPr/>
            </a:pPr>
            <a:r>
              <a:rPr lang="en-GB" sz="1400" dirty="0" smtClean="0">
                <a:solidFill>
                  <a:schemeClr val="tx1"/>
                </a:solidFill>
              </a:rPr>
              <a:t>Increase local content</a:t>
            </a:r>
            <a:endParaRPr lang="en-GB" sz="1400" dirty="0">
              <a:solidFill>
                <a:schemeClr val="tx1"/>
              </a:solidFill>
            </a:endParaRPr>
          </a:p>
        </p:txBody>
      </p:sp>
      <p:sp>
        <p:nvSpPr>
          <p:cNvPr id="47" name="Parallelogram 46"/>
          <p:cNvSpPr/>
          <p:nvPr/>
        </p:nvSpPr>
        <p:spPr>
          <a:xfrm>
            <a:off x="250825" y="5050042"/>
            <a:ext cx="3954463" cy="533375"/>
          </a:xfrm>
          <a:prstGeom prst="parallelogram">
            <a:avLst/>
          </a:prstGeom>
          <a:solidFill>
            <a:srgbClr val="006699">
              <a:alpha val="28000"/>
            </a:srgbClr>
          </a:solidFill>
          <a:ln>
            <a:solidFill>
              <a:srgbClr val="409DA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200"/>
              </a:spcBef>
              <a:defRPr/>
            </a:pPr>
            <a:r>
              <a:rPr lang="en-GB" sz="1400" dirty="0" smtClean="0">
                <a:solidFill>
                  <a:schemeClr val="tx1"/>
                </a:solidFill>
              </a:rPr>
              <a:t>Increase accountability</a:t>
            </a:r>
            <a:endParaRPr lang="en-GB" sz="1400" dirty="0">
              <a:solidFill>
                <a:schemeClr val="tx1"/>
              </a:solidFill>
            </a:endParaRPr>
          </a:p>
        </p:txBody>
      </p:sp>
      <p:sp>
        <p:nvSpPr>
          <p:cNvPr id="48" name="Parallelogram 47"/>
          <p:cNvSpPr/>
          <p:nvPr/>
        </p:nvSpPr>
        <p:spPr>
          <a:xfrm>
            <a:off x="250825" y="4562679"/>
            <a:ext cx="3954463" cy="533373"/>
          </a:xfrm>
          <a:prstGeom prst="parallelogram">
            <a:avLst/>
          </a:prstGeom>
          <a:solidFill>
            <a:srgbClr val="006699">
              <a:alpha val="28000"/>
            </a:srgbClr>
          </a:solidFill>
          <a:ln>
            <a:solidFill>
              <a:srgbClr val="409DA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200"/>
              </a:spcBef>
              <a:defRPr/>
            </a:pPr>
            <a:r>
              <a:rPr lang="en-GB" sz="1400" dirty="0" smtClean="0">
                <a:solidFill>
                  <a:schemeClr val="tx1"/>
                </a:solidFill>
              </a:rPr>
              <a:t>Develop capable national organisations</a:t>
            </a:r>
            <a:endParaRPr lang="en-GB" sz="1400" dirty="0">
              <a:solidFill>
                <a:schemeClr val="tx1"/>
              </a:solidFill>
            </a:endParaRPr>
          </a:p>
        </p:txBody>
      </p:sp>
      <p:sp>
        <p:nvSpPr>
          <p:cNvPr id="65" name="Parallelogram 64"/>
          <p:cNvSpPr/>
          <p:nvPr/>
        </p:nvSpPr>
        <p:spPr>
          <a:xfrm>
            <a:off x="250825" y="2605292"/>
            <a:ext cx="3954463" cy="533375"/>
          </a:xfrm>
          <a:prstGeom prst="parallelogram">
            <a:avLst/>
          </a:prstGeom>
          <a:solidFill>
            <a:srgbClr val="006699">
              <a:alpha val="28000"/>
            </a:srgbClr>
          </a:solidFill>
          <a:ln>
            <a:solidFill>
              <a:srgbClr val="409DA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200"/>
              </a:spcBef>
              <a:defRPr/>
            </a:pPr>
            <a:r>
              <a:rPr lang="en-GB" sz="1400" dirty="0" smtClean="0">
                <a:solidFill>
                  <a:schemeClr val="tx1"/>
                </a:solidFill>
              </a:rPr>
              <a:t>Attract the most qualified investor</a:t>
            </a:r>
            <a:endParaRPr lang="en-GB" sz="1400" dirty="0">
              <a:solidFill>
                <a:schemeClr val="tx1"/>
              </a:solidFill>
            </a:endParaRPr>
          </a:p>
        </p:txBody>
      </p:sp>
      <p:sp>
        <p:nvSpPr>
          <p:cNvPr id="28" name="Parallelogram 27"/>
          <p:cNvSpPr/>
          <p:nvPr/>
        </p:nvSpPr>
        <p:spPr>
          <a:xfrm>
            <a:off x="222449" y="2117751"/>
            <a:ext cx="3954463" cy="533375"/>
          </a:xfrm>
          <a:prstGeom prst="parallelogram">
            <a:avLst/>
          </a:prstGeom>
          <a:solidFill>
            <a:srgbClr val="006699">
              <a:alpha val="28000"/>
            </a:srgbClr>
          </a:solidFill>
          <a:ln>
            <a:solidFill>
              <a:srgbClr val="409DA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200"/>
              </a:spcBef>
              <a:defRPr/>
            </a:pPr>
            <a:r>
              <a:rPr lang="en-GB" sz="1400" dirty="0" smtClean="0">
                <a:solidFill>
                  <a:schemeClr val="tx1"/>
                </a:solidFill>
              </a:rPr>
              <a:t>Elaborate a strategic vision for the sector</a:t>
            </a:r>
            <a:endParaRPr lang="en-GB" sz="1400" dirty="0">
              <a:solidFill>
                <a:schemeClr val="tx1"/>
              </a:solidFill>
            </a:endParaRPr>
          </a:p>
        </p:txBody>
      </p:sp>
      <p:sp>
        <p:nvSpPr>
          <p:cNvPr id="29" name="Parallelogram 28"/>
          <p:cNvSpPr/>
          <p:nvPr/>
        </p:nvSpPr>
        <p:spPr>
          <a:xfrm>
            <a:off x="252413" y="5554226"/>
            <a:ext cx="3954463" cy="533375"/>
          </a:xfrm>
          <a:prstGeom prst="parallelogram">
            <a:avLst/>
          </a:prstGeom>
          <a:solidFill>
            <a:srgbClr val="006699">
              <a:alpha val="28000"/>
            </a:srgbClr>
          </a:solidFill>
          <a:ln>
            <a:solidFill>
              <a:srgbClr val="409DA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200"/>
              </a:spcBef>
              <a:defRPr/>
            </a:pPr>
            <a:r>
              <a:rPr lang="en-GB" sz="1400" dirty="0" smtClean="0">
                <a:solidFill>
                  <a:schemeClr val="tx1"/>
                </a:solidFill>
              </a:rPr>
              <a:t>Safeguard the environment</a:t>
            </a:r>
            <a:endParaRPr lang="en-GB" sz="1400" dirty="0">
              <a:solidFill>
                <a:schemeClr val="tx1"/>
              </a:solidFill>
            </a:endParaRPr>
          </a:p>
        </p:txBody>
      </p:sp>
      <p:graphicFrame>
        <p:nvGraphicFramePr>
          <p:cNvPr id="5" name="Diagram 4"/>
          <p:cNvGraphicFramePr/>
          <p:nvPr>
            <p:extLst>
              <p:ext uri="{D42A27DB-BD31-4B8C-83A1-F6EECF244321}">
                <p14:modId xmlns:p14="http://schemas.microsoft.com/office/powerpoint/2010/main" val="3118530440"/>
              </p:ext>
            </p:extLst>
          </p:nvPr>
        </p:nvGraphicFramePr>
        <p:xfrm>
          <a:off x="4603335" y="2563094"/>
          <a:ext cx="4505169" cy="34581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090881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5</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a:xfrm>
            <a:off x="468313" y="188640"/>
            <a:ext cx="8208143" cy="792088"/>
          </a:xfrm>
        </p:spPr>
        <p:txBody>
          <a:bodyPr>
            <a:normAutofit fontScale="92500"/>
          </a:bodyPr>
          <a:lstStyle/>
          <a:p>
            <a:r>
              <a:rPr lang="en-GB" dirty="0" smtClean="0"/>
              <a:t>Aim for these 5 principles of good governance</a:t>
            </a:r>
            <a:endParaRPr lang="en-GB" dirty="0"/>
          </a:p>
        </p:txBody>
      </p:sp>
      <p:graphicFrame>
        <p:nvGraphicFramePr>
          <p:cNvPr id="6" name="Group 131"/>
          <p:cNvGraphicFramePr>
            <a:graphicFrameLocks/>
          </p:cNvGraphicFramePr>
          <p:nvPr>
            <p:extLst>
              <p:ext uri="{D42A27DB-BD31-4B8C-83A1-F6EECF244321}">
                <p14:modId xmlns:p14="http://schemas.microsoft.com/office/powerpoint/2010/main" val="2193286448"/>
              </p:ext>
            </p:extLst>
          </p:nvPr>
        </p:nvGraphicFramePr>
        <p:xfrm>
          <a:off x="457200" y="1295400"/>
          <a:ext cx="8001000" cy="4038602"/>
        </p:xfrm>
        <a:graphic>
          <a:graphicData uri="http://schemas.openxmlformats.org/drawingml/2006/table">
            <a:tbl>
              <a:tblPr/>
              <a:tblGrid>
                <a:gridCol w="838200"/>
                <a:gridCol w="7162800"/>
              </a:tblGrid>
              <a:tr h="808038">
                <a:tc>
                  <a:txBody>
                    <a:bodyPr/>
                    <a:lstStyle/>
                    <a:p>
                      <a:pPr marL="0" marR="0" lvl="0" indent="0" algn="l" defTabSz="914400" rtl="0" eaLnBrk="1" fontAlgn="base" latinLnBrk="0" hangingPunct="1">
                        <a:lnSpc>
                          <a:spcPct val="100000"/>
                        </a:lnSpc>
                        <a:spcBef>
                          <a:spcPct val="20000"/>
                        </a:spcBef>
                        <a:spcAft>
                          <a:spcPct val="0"/>
                        </a:spcAft>
                        <a:buClrTx/>
                        <a:buSzTx/>
                        <a:buFont typeface="Times" charset="0"/>
                        <a:buNone/>
                        <a:tabLst/>
                      </a:pPr>
                      <a:r>
                        <a:rPr kumimoji="0" lang="en-US" sz="2000" b="0" i="0" u="none" strike="noStrike" cap="none" normalizeH="0" baseline="0" dirty="0">
                          <a:ln>
                            <a:noFill/>
                          </a:ln>
                          <a:solidFill>
                            <a:srgbClr val="006699"/>
                          </a:solidFill>
                          <a:effectLst/>
                          <a:latin typeface="Georgia"/>
                          <a:ea typeface="ＭＳ Ｐゴシック" charset="0"/>
                          <a:cs typeface="Georgia"/>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Times" charset="0"/>
                        <a:buNone/>
                        <a:tabLst/>
                      </a:pPr>
                      <a:r>
                        <a:rPr kumimoji="0" lang="en-US" sz="2000" b="0" i="0" u="none" strike="noStrike" cap="none" normalizeH="0" baseline="0" dirty="0">
                          <a:ln>
                            <a:noFill/>
                          </a:ln>
                          <a:solidFill>
                            <a:srgbClr val="006699"/>
                          </a:solidFill>
                          <a:effectLst/>
                          <a:latin typeface="Georgia"/>
                          <a:ea typeface="ＭＳ Ｐゴシック" charset="0"/>
                          <a:cs typeface="Georgia"/>
                        </a:rPr>
                        <a:t>Clarity of goals, roles and responsibilities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r>
              <a:tr h="808038">
                <a:tc>
                  <a:txBody>
                    <a:bodyPr/>
                    <a:lstStyle/>
                    <a:p>
                      <a:pPr marL="0" marR="0" lvl="0" indent="0" algn="l" defTabSz="914400" rtl="0" eaLnBrk="1" fontAlgn="base" latinLnBrk="0" hangingPunct="1">
                        <a:lnSpc>
                          <a:spcPct val="100000"/>
                        </a:lnSpc>
                        <a:spcBef>
                          <a:spcPct val="20000"/>
                        </a:spcBef>
                        <a:spcAft>
                          <a:spcPct val="0"/>
                        </a:spcAft>
                        <a:buClrTx/>
                        <a:buSzTx/>
                        <a:buFont typeface="Times" charset="0"/>
                        <a:buNone/>
                        <a:tabLst/>
                      </a:pPr>
                      <a:r>
                        <a:rPr kumimoji="0" lang="en-US" sz="2000" b="0" i="0" u="none" strike="noStrike" cap="none" normalizeH="0" baseline="0">
                          <a:ln>
                            <a:noFill/>
                          </a:ln>
                          <a:solidFill>
                            <a:srgbClr val="006699"/>
                          </a:solidFill>
                          <a:effectLst/>
                          <a:latin typeface="Georgia"/>
                          <a:ea typeface="ＭＳ Ｐゴシック" charset="0"/>
                          <a:cs typeface="Georgia"/>
                        </a:rPr>
                        <a:t>2</a:t>
                      </a:r>
                    </a:p>
                    <a:p>
                      <a:pPr marL="0" marR="0" lvl="0" indent="0" algn="l" defTabSz="914400" rtl="0" eaLnBrk="1" fontAlgn="base" latinLnBrk="0" hangingPunct="1">
                        <a:lnSpc>
                          <a:spcPct val="100000"/>
                        </a:lnSpc>
                        <a:spcBef>
                          <a:spcPct val="20000"/>
                        </a:spcBef>
                        <a:spcAft>
                          <a:spcPct val="0"/>
                        </a:spcAft>
                        <a:buClrTx/>
                        <a:buSzTx/>
                        <a:buFont typeface="Times" charset="0"/>
                        <a:buNone/>
                        <a:tabLst/>
                      </a:pPr>
                      <a:endParaRPr kumimoji="0" lang="en-US" sz="2000" b="0" i="0" u="none" strike="noStrike" cap="none" normalizeH="0" baseline="0">
                        <a:ln>
                          <a:noFill/>
                        </a:ln>
                        <a:solidFill>
                          <a:srgbClr val="006699"/>
                        </a:solidFill>
                        <a:effectLst/>
                        <a:latin typeface="Georgia"/>
                        <a:ea typeface="ＭＳ Ｐゴシック" charset="0"/>
                        <a:cs typeface="Georgia"/>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66"/>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Times" charset="0"/>
                        <a:buNone/>
                        <a:tabLst/>
                        <a:defRPr/>
                      </a:pPr>
                      <a:r>
                        <a:rPr kumimoji="0" lang="en-US" sz="2000" b="0" i="0" u="none" strike="noStrike" cap="none" normalizeH="0" baseline="0" dirty="0" smtClean="0">
                          <a:ln>
                            <a:noFill/>
                          </a:ln>
                          <a:solidFill>
                            <a:srgbClr val="006699"/>
                          </a:solidFill>
                          <a:effectLst/>
                          <a:latin typeface="Georgia"/>
                          <a:ea typeface="ＭＳ Ｐゴシック" charset="0"/>
                          <a:cs typeface="Georgia"/>
                        </a:rPr>
                        <a:t>Enablement to carry out the role assigned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66"/>
                    </a:solidFill>
                  </a:tcPr>
                </a:tc>
              </a:tr>
              <a:tr h="806450">
                <a:tc>
                  <a:txBody>
                    <a:bodyPr/>
                    <a:lstStyle/>
                    <a:p>
                      <a:pPr marL="0" marR="0" lvl="0" indent="0" algn="l" defTabSz="914400" rtl="0" eaLnBrk="1" fontAlgn="base" latinLnBrk="0" hangingPunct="1">
                        <a:lnSpc>
                          <a:spcPct val="100000"/>
                        </a:lnSpc>
                        <a:spcBef>
                          <a:spcPct val="20000"/>
                        </a:spcBef>
                        <a:spcAft>
                          <a:spcPct val="0"/>
                        </a:spcAft>
                        <a:buClrTx/>
                        <a:buSzTx/>
                        <a:buFont typeface="Times" charset="0"/>
                        <a:buNone/>
                        <a:tabLst/>
                      </a:pPr>
                      <a:r>
                        <a:rPr kumimoji="0" lang="en-US" sz="2000" b="0" i="0" u="none" strike="noStrike" cap="none" normalizeH="0" baseline="0" dirty="0">
                          <a:ln>
                            <a:noFill/>
                          </a:ln>
                          <a:solidFill>
                            <a:srgbClr val="006699"/>
                          </a:solidFill>
                          <a:effectLst/>
                          <a:latin typeface="Georgia"/>
                          <a:ea typeface="ＭＳ Ｐゴシック" charset="0"/>
                          <a:cs typeface="Georgia"/>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Times" charset="0"/>
                        <a:buNone/>
                        <a:tabLst/>
                        <a:defRPr/>
                      </a:pPr>
                      <a:r>
                        <a:rPr kumimoji="0" lang="en-US" sz="2000" b="0" i="0" u="none" strike="noStrike" cap="none" normalizeH="0" baseline="0" dirty="0" smtClean="0">
                          <a:ln>
                            <a:noFill/>
                          </a:ln>
                          <a:solidFill>
                            <a:srgbClr val="006699"/>
                          </a:solidFill>
                          <a:effectLst/>
                          <a:latin typeface="Georgia"/>
                          <a:ea typeface="ＭＳ Ｐゴシック" charset="0"/>
                          <a:cs typeface="Georgia"/>
                        </a:rPr>
                        <a:t>Transparency and accuracy of information</a:t>
                      </a:r>
                    </a:p>
                    <a:p>
                      <a:pPr marL="0" marR="0" lvl="0" indent="0" algn="l" defTabSz="914400" rtl="0" eaLnBrk="1" fontAlgn="base" latinLnBrk="0" hangingPunct="1">
                        <a:lnSpc>
                          <a:spcPct val="100000"/>
                        </a:lnSpc>
                        <a:spcBef>
                          <a:spcPct val="20000"/>
                        </a:spcBef>
                        <a:spcAft>
                          <a:spcPct val="0"/>
                        </a:spcAft>
                        <a:buClrTx/>
                        <a:buSzTx/>
                        <a:buFont typeface="Times" charset="0"/>
                        <a:buNone/>
                        <a:tabLst/>
                      </a:pPr>
                      <a:endParaRPr kumimoji="0" lang="en-US" sz="2000" b="0" i="0" u="none" strike="noStrike" cap="none" normalizeH="0" baseline="0" dirty="0">
                        <a:ln>
                          <a:noFill/>
                        </a:ln>
                        <a:solidFill>
                          <a:srgbClr val="006699"/>
                        </a:solidFill>
                        <a:effectLst/>
                        <a:latin typeface="Georgia"/>
                        <a:ea typeface="ＭＳ Ｐゴシック" charset="0"/>
                        <a:cs typeface="Georgia"/>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60000"/>
                        <a:lumOff val="40000"/>
                      </a:schemeClr>
                    </a:solidFill>
                  </a:tcPr>
                </a:tc>
              </a:tr>
              <a:tr h="808038">
                <a:tc>
                  <a:txBody>
                    <a:bodyPr/>
                    <a:lstStyle/>
                    <a:p>
                      <a:pPr marL="0" marR="0" lvl="0" indent="0" algn="l" defTabSz="914400" rtl="0" eaLnBrk="1" fontAlgn="base" latinLnBrk="0" hangingPunct="1">
                        <a:lnSpc>
                          <a:spcPct val="100000"/>
                        </a:lnSpc>
                        <a:spcBef>
                          <a:spcPct val="20000"/>
                        </a:spcBef>
                        <a:spcAft>
                          <a:spcPct val="0"/>
                        </a:spcAft>
                        <a:buClrTx/>
                        <a:buSzTx/>
                        <a:buFont typeface="Times" charset="0"/>
                        <a:buNone/>
                        <a:tabLst/>
                      </a:pPr>
                      <a:r>
                        <a:rPr kumimoji="0" lang="en-US" sz="2000" b="0" i="0" u="none" strike="noStrike" cap="none" normalizeH="0" baseline="0">
                          <a:ln>
                            <a:noFill/>
                          </a:ln>
                          <a:solidFill>
                            <a:srgbClr val="006699"/>
                          </a:solidFill>
                          <a:effectLst/>
                          <a:latin typeface="Georgia"/>
                          <a:ea typeface="ＭＳ Ｐゴシック" charset="0"/>
                          <a:cs typeface="Georgia"/>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Times" charset="0"/>
                        <a:buNone/>
                        <a:tabLst/>
                      </a:pPr>
                      <a:r>
                        <a:rPr kumimoji="0" lang="en-US" sz="2000" b="0" i="0" u="none" strike="noStrike" cap="none" normalizeH="0" baseline="0" dirty="0">
                          <a:ln>
                            <a:noFill/>
                          </a:ln>
                          <a:solidFill>
                            <a:srgbClr val="006699"/>
                          </a:solidFill>
                          <a:effectLst/>
                          <a:latin typeface="Georgia"/>
                          <a:ea typeface="ＭＳ Ｐゴシック" charset="0"/>
                          <a:cs typeface="Georgia"/>
                        </a:rPr>
                        <a:t>Accountability of decision-making and performance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r>
              <a:tr h="808038">
                <a:tc>
                  <a:txBody>
                    <a:bodyPr/>
                    <a:lstStyle/>
                    <a:p>
                      <a:pPr marL="0" marR="0" lvl="0" indent="0" algn="l" defTabSz="914400" rtl="0" eaLnBrk="1" fontAlgn="base" latinLnBrk="0" hangingPunct="1">
                        <a:lnSpc>
                          <a:spcPct val="100000"/>
                        </a:lnSpc>
                        <a:spcBef>
                          <a:spcPct val="20000"/>
                        </a:spcBef>
                        <a:spcAft>
                          <a:spcPct val="0"/>
                        </a:spcAft>
                        <a:buClrTx/>
                        <a:buSzTx/>
                        <a:buFont typeface="Times" charset="0"/>
                        <a:buNone/>
                        <a:tabLst/>
                      </a:pPr>
                      <a:r>
                        <a:rPr kumimoji="0" lang="en-US" sz="2000" b="0" i="0" u="none" strike="noStrike" cap="none" normalizeH="0" baseline="0" dirty="0">
                          <a:ln>
                            <a:noFill/>
                          </a:ln>
                          <a:solidFill>
                            <a:srgbClr val="006699"/>
                          </a:solidFill>
                          <a:effectLst/>
                          <a:latin typeface="Georgia"/>
                          <a:ea typeface="ＭＳ Ｐゴシック" charset="0"/>
                          <a:cs typeface="Georgia"/>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8E9CA5"/>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Times" charset="0"/>
                        <a:buNone/>
                        <a:tabLst/>
                        <a:defRPr/>
                      </a:pPr>
                      <a:r>
                        <a:rPr kumimoji="0" lang="en-US" sz="2000" b="0" i="0" u="none" strike="noStrike" cap="none" normalizeH="0" baseline="0" dirty="0" smtClean="0">
                          <a:ln>
                            <a:noFill/>
                          </a:ln>
                          <a:solidFill>
                            <a:srgbClr val="006699"/>
                          </a:solidFill>
                          <a:effectLst/>
                          <a:latin typeface="Georgia"/>
                          <a:ea typeface="ＭＳ Ｐゴシック" charset="0"/>
                          <a:cs typeface="Georgia"/>
                        </a:rPr>
                        <a:t>Sustainable development for the benefit of future generations</a:t>
                      </a:r>
                    </a:p>
                    <a:p>
                      <a:pPr marL="0" marR="0" lvl="0" indent="0" algn="l" defTabSz="914400" rtl="0" eaLnBrk="1" fontAlgn="base" latinLnBrk="0" hangingPunct="1">
                        <a:lnSpc>
                          <a:spcPct val="100000"/>
                        </a:lnSpc>
                        <a:spcBef>
                          <a:spcPct val="20000"/>
                        </a:spcBef>
                        <a:spcAft>
                          <a:spcPct val="0"/>
                        </a:spcAft>
                        <a:buClrTx/>
                        <a:buSzTx/>
                        <a:buFont typeface="Times" charset="0"/>
                        <a:buNone/>
                        <a:tabLst/>
                      </a:pPr>
                      <a:endParaRPr kumimoji="0" lang="en-US" sz="2000" b="0" i="0" u="none" strike="noStrike" cap="none" normalizeH="0" baseline="0" dirty="0">
                        <a:ln>
                          <a:noFill/>
                        </a:ln>
                        <a:solidFill>
                          <a:srgbClr val="006699"/>
                        </a:solidFill>
                        <a:effectLst/>
                        <a:latin typeface="Georgia"/>
                        <a:ea typeface="ＭＳ Ｐゴシック" charset="0"/>
                        <a:cs typeface="Georgia"/>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8E9CA5"/>
                    </a:solidFill>
                  </a:tcPr>
                </a:tc>
              </a:tr>
            </a:tbl>
          </a:graphicData>
        </a:graphic>
      </p:graphicFrame>
      <p:sp>
        <p:nvSpPr>
          <p:cNvPr id="7" name="TextBox 6"/>
          <p:cNvSpPr txBox="1"/>
          <p:nvPr/>
        </p:nvSpPr>
        <p:spPr>
          <a:xfrm>
            <a:off x="395536" y="5517232"/>
            <a:ext cx="8208912" cy="1006189"/>
          </a:xfrm>
          <a:prstGeom prst="rect">
            <a:avLst/>
          </a:prstGeom>
          <a:noFill/>
        </p:spPr>
        <p:txBody>
          <a:bodyPr wrap="square" lIns="82058" tIns="41029" rIns="82058" bIns="41029" rtlCol="0">
            <a:spAutoFit/>
          </a:bodyPr>
          <a:lstStyle/>
          <a:p>
            <a:r>
              <a:rPr lang="en-GB" sz="1600" dirty="0" smtClean="0">
                <a:latin typeface="Georgia"/>
                <a:cs typeface="Georgia"/>
              </a:rPr>
              <a:t> </a:t>
            </a:r>
            <a:r>
              <a:rPr lang="en-GB" sz="1600" dirty="0">
                <a:latin typeface="Georgia"/>
                <a:cs typeface="Georgia"/>
              </a:rPr>
              <a:t>Like the Guidelines for Emerging Producers, </a:t>
            </a:r>
            <a:r>
              <a:rPr lang="en-GB" sz="1600" dirty="0" smtClean="0">
                <a:latin typeface="Georgia"/>
                <a:cs typeface="Georgia"/>
              </a:rPr>
              <a:t>these </a:t>
            </a:r>
            <a:r>
              <a:rPr lang="en-GB" sz="1600" dirty="0">
                <a:latin typeface="Georgia"/>
                <a:cs typeface="Georgia"/>
              </a:rPr>
              <a:t>governance principles were driven and shaped by discussions between producers</a:t>
            </a:r>
            <a:r>
              <a:rPr lang="en-GB" sz="1600" dirty="0" smtClean="0">
                <a:latin typeface="Georgia"/>
                <a:cs typeface="Georgia"/>
              </a:rPr>
              <a:t>. See the Chatham House Document: </a:t>
            </a:r>
            <a:r>
              <a:rPr lang="en-US" sz="1600" dirty="0">
                <a:hlinkClick r:id="rId3"/>
              </a:rPr>
              <a:t>http://www.chathamhouse.org/publications/papers/view/108469</a:t>
            </a:r>
            <a:r>
              <a:rPr lang="en-US" sz="1600" dirty="0"/>
              <a:t> </a:t>
            </a:r>
          </a:p>
          <a:p>
            <a:endParaRPr lang="en-US" sz="1200" dirty="0"/>
          </a:p>
        </p:txBody>
      </p:sp>
    </p:spTree>
    <p:extLst>
      <p:ext uri="{BB962C8B-B14F-4D97-AF65-F5344CB8AC3E}">
        <p14:creationId xmlns:p14="http://schemas.microsoft.com/office/powerpoint/2010/main" val="12966539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294967295"/>
          </p:nvPr>
        </p:nvSpPr>
        <p:spPr>
          <a:xfrm>
            <a:off x="8316416" y="6381328"/>
            <a:ext cx="360363" cy="360362"/>
          </a:xfrm>
        </p:spPr>
        <p:txBody>
          <a:bodyPr/>
          <a:lstStyle/>
          <a:p>
            <a:fld id="{418A78CD-E27B-441A-A2B1-21C1D5FFEB65}" type="slidenum">
              <a:rPr lang="en-US" sz="1200" smtClean="0">
                <a:solidFill>
                  <a:prstClr val="black"/>
                </a:solidFill>
                <a:latin typeface="Georgia" pitchFamily="18" charset="0"/>
              </a:rPr>
              <a:pPr/>
              <a:t>6</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p:txBody>
          <a:bodyPr>
            <a:normAutofit fontScale="85000" lnSpcReduction="20000"/>
          </a:bodyPr>
          <a:lstStyle/>
          <a:p>
            <a:r>
              <a:rPr lang="en-GB" dirty="0" smtClean="0"/>
              <a:t>Overview: The guidelines for emerging producers</a:t>
            </a:r>
            <a:endParaRPr lang="en-GB" dirty="0"/>
          </a:p>
        </p:txBody>
      </p:sp>
      <p:sp>
        <p:nvSpPr>
          <p:cNvPr id="5" name="Text Placeholder 4"/>
          <p:cNvSpPr>
            <a:spLocks noGrp="1"/>
          </p:cNvSpPr>
          <p:nvPr>
            <p:ph type="body" sz="quarter" idx="11"/>
          </p:nvPr>
        </p:nvSpPr>
        <p:spPr>
          <a:xfrm>
            <a:off x="463911" y="1484784"/>
            <a:ext cx="8208143" cy="2736304"/>
          </a:xfrm>
        </p:spPr>
        <p:txBody>
          <a:bodyPr>
            <a:normAutofit/>
          </a:bodyPr>
          <a:lstStyle/>
          <a:p>
            <a:pPr algn="just"/>
            <a:r>
              <a:rPr lang="en-US" sz="2200" dirty="0" smtClean="0"/>
              <a:t>Structured </a:t>
            </a:r>
            <a:r>
              <a:rPr lang="en-US" sz="2200" dirty="0"/>
              <a:t>around </a:t>
            </a:r>
            <a:r>
              <a:rPr lang="en-US" sz="2200" dirty="0" smtClean="0"/>
              <a:t>eight key </a:t>
            </a:r>
            <a:r>
              <a:rPr lang="en-US" sz="2200" dirty="0"/>
              <a:t>objectives for the petroleum sector in an emerging producer context</a:t>
            </a:r>
          </a:p>
          <a:p>
            <a:pPr algn="just"/>
            <a:endParaRPr lang="en-US" sz="2200" dirty="0" smtClean="0"/>
          </a:p>
          <a:p>
            <a:pPr algn="just"/>
            <a:r>
              <a:rPr lang="en-US" sz="2200" dirty="0" smtClean="0"/>
              <a:t>Review </a:t>
            </a:r>
            <a:r>
              <a:rPr lang="en-US" sz="2200" dirty="0"/>
              <a:t>common challenges faced and offer policy oriented recommendations </a:t>
            </a:r>
          </a:p>
          <a:p>
            <a:pPr algn="just"/>
            <a:endParaRPr lang="en-US" sz="2200" dirty="0" smtClean="0"/>
          </a:p>
          <a:p>
            <a:pPr algn="just"/>
            <a:r>
              <a:rPr lang="en-US" sz="2200" dirty="0" smtClean="0"/>
              <a:t>All </a:t>
            </a:r>
            <a:r>
              <a:rPr lang="en-US" sz="2200" dirty="0"/>
              <a:t>objectives may not be a priority for </a:t>
            </a:r>
            <a:r>
              <a:rPr lang="en-US" sz="2200" dirty="0" smtClean="0"/>
              <a:t>every country</a:t>
            </a:r>
            <a:endParaRPr lang="en-US" sz="2200" dirty="0"/>
          </a:p>
          <a:p>
            <a:pPr marL="0" indent="0">
              <a:buNone/>
            </a:pPr>
            <a:endParaRPr lang="en-GB" dirty="0"/>
          </a:p>
        </p:txBody>
      </p:sp>
      <p:grpSp>
        <p:nvGrpSpPr>
          <p:cNvPr id="6" name="Group 5"/>
          <p:cNvGrpSpPr/>
          <p:nvPr/>
        </p:nvGrpSpPr>
        <p:grpSpPr>
          <a:xfrm>
            <a:off x="1187625" y="4460765"/>
            <a:ext cx="2455953" cy="984459"/>
            <a:chOff x="-58896" y="399272"/>
            <a:chExt cx="2061424" cy="752487"/>
          </a:xfrm>
          <a:solidFill>
            <a:srgbClr val="006699"/>
          </a:solidFill>
        </p:grpSpPr>
        <p:sp>
          <p:nvSpPr>
            <p:cNvPr id="7" name="Chevron 6"/>
            <p:cNvSpPr/>
            <p:nvPr/>
          </p:nvSpPr>
          <p:spPr>
            <a:xfrm>
              <a:off x="-58896" y="399272"/>
              <a:ext cx="2061424" cy="752487"/>
            </a:xfrm>
            <a:prstGeom prst="chevron">
              <a:avLst>
                <a:gd name="adj" fmla="val 47840"/>
              </a:avLst>
            </a:prstGeom>
            <a:grpFill/>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8" name="Chevron 4"/>
            <p:cNvSpPr/>
            <p:nvPr/>
          </p:nvSpPr>
          <p:spPr>
            <a:xfrm>
              <a:off x="377788" y="399272"/>
              <a:ext cx="1128731" cy="75248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48006" tIns="16002" rIns="16002" bIns="16002" numCol="1" spcCol="1270" anchor="ctr" anchorCtr="0">
              <a:noAutofit/>
            </a:bodyPr>
            <a:lstStyle/>
            <a:p>
              <a:pPr lvl="0" algn="ctr" defTabSz="533400">
                <a:lnSpc>
                  <a:spcPct val="90000"/>
                </a:lnSpc>
                <a:spcBef>
                  <a:spcPct val="0"/>
                </a:spcBef>
                <a:spcAft>
                  <a:spcPct val="35000"/>
                </a:spcAft>
              </a:pPr>
              <a:r>
                <a:rPr lang="en-GB" sz="1600" kern="1200" dirty="0"/>
                <a:t>Objectives</a:t>
              </a:r>
              <a:endParaRPr lang="en-US" sz="1200" kern="1200" dirty="0"/>
            </a:p>
          </p:txBody>
        </p:sp>
      </p:grpSp>
      <p:grpSp>
        <p:nvGrpSpPr>
          <p:cNvPr id="9" name="Group 8"/>
          <p:cNvGrpSpPr/>
          <p:nvPr/>
        </p:nvGrpSpPr>
        <p:grpSpPr>
          <a:xfrm>
            <a:off x="3275856" y="4446962"/>
            <a:ext cx="2439261" cy="984459"/>
            <a:chOff x="1603861" y="401417"/>
            <a:chExt cx="2047414" cy="752487"/>
          </a:xfrm>
          <a:solidFill>
            <a:srgbClr val="006699"/>
          </a:solidFill>
        </p:grpSpPr>
        <p:sp>
          <p:nvSpPr>
            <p:cNvPr id="10" name="Chevron 9"/>
            <p:cNvSpPr/>
            <p:nvPr/>
          </p:nvSpPr>
          <p:spPr>
            <a:xfrm>
              <a:off x="1603861" y="401417"/>
              <a:ext cx="2047414" cy="752487"/>
            </a:xfrm>
            <a:prstGeom prst="chevron">
              <a:avLst/>
            </a:prstGeom>
            <a:grpFill/>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1" name="Chevron 8"/>
            <p:cNvSpPr/>
            <p:nvPr/>
          </p:nvSpPr>
          <p:spPr>
            <a:xfrm>
              <a:off x="2033392" y="401417"/>
              <a:ext cx="1128731" cy="75248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48006" tIns="16002" rIns="16002" bIns="16002" numCol="1" spcCol="1270" anchor="ctr" anchorCtr="0">
              <a:noAutofit/>
            </a:bodyPr>
            <a:lstStyle/>
            <a:p>
              <a:pPr lvl="0" algn="ctr" defTabSz="533400">
                <a:lnSpc>
                  <a:spcPct val="90000"/>
                </a:lnSpc>
                <a:spcBef>
                  <a:spcPct val="0"/>
                </a:spcBef>
                <a:spcAft>
                  <a:spcPct val="35000"/>
                </a:spcAft>
              </a:pPr>
              <a:r>
                <a:rPr lang="en-GB" sz="1600" kern="1200" dirty="0"/>
                <a:t>Available policy options</a:t>
              </a:r>
              <a:endParaRPr lang="en-US" sz="1600" kern="1200" dirty="0"/>
            </a:p>
          </p:txBody>
        </p:sp>
      </p:grpSp>
      <p:grpSp>
        <p:nvGrpSpPr>
          <p:cNvPr id="12" name="Group 11"/>
          <p:cNvGrpSpPr/>
          <p:nvPr/>
        </p:nvGrpSpPr>
        <p:grpSpPr>
          <a:xfrm>
            <a:off x="5364090" y="4446962"/>
            <a:ext cx="2376262" cy="984459"/>
            <a:chOff x="3266422" y="401417"/>
            <a:chExt cx="1994535" cy="752487"/>
          </a:xfrm>
          <a:solidFill>
            <a:srgbClr val="006699"/>
          </a:solidFill>
        </p:grpSpPr>
        <p:sp>
          <p:nvSpPr>
            <p:cNvPr id="13" name="Chevron 12"/>
            <p:cNvSpPr/>
            <p:nvPr/>
          </p:nvSpPr>
          <p:spPr>
            <a:xfrm>
              <a:off x="3266422" y="401417"/>
              <a:ext cx="1994535" cy="752487"/>
            </a:xfrm>
            <a:prstGeom prst="chevron">
              <a:avLst/>
            </a:prstGeom>
            <a:grpFill/>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14" name="Chevron 6"/>
            <p:cNvSpPr/>
            <p:nvPr/>
          </p:nvSpPr>
          <p:spPr>
            <a:xfrm>
              <a:off x="3695542" y="401417"/>
              <a:ext cx="1128731" cy="752487"/>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48006" tIns="16002" rIns="16002" bIns="16002" numCol="1" spcCol="1270" anchor="ctr" anchorCtr="0">
              <a:noAutofit/>
            </a:bodyPr>
            <a:lstStyle/>
            <a:p>
              <a:pPr lvl="0" algn="ctr" defTabSz="533400">
                <a:lnSpc>
                  <a:spcPct val="90000"/>
                </a:lnSpc>
                <a:spcBef>
                  <a:spcPct val="0"/>
                </a:spcBef>
                <a:spcAft>
                  <a:spcPct val="35000"/>
                </a:spcAft>
              </a:pPr>
              <a:r>
                <a:rPr lang="en-GB" sz="1400" kern="1200" dirty="0"/>
                <a:t>Fit with the national context (resources, capacity)</a:t>
              </a:r>
              <a:endParaRPr lang="en-US" sz="1400" kern="1200" dirty="0"/>
            </a:p>
          </p:txBody>
        </p:sp>
      </p:grpSp>
      <p:sp>
        <p:nvSpPr>
          <p:cNvPr id="15" name="Footer Placeholder 1"/>
          <p:cNvSpPr>
            <a:spLocks noGrp="1"/>
          </p:cNvSpPr>
          <p:nvPr>
            <p:ph type="ftr" sz="quarter" idx="4294967295"/>
          </p:nvPr>
        </p:nvSpPr>
        <p:spPr>
          <a:xfrm>
            <a:off x="467544" y="6356350"/>
            <a:ext cx="5552256" cy="365125"/>
          </a:xfrm>
        </p:spPr>
        <p:txBody>
          <a:bodyPr/>
          <a:lstStyle/>
          <a:p>
            <a:pPr algn="l"/>
            <a:r>
              <a:rPr lang="en-US"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Tree>
    <p:extLst>
      <p:ext uri="{BB962C8B-B14F-4D97-AF65-F5344CB8AC3E}">
        <p14:creationId xmlns:p14="http://schemas.microsoft.com/office/powerpoint/2010/main" val="18534197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7</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p:txBody>
          <a:bodyPr>
            <a:normAutofit fontScale="85000" lnSpcReduction="20000"/>
          </a:bodyPr>
          <a:lstStyle/>
          <a:p>
            <a:r>
              <a:rPr lang="en-GB" dirty="0" smtClean="0"/>
              <a:t>Presentation Map</a:t>
            </a:r>
            <a:endParaRPr lang="en-GB" dirty="0"/>
          </a:p>
        </p:txBody>
      </p:sp>
      <p:sp>
        <p:nvSpPr>
          <p:cNvPr id="5" name="Text Placeholder 4"/>
          <p:cNvSpPr>
            <a:spLocks noGrp="1"/>
          </p:cNvSpPr>
          <p:nvPr>
            <p:ph type="body" sz="quarter" idx="11"/>
          </p:nvPr>
        </p:nvSpPr>
        <p:spPr>
          <a:xfrm>
            <a:off x="468312" y="980728"/>
            <a:ext cx="8208143" cy="567556"/>
          </a:xfrm>
        </p:spPr>
        <p:txBody>
          <a:bodyPr>
            <a:noAutofit/>
          </a:bodyPr>
          <a:lstStyle/>
          <a:p>
            <a:pPr marL="0" indent="0">
              <a:buNone/>
            </a:pPr>
            <a:r>
              <a:rPr lang="en-US" sz="1400" dirty="0">
                <a:cs typeface="Arial"/>
              </a:rPr>
              <a:t>This is an interactive presentation. Please click on the red boxes, icons and text throughout to navigate to specific topics.</a:t>
            </a:r>
            <a:endParaRPr lang="en-US" sz="1400" dirty="0"/>
          </a:p>
          <a:p>
            <a:endParaRPr lang="en-GB" sz="1800" dirty="0"/>
          </a:p>
        </p:txBody>
      </p:sp>
      <p:grpSp>
        <p:nvGrpSpPr>
          <p:cNvPr id="6" name="Group 5"/>
          <p:cNvGrpSpPr/>
          <p:nvPr/>
        </p:nvGrpSpPr>
        <p:grpSpPr>
          <a:xfrm>
            <a:off x="691777" y="1815138"/>
            <a:ext cx="7841514" cy="4109397"/>
            <a:chOff x="705917" y="1374678"/>
            <a:chExt cx="7552930" cy="4215353"/>
          </a:xfrm>
        </p:grpSpPr>
        <p:sp>
          <p:nvSpPr>
            <p:cNvPr id="8" name="Freeform 7"/>
            <p:cNvSpPr/>
            <p:nvPr/>
          </p:nvSpPr>
          <p:spPr>
            <a:xfrm>
              <a:off x="1253383" y="3397548"/>
              <a:ext cx="359138" cy="1918751"/>
            </a:xfrm>
            <a:custGeom>
              <a:avLst/>
              <a:gdLst>
                <a:gd name="connsiteX0" fmla="*/ 0 w 359138"/>
                <a:gd name="connsiteY0" fmla="*/ 0 h 1881918"/>
                <a:gd name="connsiteX1" fmla="*/ 179569 w 359138"/>
                <a:gd name="connsiteY1" fmla="*/ 0 h 1881918"/>
                <a:gd name="connsiteX2" fmla="*/ 179569 w 359138"/>
                <a:gd name="connsiteY2" fmla="*/ 1881918 h 1881918"/>
                <a:gd name="connsiteX3" fmla="*/ 359138 w 359138"/>
                <a:gd name="connsiteY3" fmla="*/ 1881918 h 1881918"/>
              </a:gdLst>
              <a:ahLst/>
              <a:cxnLst>
                <a:cxn ang="0">
                  <a:pos x="connsiteX0" y="connsiteY0"/>
                </a:cxn>
                <a:cxn ang="0">
                  <a:pos x="connsiteX1" y="connsiteY1"/>
                </a:cxn>
                <a:cxn ang="0">
                  <a:pos x="connsiteX2" y="connsiteY2"/>
                </a:cxn>
                <a:cxn ang="0">
                  <a:pos x="connsiteX3" y="connsiteY3"/>
                </a:cxn>
              </a:cxnLst>
              <a:rect l="l" t="t" r="r" b="b"/>
              <a:pathLst>
                <a:path w="359138" h="1881918">
                  <a:moveTo>
                    <a:pt x="0" y="0"/>
                  </a:moveTo>
                  <a:lnTo>
                    <a:pt x="179569" y="0"/>
                  </a:lnTo>
                  <a:lnTo>
                    <a:pt x="179569" y="1881918"/>
                  </a:lnTo>
                  <a:lnTo>
                    <a:pt x="359138" y="1881918"/>
                  </a:lnTo>
                </a:path>
              </a:pathLst>
            </a:custGeom>
          </p:spPr>
          <p:style>
            <a:lnRef idx="1">
              <a:schemeClr val="dk1"/>
            </a:lnRef>
            <a:fillRef idx="0">
              <a:schemeClr val="dk1"/>
            </a:fillRef>
            <a:effectRef idx="0">
              <a:schemeClr val="dk1"/>
            </a:effectRef>
            <a:fontRef idx="minor">
              <a:schemeClr val="tx1"/>
            </a:fontRef>
          </p:style>
          <p:txBody>
            <a:bodyPr spcFirstLastPara="0" vert="horz" wrap="square" lIns="144372" tIns="893062" rIns="144372" bIns="893062" numCol="1" spcCol="1270" anchor="ctr" anchorCtr="0">
              <a:noAutofit/>
            </a:bodyPr>
            <a:lstStyle/>
            <a:p>
              <a:pPr lvl="0" algn="ctr" defTabSz="266700">
                <a:lnSpc>
                  <a:spcPct val="90000"/>
                </a:lnSpc>
                <a:spcBef>
                  <a:spcPct val="0"/>
                </a:spcBef>
                <a:spcAft>
                  <a:spcPct val="35000"/>
                </a:spcAft>
              </a:pPr>
              <a:endParaRPr lang="en-US" sz="600" kern="1200" dirty="0"/>
            </a:p>
          </p:txBody>
        </p:sp>
        <p:sp>
          <p:nvSpPr>
            <p:cNvPr id="11" name="Freeform 10"/>
            <p:cNvSpPr/>
            <p:nvPr/>
          </p:nvSpPr>
          <p:spPr>
            <a:xfrm>
              <a:off x="1253384" y="3397550"/>
              <a:ext cx="359138" cy="1018892"/>
            </a:xfrm>
            <a:custGeom>
              <a:avLst/>
              <a:gdLst>
                <a:gd name="connsiteX0" fmla="*/ 0 w 359138"/>
                <a:gd name="connsiteY0" fmla="*/ 0 h 855417"/>
                <a:gd name="connsiteX1" fmla="*/ 179569 w 359138"/>
                <a:gd name="connsiteY1" fmla="*/ 0 h 855417"/>
                <a:gd name="connsiteX2" fmla="*/ 179569 w 359138"/>
                <a:gd name="connsiteY2" fmla="*/ 855417 h 855417"/>
                <a:gd name="connsiteX3" fmla="*/ 359138 w 359138"/>
                <a:gd name="connsiteY3" fmla="*/ 855417 h 855417"/>
              </a:gdLst>
              <a:ahLst/>
              <a:cxnLst>
                <a:cxn ang="0">
                  <a:pos x="connsiteX0" y="connsiteY0"/>
                </a:cxn>
                <a:cxn ang="0">
                  <a:pos x="connsiteX1" y="connsiteY1"/>
                </a:cxn>
                <a:cxn ang="0">
                  <a:pos x="connsiteX2" y="connsiteY2"/>
                </a:cxn>
                <a:cxn ang="0">
                  <a:pos x="connsiteX3" y="connsiteY3"/>
                </a:cxn>
              </a:cxnLst>
              <a:rect l="l" t="t" r="r" b="b"/>
              <a:pathLst>
                <a:path w="359138" h="855417">
                  <a:moveTo>
                    <a:pt x="0" y="0"/>
                  </a:moveTo>
                  <a:lnTo>
                    <a:pt x="179569" y="0"/>
                  </a:lnTo>
                  <a:lnTo>
                    <a:pt x="179569" y="855417"/>
                  </a:lnTo>
                  <a:lnTo>
                    <a:pt x="359138" y="855417"/>
                  </a:lnTo>
                </a:path>
              </a:pathLst>
            </a:custGeom>
          </p:spPr>
          <p:style>
            <a:lnRef idx="1">
              <a:schemeClr val="dk1"/>
            </a:lnRef>
            <a:fillRef idx="0">
              <a:schemeClr val="dk1"/>
            </a:fillRef>
            <a:effectRef idx="0">
              <a:schemeClr val="dk1"/>
            </a:effectRef>
            <a:fontRef idx="minor">
              <a:schemeClr val="tx1"/>
            </a:fontRef>
          </p:style>
          <p:txBody>
            <a:bodyPr spcFirstLastPara="0" vert="horz" wrap="square" lIns="169075" tIns="404515" rIns="169076" bIns="404515" numCol="1" spcCol="1270" anchor="ctr" anchorCtr="0">
              <a:noAutofit/>
            </a:bodyPr>
            <a:lstStyle/>
            <a:p>
              <a:pPr lvl="0" algn="ctr" defTabSz="222250">
                <a:lnSpc>
                  <a:spcPct val="90000"/>
                </a:lnSpc>
                <a:spcBef>
                  <a:spcPct val="0"/>
                </a:spcBef>
                <a:spcAft>
                  <a:spcPct val="35000"/>
                </a:spcAft>
              </a:pPr>
              <a:endParaRPr lang="en-US" sz="500" kern="1200" dirty="0">
                <a:ln w="9525">
                  <a:solidFill>
                    <a:schemeClr val="tx1"/>
                  </a:solidFill>
                </a:ln>
              </a:endParaRPr>
            </a:p>
          </p:txBody>
        </p:sp>
        <p:sp>
          <p:nvSpPr>
            <p:cNvPr id="14" name="Freeform 13"/>
            <p:cNvSpPr/>
            <p:nvPr/>
          </p:nvSpPr>
          <p:spPr>
            <a:xfrm>
              <a:off x="1253383" y="2314864"/>
              <a:ext cx="359138" cy="1076203"/>
            </a:xfrm>
            <a:custGeom>
              <a:avLst/>
              <a:gdLst>
                <a:gd name="connsiteX0" fmla="*/ 0 w 359138"/>
                <a:gd name="connsiteY0" fmla="*/ 513250 h 513250"/>
                <a:gd name="connsiteX1" fmla="*/ 179569 w 359138"/>
                <a:gd name="connsiteY1" fmla="*/ 513250 h 513250"/>
                <a:gd name="connsiteX2" fmla="*/ 179569 w 359138"/>
                <a:gd name="connsiteY2" fmla="*/ 0 h 513250"/>
                <a:gd name="connsiteX3" fmla="*/ 359138 w 359138"/>
                <a:gd name="connsiteY3" fmla="*/ 0 h 513250"/>
              </a:gdLst>
              <a:ahLst/>
              <a:cxnLst>
                <a:cxn ang="0">
                  <a:pos x="connsiteX0" y="connsiteY0"/>
                </a:cxn>
                <a:cxn ang="0">
                  <a:pos x="connsiteX1" y="connsiteY1"/>
                </a:cxn>
                <a:cxn ang="0">
                  <a:pos x="connsiteX2" y="connsiteY2"/>
                </a:cxn>
                <a:cxn ang="0">
                  <a:pos x="connsiteX3" y="connsiteY3"/>
                </a:cxn>
              </a:cxnLst>
              <a:rect l="l" t="t" r="r" b="b"/>
              <a:pathLst>
                <a:path w="359138" h="513250">
                  <a:moveTo>
                    <a:pt x="0" y="513250"/>
                  </a:moveTo>
                  <a:lnTo>
                    <a:pt x="179569" y="513250"/>
                  </a:lnTo>
                  <a:lnTo>
                    <a:pt x="179569" y="0"/>
                  </a:lnTo>
                  <a:lnTo>
                    <a:pt x="359138" y="0"/>
                  </a:lnTo>
                </a:path>
              </a:pathLst>
            </a:custGeom>
          </p:spPr>
          <p:style>
            <a:lnRef idx="1">
              <a:schemeClr val="dk1"/>
            </a:lnRef>
            <a:fillRef idx="0">
              <a:schemeClr val="dk1"/>
            </a:fillRef>
            <a:effectRef idx="0">
              <a:schemeClr val="dk1"/>
            </a:effectRef>
            <a:fontRef idx="minor">
              <a:schemeClr val="tx1"/>
            </a:fontRef>
          </p:style>
          <p:txBody>
            <a:bodyPr spcFirstLastPara="0" vert="horz" wrap="square" lIns="176609" tIns="240964" rIns="176608" bIns="240965" numCol="1" spcCol="1270" anchor="ctr" anchorCtr="0">
              <a:noAutofit/>
            </a:bodyPr>
            <a:lstStyle/>
            <a:p>
              <a:pPr lvl="0" algn="ctr" defTabSz="222250">
                <a:lnSpc>
                  <a:spcPct val="90000"/>
                </a:lnSpc>
                <a:spcBef>
                  <a:spcPct val="0"/>
                </a:spcBef>
                <a:spcAft>
                  <a:spcPct val="35000"/>
                </a:spcAft>
              </a:pPr>
              <a:endParaRPr lang="en-US" sz="500" kern="1200" dirty="0">
                <a:ln w="9525">
                  <a:solidFill>
                    <a:schemeClr val="tx1"/>
                  </a:solidFill>
                </a:ln>
              </a:endParaRPr>
            </a:p>
          </p:txBody>
        </p:sp>
        <p:sp>
          <p:nvSpPr>
            <p:cNvPr id="17" name="Freeform 16"/>
            <p:cNvSpPr/>
            <p:nvPr/>
          </p:nvSpPr>
          <p:spPr>
            <a:xfrm>
              <a:off x="1253383" y="1374678"/>
              <a:ext cx="359138" cy="2022872"/>
            </a:xfrm>
            <a:custGeom>
              <a:avLst/>
              <a:gdLst>
                <a:gd name="connsiteX0" fmla="*/ 0 w 359138"/>
                <a:gd name="connsiteY0" fmla="*/ 1881918 h 1881918"/>
                <a:gd name="connsiteX1" fmla="*/ 179569 w 359138"/>
                <a:gd name="connsiteY1" fmla="*/ 1881918 h 1881918"/>
                <a:gd name="connsiteX2" fmla="*/ 179569 w 359138"/>
                <a:gd name="connsiteY2" fmla="*/ 0 h 1881918"/>
                <a:gd name="connsiteX3" fmla="*/ 359138 w 359138"/>
                <a:gd name="connsiteY3" fmla="*/ 0 h 1881918"/>
              </a:gdLst>
              <a:ahLst/>
              <a:cxnLst>
                <a:cxn ang="0">
                  <a:pos x="connsiteX0" y="connsiteY0"/>
                </a:cxn>
                <a:cxn ang="0">
                  <a:pos x="connsiteX1" y="connsiteY1"/>
                </a:cxn>
                <a:cxn ang="0">
                  <a:pos x="connsiteX2" y="connsiteY2"/>
                </a:cxn>
                <a:cxn ang="0">
                  <a:pos x="connsiteX3" y="connsiteY3"/>
                </a:cxn>
              </a:cxnLst>
              <a:rect l="l" t="t" r="r" b="b"/>
              <a:pathLst>
                <a:path w="359138" h="1881918">
                  <a:moveTo>
                    <a:pt x="0" y="1881918"/>
                  </a:moveTo>
                  <a:lnTo>
                    <a:pt x="179569" y="1881918"/>
                  </a:lnTo>
                  <a:lnTo>
                    <a:pt x="179569" y="0"/>
                  </a:lnTo>
                  <a:lnTo>
                    <a:pt x="359138" y="0"/>
                  </a:lnTo>
                </a:path>
              </a:pathLst>
            </a:custGeom>
            <a:ln>
              <a:solidFill>
                <a:schemeClr val="tx1"/>
              </a:solidFill>
            </a:ln>
          </p:spPr>
          <p:style>
            <a:lnRef idx="1">
              <a:schemeClr val="dk1"/>
            </a:lnRef>
            <a:fillRef idx="0">
              <a:schemeClr val="dk1"/>
            </a:fillRef>
            <a:effectRef idx="0">
              <a:schemeClr val="dk1"/>
            </a:effectRef>
            <a:fontRef idx="minor">
              <a:schemeClr val="tx1"/>
            </a:fontRef>
          </p:style>
          <p:txBody>
            <a:bodyPr spcFirstLastPara="0" vert="horz" wrap="square" lIns="144372" tIns="893062" rIns="144372" bIns="893062" numCol="1" spcCol="1270" anchor="ctr" anchorCtr="0">
              <a:noAutofit/>
            </a:bodyPr>
            <a:lstStyle/>
            <a:p>
              <a:pPr lvl="0" algn="ctr" defTabSz="266700">
                <a:lnSpc>
                  <a:spcPct val="90000"/>
                </a:lnSpc>
                <a:spcBef>
                  <a:spcPct val="0"/>
                </a:spcBef>
                <a:spcAft>
                  <a:spcPct val="35000"/>
                </a:spcAft>
              </a:pPr>
              <a:endParaRPr lang="en-US" sz="600" kern="1200" dirty="0"/>
            </a:p>
          </p:txBody>
        </p:sp>
        <p:sp>
          <p:nvSpPr>
            <p:cNvPr id="18" name="Rounded Rectangle 17"/>
            <p:cNvSpPr/>
            <p:nvPr/>
          </p:nvSpPr>
          <p:spPr>
            <a:xfrm rot="16200000">
              <a:off x="-461052" y="3038712"/>
              <a:ext cx="2881406" cy="547467"/>
            </a:xfrm>
            <a:prstGeom prst="roundRect">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1429" tIns="11429" rIns="11430" bIns="11430" numCol="1" spcCol="1270" anchor="ctr" anchorCtr="0">
              <a:noAutofit/>
            </a:bodyPr>
            <a:lstStyle/>
            <a:p>
              <a:pPr lvl="0" algn="ctr" defTabSz="800100">
                <a:lnSpc>
                  <a:spcPct val="90000"/>
                </a:lnSpc>
                <a:spcBef>
                  <a:spcPct val="0"/>
                </a:spcBef>
                <a:spcAft>
                  <a:spcPct val="35000"/>
                </a:spcAft>
              </a:pPr>
              <a:r>
                <a:rPr lang="en-US" sz="1800" kern="1200" dirty="0" smtClean="0"/>
                <a:t>Guidelines for good governance</a:t>
              </a:r>
              <a:endParaRPr lang="en-US" sz="1800" kern="1200" dirty="0"/>
            </a:p>
          </p:txBody>
        </p:sp>
        <p:sp>
          <p:nvSpPr>
            <p:cNvPr id="19" name="Rounded Rectangle 18"/>
            <p:cNvSpPr/>
            <p:nvPr/>
          </p:nvSpPr>
          <p:spPr>
            <a:xfrm>
              <a:off x="1600538" y="2041130"/>
              <a:ext cx="1795692" cy="547467"/>
            </a:xfrm>
            <a:prstGeom prst="roundRect">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US" sz="1600" kern="1200" dirty="0" smtClean="0"/>
                <a:t>Licensing</a:t>
              </a:r>
              <a:endParaRPr lang="en-US" sz="1600" kern="1200" dirty="0"/>
            </a:p>
          </p:txBody>
        </p:sp>
        <p:sp>
          <p:nvSpPr>
            <p:cNvPr id="20" name="Rounded Rectangle 19">
              <a:hlinkClick r:id="rId3" action="ppaction://hlinksldjump"/>
            </p:cNvPr>
            <p:cNvSpPr/>
            <p:nvPr/>
          </p:nvSpPr>
          <p:spPr>
            <a:xfrm>
              <a:off x="3767352" y="1699584"/>
              <a:ext cx="4477056" cy="547467"/>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US" sz="1600" kern="1200" dirty="0" smtClean="0"/>
                <a:t>Objective 2: Attract the most qualified investor</a:t>
              </a:r>
              <a:endParaRPr lang="en-US" sz="1600" kern="1200" dirty="0"/>
            </a:p>
          </p:txBody>
        </p:sp>
        <p:sp>
          <p:nvSpPr>
            <p:cNvPr id="21" name="Rounded Rectangle 20">
              <a:hlinkClick r:id="rId4" action="ppaction://hlinksldjump"/>
            </p:cNvPr>
            <p:cNvSpPr/>
            <p:nvPr/>
          </p:nvSpPr>
          <p:spPr>
            <a:xfrm>
              <a:off x="3767352" y="2331217"/>
              <a:ext cx="4477056" cy="547467"/>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US" sz="1600" kern="1200" dirty="0" smtClean="0"/>
                <a:t>Objective 3: Maximize economic returns to the state</a:t>
              </a:r>
              <a:endParaRPr lang="en-US" sz="1600" kern="1200" dirty="0"/>
            </a:p>
          </p:txBody>
        </p:sp>
        <p:sp>
          <p:nvSpPr>
            <p:cNvPr id="22" name="Rounded Rectangle 21"/>
            <p:cNvSpPr/>
            <p:nvPr/>
          </p:nvSpPr>
          <p:spPr>
            <a:xfrm>
              <a:off x="1612521" y="3123815"/>
              <a:ext cx="1795692" cy="547467"/>
            </a:xfrm>
            <a:prstGeom prst="roundRect">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US" sz="1600" kern="1200" dirty="0" smtClean="0"/>
                <a:t>Engaging with Society</a:t>
              </a:r>
              <a:endParaRPr lang="en-US" sz="1600" kern="1200" dirty="0"/>
            </a:p>
          </p:txBody>
        </p:sp>
        <p:sp>
          <p:nvSpPr>
            <p:cNvPr id="23" name="Rounded Rectangle 22">
              <a:hlinkClick r:id="rId5" action="ppaction://hlinksldjump"/>
            </p:cNvPr>
            <p:cNvSpPr/>
            <p:nvPr/>
          </p:nvSpPr>
          <p:spPr>
            <a:xfrm>
              <a:off x="3767352" y="2924944"/>
              <a:ext cx="4477056" cy="547467"/>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US" sz="1600" kern="1200" dirty="0" smtClean="0"/>
                <a:t>Objective 4: Earn public trust &amp; manage public expectations</a:t>
              </a:r>
              <a:endParaRPr lang="en-US" sz="1600" kern="1200" dirty="0"/>
            </a:p>
          </p:txBody>
        </p:sp>
        <p:sp>
          <p:nvSpPr>
            <p:cNvPr id="24" name="Rounded Rectangle 23">
              <a:hlinkClick r:id="rId6" action="ppaction://hlinksldjump"/>
            </p:cNvPr>
            <p:cNvSpPr/>
            <p:nvPr/>
          </p:nvSpPr>
          <p:spPr>
            <a:xfrm>
              <a:off x="3767352" y="3529605"/>
              <a:ext cx="4477056" cy="547467"/>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US" sz="1600" kern="1200" dirty="0" smtClean="0"/>
                <a:t>Objective 5: Increase local content</a:t>
              </a:r>
              <a:endParaRPr lang="en-US" sz="1600" kern="1200" dirty="0"/>
            </a:p>
          </p:txBody>
        </p:sp>
        <p:sp>
          <p:nvSpPr>
            <p:cNvPr id="25" name="Rounded Rectangle 24"/>
            <p:cNvSpPr/>
            <p:nvPr/>
          </p:nvSpPr>
          <p:spPr>
            <a:xfrm>
              <a:off x="1599915" y="4167424"/>
              <a:ext cx="1795692" cy="547467"/>
            </a:xfrm>
            <a:prstGeom prst="roundRect">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US" sz="1600" kern="1200" dirty="0" smtClean="0"/>
                <a:t>Roles and Capacity</a:t>
              </a:r>
              <a:endParaRPr lang="en-US" sz="1600" kern="1200" dirty="0"/>
            </a:p>
          </p:txBody>
        </p:sp>
        <p:sp>
          <p:nvSpPr>
            <p:cNvPr id="27" name="Rounded Rectangle 26">
              <a:hlinkClick r:id="rId7" action="ppaction://hlinksldjump"/>
            </p:cNvPr>
            <p:cNvSpPr/>
            <p:nvPr/>
          </p:nvSpPr>
          <p:spPr>
            <a:xfrm>
              <a:off x="3778021" y="4142709"/>
              <a:ext cx="4477056" cy="547467"/>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6985" tIns="6985" rIns="6985" bIns="6985" numCol="1" spcCol="1270" anchor="ctr" anchorCtr="0">
              <a:noAutofit/>
            </a:bodyPr>
            <a:lstStyle/>
            <a:p>
              <a:pPr algn="ctr"/>
              <a:r>
                <a:rPr lang="en-US" sz="1600" kern="1200" dirty="0" smtClean="0"/>
                <a:t>Objective 6: </a:t>
              </a:r>
              <a:r>
                <a:rPr lang="en-US" sz="1600" dirty="0"/>
                <a:t>Develop </a:t>
              </a:r>
              <a:r>
                <a:rPr lang="en-US" sz="1600" dirty="0" smtClean="0"/>
                <a:t>capable </a:t>
              </a:r>
              <a:r>
                <a:rPr lang="en-US" sz="1600" dirty="0"/>
                <a:t>national </a:t>
              </a:r>
              <a:r>
                <a:rPr lang="en-US" sz="1600" dirty="0" err="1" smtClean="0"/>
                <a:t>organisations</a:t>
              </a:r>
              <a:endParaRPr lang="en-GB" sz="1600" dirty="0"/>
            </a:p>
          </p:txBody>
        </p:sp>
        <p:sp>
          <p:nvSpPr>
            <p:cNvPr id="28" name="Rounded Rectangle 27"/>
            <p:cNvSpPr/>
            <p:nvPr/>
          </p:nvSpPr>
          <p:spPr>
            <a:xfrm>
              <a:off x="1612522" y="5042564"/>
              <a:ext cx="1795692" cy="547467"/>
            </a:xfrm>
            <a:prstGeom prst="roundRect">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US" sz="1600" kern="1200" dirty="0" smtClean="0"/>
                <a:t>Accountability</a:t>
              </a:r>
              <a:endParaRPr lang="en-US" sz="1600" kern="1200" dirty="0"/>
            </a:p>
          </p:txBody>
        </p:sp>
        <p:sp>
          <p:nvSpPr>
            <p:cNvPr id="29" name="Rounded Rectangle 28">
              <a:hlinkClick r:id="rId8" action="ppaction://hlinksldjump"/>
            </p:cNvPr>
            <p:cNvSpPr/>
            <p:nvPr/>
          </p:nvSpPr>
          <p:spPr>
            <a:xfrm>
              <a:off x="3781791" y="4753149"/>
              <a:ext cx="4477056" cy="547467"/>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US" sz="1600" kern="1200" dirty="0" smtClean="0"/>
                <a:t>Objective 7: Increase accountability</a:t>
              </a:r>
              <a:endParaRPr lang="en-US" sz="1600" kern="1200" dirty="0"/>
            </a:p>
          </p:txBody>
        </p:sp>
      </p:grpSp>
      <p:grpSp>
        <p:nvGrpSpPr>
          <p:cNvPr id="32" name="Group 31"/>
          <p:cNvGrpSpPr/>
          <p:nvPr/>
        </p:nvGrpSpPr>
        <p:grpSpPr>
          <a:xfrm>
            <a:off x="3512315" y="5322807"/>
            <a:ext cx="372860" cy="668443"/>
            <a:chOff x="3663864" y="2048054"/>
            <a:chExt cx="372860" cy="668443"/>
          </a:xfrm>
        </p:grpSpPr>
        <p:sp>
          <p:nvSpPr>
            <p:cNvPr id="33" name="Freeform 32"/>
            <p:cNvSpPr/>
            <p:nvPr/>
          </p:nvSpPr>
          <p:spPr>
            <a:xfrm>
              <a:off x="3663864" y="2048054"/>
              <a:ext cx="372860" cy="333566"/>
            </a:xfrm>
            <a:custGeom>
              <a:avLst/>
              <a:gdLst>
                <a:gd name="connsiteX0" fmla="*/ 0 w 359138"/>
                <a:gd name="connsiteY0" fmla="*/ 342166 h 342166"/>
                <a:gd name="connsiteX1" fmla="*/ 179569 w 359138"/>
                <a:gd name="connsiteY1" fmla="*/ 342166 h 342166"/>
                <a:gd name="connsiteX2" fmla="*/ 179569 w 359138"/>
                <a:gd name="connsiteY2" fmla="*/ 0 h 342166"/>
                <a:gd name="connsiteX3" fmla="*/ 359138 w 359138"/>
                <a:gd name="connsiteY3" fmla="*/ 0 h 342166"/>
              </a:gdLst>
              <a:ahLst/>
              <a:cxnLst>
                <a:cxn ang="0">
                  <a:pos x="connsiteX0" y="connsiteY0"/>
                </a:cxn>
                <a:cxn ang="0">
                  <a:pos x="connsiteX1" y="connsiteY1"/>
                </a:cxn>
                <a:cxn ang="0">
                  <a:pos x="connsiteX2" y="connsiteY2"/>
                </a:cxn>
                <a:cxn ang="0">
                  <a:pos x="connsiteX3" y="connsiteY3"/>
                </a:cxn>
              </a:cxnLst>
              <a:rect l="l" t="t" r="r" b="b"/>
              <a:pathLst>
                <a:path w="359138" h="342166">
                  <a:moveTo>
                    <a:pt x="0" y="342166"/>
                  </a:moveTo>
                  <a:lnTo>
                    <a:pt x="179569" y="342166"/>
                  </a:lnTo>
                  <a:lnTo>
                    <a:pt x="179569" y="0"/>
                  </a:lnTo>
                  <a:lnTo>
                    <a:pt x="359138" y="0"/>
                  </a:lnTo>
                </a:path>
              </a:pathLst>
            </a:custGeom>
          </p:spPr>
          <p:style>
            <a:lnRef idx="1">
              <a:schemeClr val="dk1"/>
            </a:lnRef>
            <a:fillRef idx="0">
              <a:schemeClr val="dk1"/>
            </a:fillRef>
            <a:effectRef idx="0">
              <a:schemeClr val="dk1"/>
            </a:effectRef>
            <a:fontRef idx="minor">
              <a:schemeClr val="tx1"/>
            </a:fontRef>
          </p:style>
          <p:txBody>
            <a:bodyPr spcFirstLastPara="0" vert="horz" wrap="square" lIns="179868" tIns="158682" rIns="179868" bIns="158682" numCol="1" spcCol="1270" anchor="ctr" anchorCtr="0">
              <a:noAutofit/>
            </a:bodyPr>
            <a:lstStyle/>
            <a:p>
              <a:pPr lvl="0" algn="ctr" defTabSz="222250">
                <a:lnSpc>
                  <a:spcPct val="90000"/>
                </a:lnSpc>
                <a:spcBef>
                  <a:spcPct val="0"/>
                </a:spcBef>
                <a:spcAft>
                  <a:spcPct val="35000"/>
                </a:spcAft>
              </a:pPr>
              <a:endParaRPr lang="en-US" sz="500" kern="1200" dirty="0"/>
            </a:p>
          </p:txBody>
        </p:sp>
        <p:sp>
          <p:nvSpPr>
            <p:cNvPr id="34" name="Freeform 33"/>
            <p:cNvSpPr/>
            <p:nvPr/>
          </p:nvSpPr>
          <p:spPr>
            <a:xfrm>
              <a:off x="3663864" y="2382931"/>
              <a:ext cx="372860" cy="333566"/>
            </a:xfrm>
            <a:custGeom>
              <a:avLst/>
              <a:gdLst>
                <a:gd name="connsiteX0" fmla="*/ 0 w 359138"/>
                <a:gd name="connsiteY0" fmla="*/ 0 h 342166"/>
                <a:gd name="connsiteX1" fmla="*/ 179569 w 359138"/>
                <a:gd name="connsiteY1" fmla="*/ 0 h 342166"/>
                <a:gd name="connsiteX2" fmla="*/ 179569 w 359138"/>
                <a:gd name="connsiteY2" fmla="*/ 342166 h 342166"/>
                <a:gd name="connsiteX3" fmla="*/ 359138 w 359138"/>
                <a:gd name="connsiteY3" fmla="*/ 342166 h 342166"/>
              </a:gdLst>
              <a:ahLst/>
              <a:cxnLst>
                <a:cxn ang="0">
                  <a:pos x="connsiteX0" y="connsiteY0"/>
                </a:cxn>
                <a:cxn ang="0">
                  <a:pos x="connsiteX1" y="connsiteY1"/>
                </a:cxn>
                <a:cxn ang="0">
                  <a:pos x="connsiteX2" y="connsiteY2"/>
                </a:cxn>
                <a:cxn ang="0">
                  <a:pos x="connsiteX3" y="connsiteY3"/>
                </a:cxn>
              </a:cxnLst>
              <a:rect l="l" t="t" r="r" b="b"/>
              <a:pathLst>
                <a:path w="359138" h="342166">
                  <a:moveTo>
                    <a:pt x="0" y="0"/>
                  </a:moveTo>
                  <a:lnTo>
                    <a:pt x="179569" y="0"/>
                  </a:lnTo>
                  <a:lnTo>
                    <a:pt x="179569" y="342166"/>
                  </a:lnTo>
                  <a:lnTo>
                    <a:pt x="359138" y="342166"/>
                  </a:lnTo>
                </a:path>
              </a:pathLst>
            </a:custGeom>
          </p:spPr>
          <p:style>
            <a:lnRef idx="1">
              <a:schemeClr val="dk1"/>
            </a:lnRef>
            <a:fillRef idx="0">
              <a:schemeClr val="dk1"/>
            </a:fillRef>
            <a:effectRef idx="0">
              <a:schemeClr val="dk1"/>
            </a:effectRef>
            <a:fontRef idx="minor">
              <a:schemeClr val="tx1"/>
            </a:fontRef>
          </p:style>
          <p:txBody>
            <a:bodyPr spcFirstLastPara="0" vert="horz" wrap="square" lIns="179868" tIns="158682" rIns="179868" bIns="158682" numCol="1" spcCol="1270" anchor="ctr" anchorCtr="0">
              <a:noAutofit/>
            </a:bodyPr>
            <a:lstStyle/>
            <a:p>
              <a:pPr lvl="0" algn="ctr" defTabSz="222250">
                <a:lnSpc>
                  <a:spcPct val="90000"/>
                </a:lnSpc>
                <a:spcBef>
                  <a:spcPct val="0"/>
                </a:spcBef>
                <a:spcAft>
                  <a:spcPct val="35000"/>
                </a:spcAft>
              </a:pPr>
              <a:endParaRPr lang="en-US" sz="500" kern="1200" dirty="0"/>
            </a:p>
          </p:txBody>
        </p:sp>
      </p:grpSp>
      <p:sp>
        <p:nvSpPr>
          <p:cNvPr id="35" name="Rounded Rectangle 34">
            <a:hlinkClick r:id="rId9" action="ppaction://hlinksldjump"/>
          </p:cNvPr>
          <p:cNvSpPr/>
          <p:nvPr/>
        </p:nvSpPr>
        <p:spPr>
          <a:xfrm>
            <a:off x="3881261" y="5720211"/>
            <a:ext cx="4648116" cy="533706"/>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US" sz="1600" kern="1200" dirty="0" smtClean="0"/>
              <a:t>Objective 8: Safeguard the environment</a:t>
            </a:r>
            <a:endParaRPr lang="en-US" sz="1600" kern="1200" dirty="0"/>
          </a:p>
        </p:txBody>
      </p:sp>
      <p:sp>
        <p:nvSpPr>
          <p:cNvPr id="36" name="Rounded Rectangle 35">
            <a:hlinkClick r:id="rId10" action="ppaction://hlinksldjump"/>
          </p:cNvPr>
          <p:cNvSpPr/>
          <p:nvPr/>
        </p:nvSpPr>
        <p:spPr>
          <a:xfrm>
            <a:off x="3870184" y="1548284"/>
            <a:ext cx="4648116" cy="533706"/>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US" sz="1600" kern="1200" dirty="0" smtClean="0"/>
              <a:t>Objective </a:t>
            </a:r>
            <a:r>
              <a:rPr lang="en-US" sz="1600" dirty="0"/>
              <a:t>1</a:t>
            </a:r>
            <a:r>
              <a:rPr lang="en-US" sz="1600" kern="1200" dirty="0" smtClean="0"/>
              <a:t>: Elaborate a strategic vision for the sector</a:t>
            </a:r>
            <a:endParaRPr lang="en-US" sz="1600" kern="1200" dirty="0"/>
          </a:p>
        </p:txBody>
      </p:sp>
      <p:sp>
        <p:nvSpPr>
          <p:cNvPr id="37" name="Rounded Rectangle 36"/>
          <p:cNvSpPr/>
          <p:nvPr/>
        </p:nvSpPr>
        <p:spPr>
          <a:xfrm>
            <a:off x="1636346" y="1548284"/>
            <a:ext cx="1864302" cy="533706"/>
          </a:xfrm>
          <a:prstGeom prst="roundRect">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n-US" sz="1600" dirty="0" smtClean="0"/>
              <a:t>Strategy</a:t>
            </a:r>
            <a:endParaRPr lang="en-US" sz="1600" kern="1200" dirty="0"/>
          </a:p>
        </p:txBody>
      </p:sp>
      <p:sp>
        <p:nvSpPr>
          <p:cNvPr id="38" name="Freeform 37"/>
          <p:cNvSpPr/>
          <p:nvPr/>
        </p:nvSpPr>
        <p:spPr>
          <a:xfrm>
            <a:off x="3507115" y="1792277"/>
            <a:ext cx="353277" cy="45719"/>
          </a:xfrm>
          <a:custGeom>
            <a:avLst/>
            <a:gdLst>
              <a:gd name="connsiteX0" fmla="*/ 0 w 359138"/>
              <a:gd name="connsiteY0" fmla="*/ 45720 h 91440"/>
              <a:gd name="connsiteX1" fmla="*/ 359138 w 359138"/>
              <a:gd name="connsiteY1" fmla="*/ 45720 h 91440"/>
            </a:gdLst>
            <a:ahLst/>
            <a:cxnLst>
              <a:cxn ang="0">
                <a:pos x="connsiteX0" y="connsiteY0"/>
              </a:cxn>
              <a:cxn ang="0">
                <a:pos x="connsiteX1" y="connsiteY1"/>
              </a:cxn>
            </a:cxnLst>
            <a:rect l="l" t="t" r="r" b="b"/>
            <a:pathLst>
              <a:path w="359138" h="91440">
                <a:moveTo>
                  <a:pt x="0" y="45720"/>
                </a:moveTo>
                <a:lnTo>
                  <a:pt x="359138" y="45720"/>
                </a:lnTo>
              </a:path>
            </a:pathLst>
          </a:custGeom>
        </p:spPr>
        <p:style>
          <a:lnRef idx="1">
            <a:schemeClr val="dk1"/>
          </a:lnRef>
          <a:fillRef idx="0">
            <a:schemeClr val="dk1"/>
          </a:fillRef>
          <a:effectRef idx="0">
            <a:schemeClr val="dk1"/>
          </a:effectRef>
          <a:fontRef idx="minor">
            <a:schemeClr val="tx1"/>
          </a:fontRef>
        </p:style>
        <p:txBody>
          <a:bodyPr spcFirstLastPara="0" vert="horz" wrap="square" lIns="183291" tIns="36742" rIns="183291" bIns="36742" numCol="1" spcCol="1270" anchor="ctr" anchorCtr="0">
            <a:noAutofit/>
          </a:bodyPr>
          <a:lstStyle/>
          <a:p>
            <a:pPr lvl="0" algn="ctr" defTabSz="222250">
              <a:lnSpc>
                <a:spcPct val="90000"/>
              </a:lnSpc>
              <a:spcBef>
                <a:spcPct val="0"/>
              </a:spcBef>
              <a:spcAft>
                <a:spcPct val="35000"/>
              </a:spcAft>
            </a:pPr>
            <a:endParaRPr lang="en-US" sz="500" kern="1200" dirty="0"/>
          </a:p>
        </p:txBody>
      </p:sp>
      <p:sp>
        <p:nvSpPr>
          <p:cNvPr id="40" name="Freeform 39"/>
          <p:cNvSpPr/>
          <p:nvPr/>
        </p:nvSpPr>
        <p:spPr>
          <a:xfrm>
            <a:off x="1441727" y="3764304"/>
            <a:ext cx="176638" cy="45719"/>
          </a:xfrm>
          <a:custGeom>
            <a:avLst/>
            <a:gdLst>
              <a:gd name="connsiteX0" fmla="*/ 0 w 359138"/>
              <a:gd name="connsiteY0" fmla="*/ 45720 h 91440"/>
              <a:gd name="connsiteX1" fmla="*/ 359138 w 359138"/>
              <a:gd name="connsiteY1" fmla="*/ 45720 h 91440"/>
            </a:gdLst>
            <a:ahLst/>
            <a:cxnLst>
              <a:cxn ang="0">
                <a:pos x="connsiteX0" y="connsiteY0"/>
              </a:cxn>
              <a:cxn ang="0">
                <a:pos x="connsiteX1" y="connsiteY1"/>
              </a:cxn>
            </a:cxnLst>
            <a:rect l="l" t="t" r="r" b="b"/>
            <a:pathLst>
              <a:path w="359138" h="91440">
                <a:moveTo>
                  <a:pt x="0" y="45720"/>
                </a:moveTo>
                <a:lnTo>
                  <a:pt x="359138" y="45720"/>
                </a:lnTo>
              </a:path>
            </a:pathLst>
          </a:custGeom>
          <a:ln>
            <a:solidFill>
              <a:schemeClr val="tx1"/>
            </a:solidFill>
          </a:ln>
        </p:spPr>
        <p:style>
          <a:lnRef idx="1">
            <a:schemeClr val="dk1"/>
          </a:lnRef>
          <a:fillRef idx="0">
            <a:schemeClr val="dk1"/>
          </a:fillRef>
          <a:effectRef idx="0">
            <a:schemeClr val="dk1"/>
          </a:effectRef>
          <a:fontRef idx="minor">
            <a:schemeClr val="tx1"/>
          </a:fontRef>
        </p:style>
        <p:txBody>
          <a:bodyPr spcFirstLastPara="0" vert="horz" wrap="square" lIns="183291" tIns="36742" rIns="183291" bIns="36742" numCol="1" spcCol="1270" anchor="ctr" anchorCtr="0">
            <a:noAutofit/>
          </a:bodyPr>
          <a:lstStyle/>
          <a:p>
            <a:pPr lvl="0" algn="ctr" defTabSz="222250">
              <a:lnSpc>
                <a:spcPct val="90000"/>
              </a:lnSpc>
              <a:spcBef>
                <a:spcPct val="0"/>
              </a:spcBef>
              <a:spcAft>
                <a:spcPct val="35000"/>
              </a:spcAft>
            </a:pPr>
            <a:endParaRPr lang="en-US" sz="500" kern="1200" dirty="0"/>
          </a:p>
        </p:txBody>
      </p:sp>
      <p:grpSp>
        <p:nvGrpSpPr>
          <p:cNvPr id="44" name="Group 43"/>
          <p:cNvGrpSpPr/>
          <p:nvPr/>
        </p:nvGrpSpPr>
        <p:grpSpPr>
          <a:xfrm>
            <a:off x="3497323" y="2398730"/>
            <a:ext cx="372860" cy="668443"/>
            <a:chOff x="3663864" y="2048054"/>
            <a:chExt cx="372860" cy="668443"/>
          </a:xfrm>
        </p:grpSpPr>
        <p:sp>
          <p:nvSpPr>
            <p:cNvPr id="45" name="Freeform 44"/>
            <p:cNvSpPr/>
            <p:nvPr/>
          </p:nvSpPr>
          <p:spPr>
            <a:xfrm>
              <a:off x="3663864" y="2048054"/>
              <a:ext cx="372860" cy="333566"/>
            </a:xfrm>
            <a:custGeom>
              <a:avLst/>
              <a:gdLst>
                <a:gd name="connsiteX0" fmla="*/ 0 w 359138"/>
                <a:gd name="connsiteY0" fmla="*/ 342166 h 342166"/>
                <a:gd name="connsiteX1" fmla="*/ 179569 w 359138"/>
                <a:gd name="connsiteY1" fmla="*/ 342166 h 342166"/>
                <a:gd name="connsiteX2" fmla="*/ 179569 w 359138"/>
                <a:gd name="connsiteY2" fmla="*/ 0 h 342166"/>
                <a:gd name="connsiteX3" fmla="*/ 359138 w 359138"/>
                <a:gd name="connsiteY3" fmla="*/ 0 h 342166"/>
              </a:gdLst>
              <a:ahLst/>
              <a:cxnLst>
                <a:cxn ang="0">
                  <a:pos x="connsiteX0" y="connsiteY0"/>
                </a:cxn>
                <a:cxn ang="0">
                  <a:pos x="connsiteX1" y="connsiteY1"/>
                </a:cxn>
                <a:cxn ang="0">
                  <a:pos x="connsiteX2" y="connsiteY2"/>
                </a:cxn>
                <a:cxn ang="0">
                  <a:pos x="connsiteX3" y="connsiteY3"/>
                </a:cxn>
              </a:cxnLst>
              <a:rect l="l" t="t" r="r" b="b"/>
              <a:pathLst>
                <a:path w="359138" h="342166">
                  <a:moveTo>
                    <a:pt x="0" y="342166"/>
                  </a:moveTo>
                  <a:lnTo>
                    <a:pt x="179569" y="342166"/>
                  </a:lnTo>
                  <a:lnTo>
                    <a:pt x="179569" y="0"/>
                  </a:lnTo>
                  <a:lnTo>
                    <a:pt x="359138" y="0"/>
                  </a:lnTo>
                </a:path>
              </a:pathLst>
            </a:custGeom>
          </p:spPr>
          <p:style>
            <a:lnRef idx="1">
              <a:schemeClr val="dk1"/>
            </a:lnRef>
            <a:fillRef idx="0">
              <a:schemeClr val="dk1"/>
            </a:fillRef>
            <a:effectRef idx="0">
              <a:schemeClr val="dk1"/>
            </a:effectRef>
            <a:fontRef idx="minor">
              <a:schemeClr val="tx1"/>
            </a:fontRef>
          </p:style>
          <p:txBody>
            <a:bodyPr spcFirstLastPara="0" vert="horz" wrap="square" lIns="179868" tIns="158682" rIns="179868" bIns="158682" numCol="1" spcCol="1270" anchor="ctr" anchorCtr="0">
              <a:noAutofit/>
            </a:bodyPr>
            <a:lstStyle/>
            <a:p>
              <a:pPr lvl="0" algn="ctr" defTabSz="222250">
                <a:lnSpc>
                  <a:spcPct val="90000"/>
                </a:lnSpc>
                <a:spcBef>
                  <a:spcPct val="0"/>
                </a:spcBef>
                <a:spcAft>
                  <a:spcPct val="35000"/>
                </a:spcAft>
              </a:pPr>
              <a:endParaRPr lang="en-US" sz="500" kern="1200" dirty="0"/>
            </a:p>
          </p:txBody>
        </p:sp>
        <p:sp>
          <p:nvSpPr>
            <p:cNvPr id="46" name="Freeform 45"/>
            <p:cNvSpPr/>
            <p:nvPr/>
          </p:nvSpPr>
          <p:spPr>
            <a:xfrm>
              <a:off x="3663864" y="2382931"/>
              <a:ext cx="372860" cy="333566"/>
            </a:xfrm>
            <a:custGeom>
              <a:avLst/>
              <a:gdLst>
                <a:gd name="connsiteX0" fmla="*/ 0 w 359138"/>
                <a:gd name="connsiteY0" fmla="*/ 0 h 342166"/>
                <a:gd name="connsiteX1" fmla="*/ 179569 w 359138"/>
                <a:gd name="connsiteY1" fmla="*/ 0 h 342166"/>
                <a:gd name="connsiteX2" fmla="*/ 179569 w 359138"/>
                <a:gd name="connsiteY2" fmla="*/ 342166 h 342166"/>
                <a:gd name="connsiteX3" fmla="*/ 359138 w 359138"/>
                <a:gd name="connsiteY3" fmla="*/ 342166 h 342166"/>
              </a:gdLst>
              <a:ahLst/>
              <a:cxnLst>
                <a:cxn ang="0">
                  <a:pos x="connsiteX0" y="connsiteY0"/>
                </a:cxn>
                <a:cxn ang="0">
                  <a:pos x="connsiteX1" y="connsiteY1"/>
                </a:cxn>
                <a:cxn ang="0">
                  <a:pos x="connsiteX2" y="connsiteY2"/>
                </a:cxn>
                <a:cxn ang="0">
                  <a:pos x="connsiteX3" y="connsiteY3"/>
                </a:cxn>
              </a:cxnLst>
              <a:rect l="l" t="t" r="r" b="b"/>
              <a:pathLst>
                <a:path w="359138" h="342166">
                  <a:moveTo>
                    <a:pt x="0" y="0"/>
                  </a:moveTo>
                  <a:lnTo>
                    <a:pt x="179569" y="0"/>
                  </a:lnTo>
                  <a:lnTo>
                    <a:pt x="179569" y="342166"/>
                  </a:lnTo>
                  <a:lnTo>
                    <a:pt x="359138" y="342166"/>
                  </a:lnTo>
                </a:path>
              </a:pathLst>
            </a:custGeom>
          </p:spPr>
          <p:style>
            <a:lnRef idx="1">
              <a:schemeClr val="dk1"/>
            </a:lnRef>
            <a:fillRef idx="0">
              <a:schemeClr val="dk1"/>
            </a:fillRef>
            <a:effectRef idx="0">
              <a:schemeClr val="dk1"/>
            </a:effectRef>
            <a:fontRef idx="minor">
              <a:schemeClr val="tx1"/>
            </a:fontRef>
          </p:style>
          <p:txBody>
            <a:bodyPr spcFirstLastPara="0" vert="horz" wrap="square" lIns="179868" tIns="158682" rIns="179868" bIns="158682" numCol="1" spcCol="1270" anchor="ctr" anchorCtr="0">
              <a:noAutofit/>
            </a:bodyPr>
            <a:lstStyle/>
            <a:p>
              <a:pPr lvl="0" algn="ctr" defTabSz="222250">
                <a:lnSpc>
                  <a:spcPct val="90000"/>
                </a:lnSpc>
                <a:spcBef>
                  <a:spcPct val="0"/>
                </a:spcBef>
                <a:spcAft>
                  <a:spcPct val="35000"/>
                </a:spcAft>
              </a:pPr>
              <a:endParaRPr lang="en-US" sz="500" kern="1200" dirty="0"/>
            </a:p>
          </p:txBody>
        </p:sp>
      </p:grpSp>
      <p:grpSp>
        <p:nvGrpSpPr>
          <p:cNvPr id="39" name="Group 38"/>
          <p:cNvGrpSpPr/>
          <p:nvPr/>
        </p:nvGrpSpPr>
        <p:grpSpPr>
          <a:xfrm>
            <a:off x="3512315" y="3429000"/>
            <a:ext cx="352425" cy="782796"/>
            <a:chOff x="3663864" y="2048054"/>
            <a:chExt cx="372860" cy="668443"/>
          </a:xfrm>
        </p:grpSpPr>
        <p:sp>
          <p:nvSpPr>
            <p:cNvPr id="47" name="Freeform 46"/>
            <p:cNvSpPr/>
            <p:nvPr/>
          </p:nvSpPr>
          <p:spPr>
            <a:xfrm>
              <a:off x="3663864" y="2048054"/>
              <a:ext cx="372860" cy="333566"/>
            </a:xfrm>
            <a:custGeom>
              <a:avLst/>
              <a:gdLst>
                <a:gd name="connsiteX0" fmla="*/ 0 w 359138"/>
                <a:gd name="connsiteY0" fmla="*/ 342166 h 342166"/>
                <a:gd name="connsiteX1" fmla="*/ 179569 w 359138"/>
                <a:gd name="connsiteY1" fmla="*/ 342166 h 342166"/>
                <a:gd name="connsiteX2" fmla="*/ 179569 w 359138"/>
                <a:gd name="connsiteY2" fmla="*/ 0 h 342166"/>
                <a:gd name="connsiteX3" fmla="*/ 359138 w 359138"/>
                <a:gd name="connsiteY3" fmla="*/ 0 h 342166"/>
              </a:gdLst>
              <a:ahLst/>
              <a:cxnLst>
                <a:cxn ang="0">
                  <a:pos x="connsiteX0" y="connsiteY0"/>
                </a:cxn>
                <a:cxn ang="0">
                  <a:pos x="connsiteX1" y="connsiteY1"/>
                </a:cxn>
                <a:cxn ang="0">
                  <a:pos x="connsiteX2" y="connsiteY2"/>
                </a:cxn>
                <a:cxn ang="0">
                  <a:pos x="connsiteX3" y="connsiteY3"/>
                </a:cxn>
              </a:cxnLst>
              <a:rect l="l" t="t" r="r" b="b"/>
              <a:pathLst>
                <a:path w="359138" h="342166">
                  <a:moveTo>
                    <a:pt x="0" y="342166"/>
                  </a:moveTo>
                  <a:lnTo>
                    <a:pt x="179569" y="342166"/>
                  </a:lnTo>
                  <a:lnTo>
                    <a:pt x="179569" y="0"/>
                  </a:lnTo>
                  <a:lnTo>
                    <a:pt x="359138" y="0"/>
                  </a:lnTo>
                </a:path>
              </a:pathLst>
            </a:custGeom>
          </p:spPr>
          <p:style>
            <a:lnRef idx="1">
              <a:schemeClr val="dk1"/>
            </a:lnRef>
            <a:fillRef idx="0">
              <a:schemeClr val="dk1"/>
            </a:fillRef>
            <a:effectRef idx="0">
              <a:schemeClr val="dk1"/>
            </a:effectRef>
            <a:fontRef idx="minor">
              <a:schemeClr val="tx1"/>
            </a:fontRef>
          </p:style>
          <p:txBody>
            <a:bodyPr spcFirstLastPara="0" vert="horz" wrap="square" lIns="179868" tIns="158682" rIns="179868" bIns="158682" numCol="1" spcCol="1270" anchor="ctr" anchorCtr="0">
              <a:noAutofit/>
            </a:bodyPr>
            <a:lstStyle/>
            <a:p>
              <a:pPr lvl="0" algn="ctr" defTabSz="222250">
                <a:lnSpc>
                  <a:spcPct val="90000"/>
                </a:lnSpc>
                <a:spcBef>
                  <a:spcPct val="0"/>
                </a:spcBef>
                <a:spcAft>
                  <a:spcPct val="35000"/>
                </a:spcAft>
              </a:pPr>
              <a:endParaRPr lang="en-US" sz="500" kern="1200" dirty="0"/>
            </a:p>
          </p:txBody>
        </p:sp>
        <p:sp>
          <p:nvSpPr>
            <p:cNvPr id="48" name="Freeform 47"/>
            <p:cNvSpPr/>
            <p:nvPr/>
          </p:nvSpPr>
          <p:spPr>
            <a:xfrm>
              <a:off x="3663864" y="2382931"/>
              <a:ext cx="372860" cy="333566"/>
            </a:xfrm>
            <a:custGeom>
              <a:avLst/>
              <a:gdLst>
                <a:gd name="connsiteX0" fmla="*/ 0 w 359138"/>
                <a:gd name="connsiteY0" fmla="*/ 0 h 342166"/>
                <a:gd name="connsiteX1" fmla="*/ 179569 w 359138"/>
                <a:gd name="connsiteY1" fmla="*/ 0 h 342166"/>
                <a:gd name="connsiteX2" fmla="*/ 179569 w 359138"/>
                <a:gd name="connsiteY2" fmla="*/ 342166 h 342166"/>
                <a:gd name="connsiteX3" fmla="*/ 359138 w 359138"/>
                <a:gd name="connsiteY3" fmla="*/ 342166 h 342166"/>
              </a:gdLst>
              <a:ahLst/>
              <a:cxnLst>
                <a:cxn ang="0">
                  <a:pos x="connsiteX0" y="connsiteY0"/>
                </a:cxn>
                <a:cxn ang="0">
                  <a:pos x="connsiteX1" y="connsiteY1"/>
                </a:cxn>
                <a:cxn ang="0">
                  <a:pos x="connsiteX2" y="connsiteY2"/>
                </a:cxn>
                <a:cxn ang="0">
                  <a:pos x="connsiteX3" y="connsiteY3"/>
                </a:cxn>
              </a:cxnLst>
              <a:rect l="l" t="t" r="r" b="b"/>
              <a:pathLst>
                <a:path w="359138" h="342166">
                  <a:moveTo>
                    <a:pt x="0" y="0"/>
                  </a:moveTo>
                  <a:lnTo>
                    <a:pt x="179569" y="0"/>
                  </a:lnTo>
                  <a:lnTo>
                    <a:pt x="179569" y="342166"/>
                  </a:lnTo>
                  <a:lnTo>
                    <a:pt x="359138" y="342166"/>
                  </a:lnTo>
                </a:path>
              </a:pathLst>
            </a:custGeom>
          </p:spPr>
          <p:style>
            <a:lnRef idx="1">
              <a:schemeClr val="dk1"/>
            </a:lnRef>
            <a:fillRef idx="0">
              <a:schemeClr val="dk1"/>
            </a:fillRef>
            <a:effectRef idx="0">
              <a:schemeClr val="dk1"/>
            </a:effectRef>
            <a:fontRef idx="minor">
              <a:schemeClr val="tx1"/>
            </a:fontRef>
          </p:style>
          <p:txBody>
            <a:bodyPr spcFirstLastPara="0" vert="horz" wrap="square" lIns="179868" tIns="158682" rIns="179868" bIns="158682" numCol="1" spcCol="1270" anchor="ctr" anchorCtr="0">
              <a:noAutofit/>
            </a:bodyPr>
            <a:lstStyle/>
            <a:p>
              <a:pPr lvl="0" algn="ctr" defTabSz="222250">
                <a:lnSpc>
                  <a:spcPct val="90000"/>
                </a:lnSpc>
                <a:spcBef>
                  <a:spcPct val="0"/>
                </a:spcBef>
                <a:spcAft>
                  <a:spcPct val="35000"/>
                </a:spcAft>
              </a:pPr>
              <a:endParaRPr lang="en-US" sz="500" kern="1200" dirty="0"/>
            </a:p>
          </p:txBody>
        </p:sp>
      </p:grpSp>
      <p:sp>
        <p:nvSpPr>
          <p:cNvPr id="49" name="Freeform 48"/>
          <p:cNvSpPr/>
          <p:nvPr/>
        </p:nvSpPr>
        <p:spPr>
          <a:xfrm>
            <a:off x="3491880" y="4804539"/>
            <a:ext cx="393295" cy="45719"/>
          </a:xfrm>
          <a:custGeom>
            <a:avLst/>
            <a:gdLst>
              <a:gd name="connsiteX0" fmla="*/ 0 w 359138"/>
              <a:gd name="connsiteY0" fmla="*/ 45720 h 91440"/>
              <a:gd name="connsiteX1" fmla="*/ 359138 w 359138"/>
              <a:gd name="connsiteY1" fmla="*/ 45720 h 91440"/>
            </a:gdLst>
            <a:ahLst/>
            <a:cxnLst>
              <a:cxn ang="0">
                <a:pos x="connsiteX0" y="connsiteY0"/>
              </a:cxn>
              <a:cxn ang="0">
                <a:pos x="connsiteX1" y="connsiteY1"/>
              </a:cxn>
            </a:cxnLst>
            <a:rect l="l" t="t" r="r" b="b"/>
            <a:pathLst>
              <a:path w="359138" h="91440">
                <a:moveTo>
                  <a:pt x="0" y="45720"/>
                </a:moveTo>
                <a:lnTo>
                  <a:pt x="359138" y="45720"/>
                </a:lnTo>
              </a:path>
            </a:pathLst>
          </a:custGeom>
        </p:spPr>
        <p:style>
          <a:lnRef idx="1">
            <a:schemeClr val="dk1"/>
          </a:lnRef>
          <a:fillRef idx="0">
            <a:schemeClr val="dk1"/>
          </a:fillRef>
          <a:effectRef idx="0">
            <a:schemeClr val="dk1"/>
          </a:effectRef>
          <a:fontRef idx="minor">
            <a:schemeClr val="tx1"/>
          </a:fontRef>
        </p:style>
        <p:txBody>
          <a:bodyPr spcFirstLastPara="0" vert="horz" wrap="square" lIns="183291" tIns="36742" rIns="183291" bIns="36742" numCol="1" spcCol="1270" anchor="ctr" anchorCtr="0">
            <a:noAutofit/>
          </a:bodyPr>
          <a:lstStyle/>
          <a:p>
            <a:pPr lvl="0" algn="ctr" defTabSz="222250">
              <a:lnSpc>
                <a:spcPct val="90000"/>
              </a:lnSpc>
              <a:spcBef>
                <a:spcPct val="0"/>
              </a:spcBef>
              <a:spcAft>
                <a:spcPct val="35000"/>
              </a:spcAft>
            </a:pPr>
            <a:endParaRPr lang="en-US" sz="500" kern="1200" dirty="0"/>
          </a:p>
        </p:txBody>
      </p:sp>
    </p:spTree>
    <p:extLst>
      <p:ext uri="{BB962C8B-B14F-4D97-AF65-F5344CB8AC3E}">
        <p14:creationId xmlns:p14="http://schemas.microsoft.com/office/powerpoint/2010/main" val="16286340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123473" y="100883"/>
            <a:ext cx="2902465" cy="2752053"/>
            <a:chOff x="2914789" y="0"/>
            <a:chExt cx="3525388" cy="3525388"/>
          </a:xfrm>
        </p:grpSpPr>
        <p:sp>
          <p:nvSpPr>
            <p:cNvPr id="3" name="Oval 2"/>
            <p:cNvSpPr/>
            <p:nvPr/>
          </p:nvSpPr>
          <p:spPr>
            <a:xfrm>
              <a:off x="2914789" y="0"/>
              <a:ext cx="3525388" cy="3525388"/>
            </a:xfrm>
            <a:prstGeom prst="ellipse">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4" name="Oval 4"/>
            <p:cNvSpPr/>
            <p:nvPr/>
          </p:nvSpPr>
          <p:spPr>
            <a:xfrm>
              <a:off x="3431070" y="516281"/>
              <a:ext cx="2492826" cy="249282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8100" tIns="38100" rIns="38100" bIns="38100" numCol="1" spcCol="1270" anchor="ctr" anchorCtr="0">
              <a:noAutofit/>
            </a:bodyPr>
            <a:lstStyle/>
            <a:p>
              <a:pPr lvl="0" algn="ctr" defTabSz="1333500">
                <a:lnSpc>
                  <a:spcPct val="90000"/>
                </a:lnSpc>
                <a:spcBef>
                  <a:spcPct val="0"/>
                </a:spcBef>
                <a:spcAft>
                  <a:spcPct val="35000"/>
                </a:spcAft>
              </a:pPr>
              <a:r>
                <a:rPr lang="en-US" sz="3000" kern="1200" dirty="0" smtClean="0"/>
                <a:t>Objective 1: Elaborate a strategic vision for the sector </a:t>
              </a:r>
              <a:endParaRPr lang="en-US" sz="3000" kern="1200" dirty="0"/>
            </a:p>
          </p:txBody>
        </p:sp>
      </p:grpSp>
      <p:sp>
        <p:nvSpPr>
          <p:cNvPr id="5" name="Freeform 10">
            <a:hlinkClick r:id="rId2" action="ppaction://hlinksldjump"/>
          </p:cNvPr>
          <p:cNvSpPr/>
          <p:nvPr/>
        </p:nvSpPr>
        <p:spPr>
          <a:xfrm>
            <a:off x="591388" y="2948680"/>
            <a:ext cx="8147248" cy="684105"/>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defTabSz="1555750">
              <a:lnSpc>
                <a:spcPct val="90000"/>
              </a:lnSpc>
              <a:spcAft>
                <a:spcPct val="35000"/>
              </a:spcAft>
            </a:pPr>
            <a:r>
              <a:rPr lang="en-US" sz="2000" dirty="0"/>
              <a:t>Recommendations </a:t>
            </a:r>
            <a:r>
              <a:rPr lang="en-US" sz="2000" dirty="0" smtClean="0"/>
              <a:t>on elaborating a strategic vision </a:t>
            </a:r>
            <a:endParaRPr lang="en-US" sz="2000" kern="1200" dirty="0"/>
          </a:p>
        </p:txBody>
      </p:sp>
      <p:sp>
        <p:nvSpPr>
          <p:cNvPr id="6" name="Freeform 10">
            <a:hlinkClick r:id="rId3" action="ppaction://hlinksldjump"/>
          </p:cNvPr>
          <p:cNvSpPr/>
          <p:nvPr/>
        </p:nvSpPr>
        <p:spPr>
          <a:xfrm>
            <a:off x="591388" y="4442356"/>
            <a:ext cx="8147248" cy="684105"/>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a:endParaRPr lang="en-US" sz="2000" dirty="0" smtClean="0"/>
          </a:p>
          <a:p>
            <a:pPr lvl="0"/>
            <a:r>
              <a:rPr lang="en-US" sz="2000" dirty="0" smtClean="0"/>
              <a:t>Recommendations for political leadership</a:t>
            </a:r>
            <a:endParaRPr lang="en-US" sz="2000" dirty="0"/>
          </a:p>
          <a:p>
            <a:endParaRPr lang="en-GB" sz="2000" dirty="0">
              <a:cs typeface="Arial"/>
            </a:endParaRPr>
          </a:p>
        </p:txBody>
      </p:sp>
      <p:sp>
        <p:nvSpPr>
          <p:cNvPr id="7" name="Freeform 10">
            <a:hlinkClick r:id="rId4" action="ppaction://hlinksldjump"/>
          </p:cNvPr>
          <p:cNvSpPr/>
          <p:nvPr/>
        </p:nvSpPr>
        <p:spPr>
          <a:xfrm>
            <a:off x="608678" y="5209935"/>
            <a:ext cx="8147248" cy="684105"/>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a:r>
              <a:rPr lang="en-US" sz="2000" dirty="0"/>
              <a:t>Recommendations </a:t>
            </a:r>
            <a:r>
              <a:rPr lang="en-US" sz="2000" dirty="0" smtClean="0"/>
              <a:t>for implementing </a:t>
            </a:r>
            <a:r>
              <a:rPr lang="en-US" sz="2000" dirty="0"/>
              <a:t>national </a:t>
            </a:r>
            <a:r>
              <a:rPr lang="en-US" sz="2000" dirty="0" smtClean="0"/>
              <a:t>development plans</a:t>
            </a:r>
            <a:endParaRPr lang="en-US" sz="2000" dirty="0"/>
          </a:p>
        </p:txBody>
      </p:sp>
      <p:sp>
        <p:nvSpPr>
          <p:cNvPr id="9" name="Action Button: Home 8">
            <a:hlinkClick r:id="rId5" action="ppaction://hlinksldjump" highlightClick="1"/>
          </p:cNvPr>
          <p:cNvSpPr/>
          <p:nvPr/>
        </p:nvSpPr>
        <p:spPr bwMode="auto">
          <a:xfrm>
            <a:off x="8317754" y="5937346"/>
            <a:ext cx="360040" cy="288032"/>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25" name="Slide Number Placeholder 24"/>
          <p:cNvSpPr>
            <a:spLocks noGrp="1"/>
          </p:cNvSpPr>
          <p:nvPr>
            <p:ph type="sldNum" sz="quarter" idx="12"/>
          </p:nvPr>
        </p:nvSpPr>
        <p:spPr/>
        <p:txBody>
          <a:bodyPr/>
          <a:lstStyle/>
          <a:p>
            <a:fld id="{4E93DA66-EBF5-4E90-9785-1613283ED912}" type="slidenum">
              <a:rPr lang="en-GB" smtClean="0">
                <a:solidFill>
                  <a:schemeClr val="tx1"/>
                </a:solidFill>
                <a:latin typeface="Georgia" panose="02040502050405020303" pitchFamily="18" charset="0"/>
              </a:rPr>
              <a:t>8</a:t>
            </a:fld>
            <a:endParaRPr lang="en-GB" dirty="0">
              <a:solidFill>
                <a:schemeClr val="tx1"/>
              </a:solidFill>
              <a:latin typeface="Georgia" panose="02040502050405020303" pitchFamily="18" charset="0"/>
            </a:endParaRPr>
          </a:p>
        </p:txBody>
      </p:sp>
      <p:cxnSp>
        <p:nvCxnSpPr>
          <p:cNvPr id="24" name="Straight Connector 23"/>
          <p:cNvCxnSpPr/>
          <p:nvPr/>
        </p:nvCxnSpPr>
        <p:spPr>
          <a:xfrm>
            <a:off x="467544" y="6309320"/>
            <a:ext cx="8208000" cy="0"/>
          </a:xfrm>
          <a:prstGeom prst="line">
            <a:avLst/>
          </a:prstGeom>
          <a:ln w="19050" cmpd="dbl">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reeform 10">
            <a:hlinkClick r:id="rId6" action="ppaction://hlinksldjump"/>
          </p:cNvPr>
          <p:cNvSpPr/>
          <p:nvPr/>
        </p:nvSpPr>
        <p:spPr>
          <a:xfrm>
            <a:off x="606628" y="3697291"/>
            <a:ext cx="8147248" cy="684105"/>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a:endParaRPr lang="en-US" sz="2000" dirty="0" smtClean="0"/>
          </a:p>
          <a:p>
            <a:pPr lvl="0"/>
            <a:r>
              <a:rPr lang="en-US" sz="2000" dirty="0" smtClean="0"/>
              <a:t>Recommendations on balancing competing objectives</a:t>
            </a:r>
            <a:endParaRPr lang="en-US" sz="2000" dirty="0"/>
          </a:p>
          <a:p>
            <a:endParaRPr lang="en-GB" sz="2000" dirty="0">
              <a:cs typeface="Arial"/>
            </a:endParaRPr>
          </a:p>
        </p:txBody>
      </p:sp>
      <p:sp>
        <p:nvSpPr>
          <p:cNvPr id="26"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Tree>
    <p:extLst>
      <p:ext uri="{BB962C8B-B14F-4D97-AF65-F5344CB8AC3E}">
        <p14:creationId xmlns:p14="http://schemas.microsoft.com/office/powerpoint/2010/main" val="23136007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9</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p:txBody>
          <a:bodyPr>
            <a:normAutofit fontScale="70000" lnSpcReduction="20000"/>
          </a:bodyPr>
          <a:lstStyle/>
          <a:p>
            <a:r>
              <a:rPr lang="en-GB" dirty="0" smtClean="0"/>
              <a:t>Recommendations on elaborating a strategic vision for the sector</a:t>
            </a:r>
            <a:endParaRPr lang="en-GB" dirty="0"/>
          </a:p>
        </p:txBody>
      </p:sp>
      <p:sp>
        <p:nvSpPr>
          <p:cNvPr id="5" name="Text Placeholder 4"/>
          <p:cNvSpPr>
            <a:spLocks noGrp="1"/>
          </p:cNvSpPr>
          <p:nvPr>
            <p:ph type="body" sz="quarter" idx="11"/>
          </p:nvPr>
        </p:nvSpPr>
        <p:spPr>
          <a:xfrm>
            <a:off x="484224" y="1556792"/>
            <a:ext cx="8208143" cy="3888432"/>
          </a:xfrm>
        </p:spPr>
        <p:txBody>
          <a:bodyPr>
            <a:noAutofit/>
          </a:bodyPr>
          <a:lstStyle/>
          <a:p>
            <a:pPr algn="just">
              <a:spcAft>
                <a:spcPts val="600"/>
              </a:spcAft>
            </a:pPr>
            <a:r>
              <a:rPr lang="en-US" sz="2000" dirty="0" smtClean="0"/>
              <a:t>It is important that government policy has a clear vision for the development of the country </a:t>
            </a:r>
          </a:p>
          <a:p>
            <a:pPr algn="just">
              <a:spcAft>
                <a:spcPts val="600"/>
              </a:spcAft>
            </a:pPr>
            <a:r>
              <a:rPr lang="en-US" sz="2000" dirty="0" smtClean="0"/>
              <a:t>The vision for the petroleum sector should then flow from these priorities</a:t>
            </a:r>
          </a:p>
          <a:p>
            <a:pPr algn="just">
              <a:spcAft>
                <a:spcPts val="600"/>
              </a:spcAft>
            </a:pPr>
            <a:r>
              <a:rPr lang="en-US" sz="2000" dirty="0" smtClean="0"/>
              <a:t>Reassess vision whenever market or resource base changes </a:t>
            </a:r>
          </a:p>
          <a:p>
            <a:pPr algn="just">
              <a:spcAft>
                <a:spcPts val="600"/>
              </a:spcAft>
            </a:pPr>
            <a:r>
              <a:rPr lang="en-US" sz="2000" dirty="0" smtClean="0"/>
              <a:t>Identify which parties are involved in achieving those objectives</a:t>
            </a:r>
          </a:p>
          <a:p>
            <a:pPr algn="just">
              <a:spcAft>
                <a:spcPts val="600"/>
              </a:spcAft>
            </a:pPr>
            <a:r>
              <a:rPr lang="en-US" sz="2000" dirty="0" smtClean="0"/>
              <a:t>Be strategic about priority sectors for local development. As a first step produce careful and honest analysis of resource base, capabilities and the market</a:t>
            </a:r>
          </a:p>
          <a:p>
            <a:pPr algn="just">
              <a:spcAft>
                <a:spcPts val="600"/>
              </a:spcAft>
            </a:pPr>
            <a:r>
              <a:rPr lang="en-US" sz="2000" dirty="0" smtClean="0"/>
              <a:t>Integrate petroleum sector objectives to those of national vision</a:t>
            </a:r>
          </a:p>
          <a:p>
            <a:pPr algn="just">
              <a:spcAft>
                <a:spcPts val="600"/>
              </a:spcAft>
            </a:pPr>
            <a:r>
              <a:rPr lang="en-US" sz="2000" dirty="0" smtClean="0"/>
              <a:t>Monitor progress to ensure implementation</a:t>
            </a:r>
          </a:p>
        </p:txBody>
      </p:sp>
      <p:grpSp>
        <p:nvGrpSpPr>
          <p:cNvPr id="12" name="Group 11"/>
          <p:cNvGrpSpPr/>
          <p:nvPr/>
        </p:nvGrpSpPr>
        <p:grpSpPr>
          <a:xfrm>
            <a:off x="7668344" y="5741382"/>
            <a:ext cx="1008112" cy="546698"/>
            <a:chOff x="7668344" y="5741382"/>
            <a:chExt cx="1008112" cy="546698"/>
          </a:xfrm>
        </p:grpSpPr>
        <p:grpSp>
          <p:nvGrpSpPr>
            <p:cNvPr id="11" name="Group 10"/>
            <p:cNvGrpSpPr/>
            <p:nvPr/>
          </p:nvGrpSpPr>
          <p:grpSpPr>
            <a:xfrm>
              <a:off x="7668344" y="5741382"/>
              <a:ext cx="792205" cy="546698"/>
              <a:chOff x="7668344" y="5741382"/>
              <a:chExt cx="792205" cy="546698"/>
            </a:xfrm>
          </p:grpSpPr>
          <p:sp>
            <p:nvSpPr>
              <p:cNvPr id="6" name="Action Button: Return 5">
                <a:hlinkClick r:id="rId2" action="ppaction://hlinksldjump" highlightClick="1"/>
              </p:cNvPr>
              <p:cNvSpPr/>
              <p:nvPr/>
            </p:nvSpPr>
            <p:spPr bwMode="auto">
              <a:xfrm>
                <a:off x="7909945" y="5741382"/>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8" name="TextBox 7">
                <a:hlinkClick r:id="" action="ppaction://noaction"/>
              </p:cNvPr>
              <p:cNvSpPr txBox="1"/>
              <p:nvPr/>
            </p:nvSpPr>
            <p:spPr>
              <a:xfrm>
                <a:off x="7668344" y="6034164"/>
                <a:ext cx="792205" cy="253916"/>
              </a:xfrm>
              <a:prstGeom prst="actionButtonReturn">
                <a:avLst/>
              </a:prstGeom>
              <a:noFill/>
            </p:spPr>
            <p:txBody>
              <a:bodyPr wrap="none" rtlCol="0">
                <a:spAutoFit/>
              </a:bodyPr>
              <a:lstStyle/>
              <a:p>
                <a:pPr algn="ctr"/>
                <a:r>
                  <a:rPr lang="en-US" sz="1050" i="1" dirty="0" smtClean="0"/>
                  <a:t>Objective 1</a:t>
                </a:r>
                <a:endParaRPr lang="en-US" sz="1050" i="1" dirty="0"/>
              </a:p>
            </p:txBody>
          </p:sp>
        </p:grpSp>
        <p:sp>
          <p:nvSpPr>
            <p:cNvPr id="9" name="Action Button: Home 8">
              <a:hlinkClick r:id="rId3" action="ppaction://hlinksldjump" highlightClick="1"/>
            </p:cNvPr>
            <p:cNvSpPr/>
            <p:nvPr/>
          </p:nvSpPr>
          <p:spPr bwMode="auto">
            <a:xfrm>
              <a:off x="8316416" y="5746132"/>
              <a:ext cx="360040" cy="288032"/>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Tree>
    <p:extLst>
      <p:ext uri="{BB962C8B-B14F-4D97-AF65-F5344CB8AC3E}">
        <p14:creationId xmlns:p14="http://schemas.microsoft.com/office/powerpoint/2010/main" val="22742124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0">
            <a:hlinkClick r:id="rId2" action="ppaction://hlinksldjump"/>
          </p:cNvPr>
          <p:cNvSpPr/>
          <p:nvPr/>
        </p:nvSpPr>
        <p:spPr>
          <a:xfrm>
            <a:off x="611560" y="5049151"/>
            <a:ext cx="7776864" cy="540089"/>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algn="ctr"/>
            <a:r>
              <a:rPr lang="en-US" sz="2000" dirty="0" smtClean="0"/>
              <a:t>Recommendations on balancing competing objectives</a:t>
            </a:r>
            <a:endParaRPr lang="en-US" sz="2000" dirty="0"/>
          </a:p>
        </p:txBody>
      </p:sp>
      <p:sp>
        <p:nvSpPr>
          <p:cNvPr id="14" name="Freeform 9"/>
          <p:cNvSpPr/>
          <p:nvPr/>
        </p:nvSpPr>
        <p:spPr>
          <a:xfrm>
            <a:off x="496515" y="260648"/>
            <a:ext cx="8035925" cy="792146"/>
          </a:xfrm>
          <a:prstGeom prst="roundRect">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algn="ctr"/>
            <a:r>
              <a:rPr lang="en-US" sz="2400" dirty="0">
                <a:latin typeface="+mj-lt"/>
                <a:cs typeface="Arial"/>
              </a:rPr>
              <a:t>Challenge 1</a:t>
            </a:r>
            <a:r>
              <a:rPr lang="en-US" sz="2400" dirty="0" smtClean="0">
                <a:latin typeface="+mj-lt"/>
                <a:cs typeface="Arial"/>
              </a:rPr>
              <a:t>: Balancing competing objectives in pursuing a national vision</a:t>
            </a:r>
            <a:endParaRPr lang="en-US" sz="2400" dirty="0">
              <a:latin typeface="+mj-lt"/>
            </a:endParaRPr>
          </a:p>
        </p:txBody>
      </p:sp>
      <p:cxnSp>
        <p:nvCxnSpPr>
          <p:cNvPr id="16" name="Straight Connector 15"/>
          <p:cNvCxnSpPr/>
          <p:nvPr/>
        </p:nvCxnSpPr>
        <p:spPr>
          <a:xfrm flipV="1">
            <a:off x="468000" y="6309320"/>
            <a:ext cx="8208000" cy="0"/>
          </a:xfrm>
          <a:prstGeom prst="line">
            <a:avLst/>
          </a:prstGeom>
          <a:ln w="19050" cmpd="dbl">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9" name="Diagram 18"/>
          <p:cNvGraphicFramePr/>
          <p:nvPr>
            <p:extLst>
              <p:ext uri="{D42A27DB-BD31-4B8C-83A1-F6EECF244321}">
                <p14:modId xmlns:p14="http://schemas.microsoft.com/office/powerpoint/2010/main" val="2123802497"/>
              </p:ext>
            </p:extLst>
          </p:nvPr>
        </p:nvGraphicFramePr>
        <p:xfrm>
          <a:off x="1838402" y="1700808"/>
          <a:ext cx="6912768" cy="30950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Box 11"/>
          <p:cNvSpPr txBox="1"/>
          <p:nvPr/>
        </p:nvSpPr>
        <p:spPr>
          <a:xfrm>
            <a:off x="2549074" y="1484784"/>
            <a:ext cx="5646115" cy="707886"/>
          </a:xfrm>
          <a:prstGeom prst="rect">
            <a:avLst/>
          </a:prstGeom>
          <a:noFill/>
        </p:spPr>
        <p:txBody>
          <a:bodyPr wrap="square" rtlCol="0">
            <a:spAutoFit/>
          </a:bodyPr>
          <a:lstStyle/>
          <a:p>
            <a:pPr algn="ctr"/>
            <a:r>
              <a:rPr lang="en-US" sz="2000" dirty="0" smtClean="0">
                <a:latin typeface="Georgia" pitchFamily="18" charset="0"/>
              </a:rPr>
              <a:t>Example of trade-offs involved in national vision centered on using oil/gas development	</a:t>
            </a:r>
            <a:endParaRPr lang="en-US" sz="2000" dirty="0">
              <a:latin typeface="Georgia" pitchFamily="18" charset="0"/>
            </a:endParaRPr>
          </a:p>
        </p:txBody>
      </p:sp>
      <p:sp>
        <p:nvSpPr>
          <p:cNvPr id="21" name="Oval 20"/>
          <p:cNvSpPr/>
          <p:nvPr/>
        </p:nvSpPr>
        <p:spPr>
          <a:xfrm>
            <a:off x="496515" y="1686679"/>
            <a:ext cx="1705248" cy="1659896"/>
          </a:xfrm>
          <a:prstGeom prst="ellipse">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lIns="0" tIns="91440" rIns="0" bIns="91440"/>
          <a:lstStyle/>
          <a:p>
            <a:pPr algn="ctr"/>
            <a:r>
              <a:rPr lang="en-US" sz="2000" dirty="0" smtClean="0"/>
              <a:t>How best to leverage resources?</a:t>
            </a:r>
            <a:endParaRPr lang="en-US" sz="2000" dirty="0"/>
          </a:p>
        </p:txBody>
      </p:sp>
      <p:sp>
        <p:nvSpPr>
          <p:cNvPr id="2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23" name="Slide Number Placeholder 2"/>
          <p:cNvSpPr>
            <a:spLocks noGrp="1"/>
          </p:cNvSpPr>
          <p:nvPr>
            <p:ph type="sldNum" sz="quarter" idx="4294967295"/>
          </p:nvPr>
        </p:nvSpPr>
        <p:spPr>
          <a:xfrm>
            <a:off x="6553200" y="6356350"/>
            <a:ext cx="2133600" cy="365125"/>
          </a:xfrm>
        </p:spPr>
        <p:txBody>
          <a:bodyPr/>
          <a:lstStyle/>
          <a:p>
            <a:fld id="{418A78CD-E27B-441A-A2B1-21C1D5FFEB65}" type="slidenum">
              <a:rPr lang="en-US" sz="1200" smtClean="0">
                <a:solidFill>
                  <a:prstClr val="black"/>
                </a:solidFill>
                <a:latin typeface="Georgia" pitchFamily="18" charset="0"/>
              </a:rPr>
              <a:pPr/>
              <a:t>10</a:t>
            </a:fld>
            <a:endParaRPr lang="en-US" sz="1200" dirty="0">
              <a:solidFill>
                <a:prstClr val="black"/>
              </a:solidFill>
              <a:latin typeface="Georgia" pitchFamily="18" charset="0"/>
            </a:endParaRPr>
          </a:p>
        </p:txBody>
      </p:sp>
      <p:grpSp>
        <p:nvGrpSpPr>
          <p:cNvPr id="29" name="Group 28"/>
          <p:cNvGrpSpPr/>
          <p:nvPr/>
        </p:nvGrpSpPr>
        <p:grpSpPr>
          <a:xfrm>
            <a:off x="7668344" y="5741382"/>
            <a:ext cx="1008112" cy="546698"/>
            <a:chOff x="7668344" y="5741382"/>
            <a:chExt cx="1008112" cy="546698"/>
          </a:xfrm>
        </p:grpSpPr>
        <p:grpSp>
          <p:nvGrpSpPr>
            <p:cNvPr id="30" name="Group 29"/>
            <p:cNvGrpSpPr/>
            <p:nvPr/>
          </p:nvGrpSpPr>
          <p:grpSpPr>
            <a:xfrm>
              <a:off x="7668344" y="5741382"/>
              <a:ext cx="792205" cy="546698"/>
              <a:chOff x="7668344" y="5741382"/>
              <a:chExt cx="792205" cy="546698"/>
            </a:xfrm>
          </p:grpSpPr>
          <p:sp>
            <p:nvSpPr>
              <p:cNvPr id="32" name="Action Button: Return 31">
                <a:hlinkClick r:id="rId8" action="ppaction://hlinksldjump" highlightClick="1"/>
              </p:cNvPr>
              <p:cNvSpPr/>
              <p:nvPr/>
            </p:nvSpPr>
            <p:spPr bwMode="auto">
              <a:xfrm>
                <a:off x="7909945" y="5741382"/>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33" name="TextBox 32">
                <a:hlinkClick r:id="" action="ppaction://noaction"/>
              </p:cNvPr>
              <p:cNvSpPr txBox="1"/>
              <p:nvPr/>
            </p:nvSpPr>
            <p:spPr>
              <a:xfrm>
                <a:off x="7668344" y="6034164"/>
                <a:ext cx="792205" cy="253916"/>
              </a:xfrm>
              <a:prstGeom prst="actionButtonReturn">
                <a:avLst/>
              </a:prstGeom>
              <a:noFill/>
            </p:spPr>
            <p:txBody>
              <a:bodyPr wrap="none" rtlCol="0">
                <a:spAutoFit/>
              </a:bodyPr>
              <a:lstStyle/>
              <a:p>
                <a:pPr algn="ctr"/>
                <a:r>
                  <a:rPr lang="en-US" sz="1050" i="1" dirty="0" smtClean="0"/>
                  <a:t>Objective 1</a:t>
                </a:r>
                <a:endParaRPr lang="en-US" sz="1050" i="1" dirty="0"/>
              </a:p>
            </p:txBody>
          </p:sp>
        </p:grpSp>
        <p:sp>
          <p:nvSpPr>
            <p:cNvPr id="31" name="Action Button: Home 30">
              <a:hlinkClick r:id="rId9" action="ppaction://hlinksldjump" highlightClick="1"/>
            </p:cNvPr>
            <p:cNvSpPr/>
            <p:nvPr/>
          </p:nvSpPr>
          <p:spPr bwMode="auto">
            <a:xfrm>
              <a:off x="8316416" y="5746132"/>
              <a:ext cx="360040" cy="288032"/>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Tree>
    <p:extLst>
      <p:ext uri="{BB962C8B-B14F-4D97-AF65-F5344CB8AC3E}">
        <p14:creationId xmlns:p14="http://schemas.microsoft.com/office/powerpoint/2010/main" val="200751448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11</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p:txBody>
          <a:bodyPr>
            <a:normAutofit fontScale="77500" lnSpcReduction="20000"/>
          </a:bodyPr>
          <a:lstStyle/>
          <a:p>
            <a:r>
              <a:rPr lang="en-GB" dirty="0" smtClean="0"/>
              <a:t>Recommendations on balancing competing objectives</a:t>
            </a:r>
            <a:endParaRPr lang="en-GB" dirty="0"/>
          </a:p>
        </p:txBody>
      </p:sp>
      <p:sp>
        <p:nvSpPr>
          <p:cNvPr id="5" name="Text Placeholder 4"/>
          <p:cNvSpPr>
            <a:spLocks noGrp="1"/>
          </p:cNvSpPr>
          <p:nvPr>
            <p:ph type="body" sz="quarter" idx="11"/>
          </p:nvPr>
        </p:nvSpPr>
        <p:spPr>
          <a:xfrm>
            <a:off x="468313" y="1916832"/>
            <a:ext cx="8208143" cy="3384376"/>
          </a:xfrm>
        </p:spPr>
        <p:txBody>
          <a:bodyPr>
            <a:noAutofit/>
          </a:bodyPr>
          <a:lstStyle/>
          <a:p>
            <a:pPr algn="just">
              <a:spcAft>
                <a:spcPts val="600"/>
              </a:spcAft>
            </a:pPr>
            <a:r>
              <a:rPr lang="en-US" sz="2000" dirty="0" smtClean="0"/>
              <a:t>Evaluate the scale of resources in relation to the rest of economy - Are they large enough to transform the economy?</a:t>
            </a:r>
            <a:endParaRPr lang="en-US" sz="2000" dirty="0"/>
          </a:p>
          <a:p>
            <a:pPr algn="just">
              <a:spcAft>
                <a:spcPts val="600"/>
              </a:spcAft>
            </a:pPr>
            <a:r>
              <a:rPr lang="en-US" sz="2000" dirty="0" smtClean="0"/>
              <a:t>Ask, ‘</a:t>
            </a:r>
            <a:r>
              <a:rPr lang="en-US" sz="2000" dirty="0"/>
              <a:t>W</a:t>
            </a:r>
            <a:r>
              <a:rPr lang="en-US" sz="2000" dirty="0" smtClean="0"/>
              <a:t>hat </a:t>
            </a:r>
            <a:r>
              <a:rPr lang="en-US" sz="2000" dirty="0"/>
              <a:t>kind of producer should we be</a:t>
            </a:r>
            <a:r>
              <a:rPr lang="en-US" sz="2000" dirty="0" smtClean="0"/>
              <a:t>?’</a:t>
            </a:r>
            <a:endParaRPr lang="en-US" sz="2000" dirty="0"/>
          </a:p>
          <a:p>
            <a:pPr algn="just">
              <a:spcAft>
                <a:spcPts val="600"/>
              </a:spcAft>
            </a:pPr>
            <a:r>
              <a:rPr lang="en-US" sz="2000" dirty="0" smtClean="0"/>
              <a:t>Look carefully at risks </a:t>
            </a:r>
            <a:r>
              <a:rPr lang="en-US" sz="2000" dirty="0"/>
              <a:t>associated with </a:t>
            </a:r>
            <a:r>
              <a:rPr lang="en-US" sz="2000" dirty="0" smtClean="0"/>
              <a:t>each type of vision</a:t>
            </a:r>
            <a:endParaRPr lang="en-US" sz="2000" dirty="0"/>
          </a:p>
          <a:p>
            <a:pPr algn="just">
              <a:spcAft>
                <a:spcPts val="600"/>
              </a:spcAft>
            </a:pPr>
            <a:r>
              <a:rPr lang="en-US" sz="2000" dirty="0" smtClean="0"/>
              <a:t>Goals must be prioritized; it may not be possible to achieve all at once</a:t>
            </a:r>
            <a:endParaRPr lang="en-US" sz="2000" dirty="0"/>
          </a:p>
          <a:p>
            <a:pPr algn="just">
              <a:spcAft>
                <a:spcPts val="600"/>
              </a:spcAft>
            </a:pPr>
            <a:r>
              <a:rPr lang="en-US" sz="2000" dirty="0"/>
              <a:t>Domestic energy use should be considered strategically at an early stage </a:t>
            </a:r>
            <a:r>
              <a:rPr lang="en-US" sz="2000" dirty="0" smtClean="0"/>
              <a:t>to avoid becoming </a:t>
            </a:r>
            <a:r>
              <a:rPr lang="en-US" sz="2000" dirty="0"/>
              <a:t>locked into unsustainable consumption patterns. </a:t>
            </a:r>
          </a:p>
          <a:p>
            <a:pPr marL="0" indent="0" algn="just">
              <a:spcAft>
                <a:spcPts val="600"/>
              </a:spcAft>
              <a:buNone/>
            </a:pPr>
            <a:endParaRPr lang="en-US" sz="2000" dirty="0"/>
          </a:p>
        </p:txBody>
      </p:sp>
      <p:grpSp>
        <p:nvGrpSpPr>
          <p:cNvPr id="10" name="Group 9"/>
          <p:cNvGrpSpPr/>
          <p:nvPr/>
        </p:nvGrpSpPr>
        <p:grpSpPr>
          <a:xfrm>
            <a:off x="7668344" y="5741382"/>
            <a:ext cx="1008112" cy="546698"/>
            <a:chOff x="7668344" y="5741382"/>
            <a:chExt cx="1008112" cy="546698"/>
          </a:xfrm>
        </p:grpSpPr>
        <p:grpSp>
          <p:nvGrpSpPr>
            <p:cNvPr id="11" name="Group 10"/>
            <p:cNvGrpSpPr/>
            <p:nvPr/>
          </p:nvGrpSpPr>
          <p:grpSpPr>
            <a:xfrm>
              <a:off x="7668344" y="5741382"/>
              <a:ext cx="792205" cy="546698"/>
              <a:chOff x="7668344" y="5741382"/>
              <a:chExt cx="792205" cy="546698"/>
            </a:xfrm>
          </p:grpSpPr>
          <p:sp>
            <p:nvSpPr>
              <p:cNvPr id="13" name="Action Button: Return 12">
                <a:hlinkClick r:id="rId2" action="ppaction://hlinksldjump" highlightClick="1"/>
              </p:cNvPr>
              <p:cNvSpPr/>
              <p:nvPr/>
            </p:nvSpPr>
            <p:spPr bwMode="auto">
              <a:xfrm>
                <a:off x="7909945" y="5741382"/>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4" name="TextBox 13">
                <a:hlinkClick r:id="" action="ppaction://noaction"/>
              </p:cNvPr>
              <p:cNvSpPr txBox="1"/>
              <p:nvPr/>
            </p:nvSpPr>
            <p:spPr>
              <a:xfrm>
                <a:off x="7668344" y="6034164"/>
                <a:ext cx="792205" cy="253916"/>
              </a:xfrm>
              <a:prstGeom prst="actionButtonReturn">
                <a:avLst/>
              </a:prstGeom>
              <a:noFill/>
            </p:spPr>
            <p:txBody>
              <a:bodyPr wrap="none" rtlCol="0">
                <a:spAutoFit/>
              </a:bodyPr>
              <a:lstStyle/>
              <a:p>
                <a:pPr algn="ctr"/>
                <a:r>
                  <a:rPr lang="en-US" sz="1050" i="1" dirty="0" smtClean="0"/>
                  <a:t>Objective 1</a:t>
                </a:r>
                <a:endParaRPr lang="en-US" sz="1050" i="1" dirty="0"/>
              </a:p>
            </p:txBody>
          </p:sp>
        </p:grpSp>
        <p:sp>
          <p:nvSpPr>
            <p:cNvPr id="12" name="Action Button: Home 11">
              <a:hlinkClick r:id="rId3" action="ppaction://hlinksldjump" highlightClick="1"/>
            </p:cNvPr>
            <p:cNvSpPr/>
            <p:nvPr/>
          </p:nvSpPr>
          <p:spPr bwMode="auto">
            <a:xfrm>
              <a:off x="8316416" y="5746132"/>
              <a:ext cx="360040" cy="288032"/>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Tree>
    <p:extLst>
      <p:ext uri="{BB962C8B-B14F-4D97-AF65-F5344CB8AC3E}">
        <p14:creationId xmlns:p14="http://schemas.microsoft.com/office/powerpoint/2010/main" val="89278905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0">
            <a:hlinkClick r:id="rId2" action="ppaction://hlinksldjump"/>
          </p:cNvPr>
          <p:cNvSpPr/>
          <p:nvPr/>
        </p:nvSpPr>
        <p:spPr>
          <a:xfrm>
            <a:off x="683568" y="5013176"/>
            <a:ext cx="7776864" cy="540089"/>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algn="ctr"/>
            <a:r>
              <a:rPr lang="en-US" sz="2000" dirty="0" smtClean="0"/>
              <a:t>Recommendations for driving a national vision without leadership</a:t>
            </a:r>
            <a:endParaRPr lang="en-US" sz="2000" dirty="0"/>
          </a:p>
        </p:txBody>
      </p:sp>
      <p:sp>
        <p:nvSpPr>
          <p:cNvPr id="14" name="Freeform 9"/>
          <p:cNvSpPr/>
          <p:nvPr/>
        </p:nvSpPr>
        <p:spPr>
          <a:xfrm>
            <a:off x="496515" y="260648"/>
            <a:ext cx="8035925" cy="792146"/>
          </a:xfrm>
          <a:prstGeom prst="roundRect">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algn="ctr"/>
            <a:r>
              <a:rPr lang="en-US" sz="2400" dirty="0">
                <a:latin typeface="+mj-lt"/>
                <a:cs typeface="Arial"/>
              </a:rPr>
              <a:t>Challenge </a:t>
            </a:r>
            <a:r>
              <a:rPr lang="en-US" sz="2400" dirty="0" smtClean="0">
                <a:latin typeface="+mj-lt"/>
                <a:cs typeface="Arial"/>
              </a:rPr>
              <a:t>2: </a:t>
            </a:r>
            <a:r>
              <a:rPr lang="en-US" sz="2400" dirty="0">
                <a:latin typeface="+mj-lt"/>
                <a:cs typeface="Arial"/>
              </a:rPr>
              <a:t>L</a:t>
            </a:r>
            <a:r>
              <a:rPr lang="en-US" sz="2400" dirty="0" smtClean="0">
                <a:latin typeface="+mj-lt"/>
                <a:cs typeface="Arial"/>
              </a:rPr>
              <a:t>ack of political leadership</a:t>
            </a:r>
            <a:endParaRPr lang="en-US" sz="2400" dirty="0">
              <a:latin typeface="+mj-lt"/>
            </a:endParaRPr>
          </a:p>
        </p:txBody>
      </p:sp>
      <p:cxnSp>
        <p:nvCxnSpPr>
          <p:cNvPr id="16" name="Straight Connector 15"/>
          <p:cNvCxnSpPr/>
          <p:nvPr/>
        </p:nvCxnSpPr>
        <p:spPr>
          <a:xfrm>
            <a:off x="468000" y="6310800"/>
            <a:ext cx="8208000" cy="0"/>
          </a:xfrm>
          <a:prstGeom prst="line">
            <a:avLst/>
          </a:prstGeom>
          <a:ln w="19050" cmpd="thickThi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51520" y="1340768"/>
            <a:ext cx="8499650" cy="3416320"/>
          </a:xfrm>
          <a:prstGeom prst="rect">
            <a:avLst/>
          </a:prstGeom>
          <a:noFill/>
        </p:spPr>
        <p:txBody>
          <a:bodyPr wrap="square" rtlCol="0">
            <a:spAutoFit/>
          </a:bodyPr>
          <a:lstStyle/>
          <a:p>
            <a:pPr algn="ctr"/>
            <a:r>
              <a:rPr lang="en-US" sz="2400" dirty="0">
                <a:latin typeface="Georgia" pitchFamily="18" charset="0"/>
              </a:rPr>
              <a:t>K</a:t>
            </a:r>
            <a:r>
              <a:rPr lang="en-US" sz="2400" dirty="0" smtClean="0">
                <a:latin typeface="Georgia" pitchFamily="18" charset="0"/>
              </a:rPr>
              <a:t>ey Problem  </a:t>
            </a:r>
          </a:p>
          <a:p>
            <a:pPr algn="ctr"/>
            <a:endParaRPr lang="en-US" sz="2400" dirty="0">
              <a:latin typeface="Georgia" pitchFamily="18" charset="0"/>
            </a:endParaRPr>
          </a:p>
          <a:p>
            <a:pPr algn="ctr"/>
            <a:endParaRPr lang="en-US" sz="2400" dirty="0" smtClean="0">
              <a:latin typeface="Georgia" pitchFamily="18" charset="0"/>
            </a:endParaRPr>
          </a:p>
          <a:p>
            <a:pPr algn="ctr"/>
            <a:endParaRPr lang="en-US" sz="2400" dirty="0" smtClean="0">
              <a:latin typeface="Georgia" pitchFamily="18" charset="0"/>
            </a:endParaRPr>
          </a:p>
          <a:p>
            <a:pPr algn="ctr"/>
            <a:r>
              <a:rPr lang="en-US" sz="2400" dirty="0" smtClean="0">
                <a:latin typeface="Georgia" pitchFamily="18" charset="0"/>
              </a:rPr>
              <a:t>Lack </a:t>
            </a:r>
            <a:r>
              <a:rPr lang="en-US" sz="2400" dirty="0">
                <a:latin typeface="Georgia" pitchFamily="18" charset="0"/>
              </a:rPr>
              <a:t>of political </a:t>
            </a:r>
            <a:r>
              <a:rPr lang="en-US" sz="2400" dirty="0" smtClean="0">
                <a:latin typeface="Georgia" pitchFamily="18" charset="0"/>
              </a:rPr>
              <a:t>will</a:t>
            </a:r>
          </a:p>
          <a:p>
            <a:pPr algn="ctr"/>
            <a:endParaRPr lang="en-US" sz="2400" dirty="0">
              <a:latin typeface="Georgia" pitchFamily="18" charset="0"/>
            </a:endParaRPr>
          </a:p>
          <a:p>
            <a:pPr algn="ctr"/>
            <a:r>
              <a:rPr lang="en-US" sz="2400" dirty="0" smtClean="0">
                <a:latin typeface="Georgia" pitchFamily="18" charset="0"/>
              </a:rPr>
              <a:t>‘We have the necessary policies and regulations in place, but we have no leadership, no vision. Should we proceed to develop our sector without it?’</a:t>
            </a:r>
            <a:endParaRPr lang="en-US" sz="2400" dirty="0">
              <a:latin typeface="Georgia" pitchFamily="18" charset="0"/>
            </a:endParaRPr>
          </a:p>
        </p:txBody>
      </p:sp>
      <p:sp>
        <p:nvSpPr>
          <p:cNvPr id="20" name="Down Arrow 19"/>
          <p:cNvSpPr/>
          <p:nvPr/>
        </p:nvSpPr>
        <p:spPr bwMode="auto">
          <a:xfrm>
            <a:off x="4042772" y="1916832"/>
            <a:ext cx="792088" cy="864096"/>
          </a:xfrm>
          <a:prstGeom prst="downArrow">
            <a:avLst>
              <a:gd name="adj1" fmla="val 42304"/>
              <a:gd name="adj2" fmla="val 46152"/>
            </a:avLst>
          </a:prstGeom>
          <a:solidFill>
            <a:srgbClr val="006699"/>
          </a:solidFill>
          <a:ln w="9525" cap="flat" cmpd="sng" algn="ctr">
            <a:solidFill>
              <a:srgbClr val="00669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cxnSp>
        <p:nvCxnSpPr>
          <p:cNvPr id="4" name="Straight Connector 3"/>
          <p:cNvCxnSpPr/>
          <p:nvPr/>
        </p:nvCxnSpPr>
        <p:spPr>
          <a:xfrm>
            <a:off x="1619672" y="3356992"/>
            <a:ext cx="576064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8" name="Group 17"/>
          <p:cNvGrpSpPr/>
          <p:nvPr/>
        </p:nvGrpSpPr>
        <p:grpSpPr>
          <a:xfrm>
            <a:off x="7668344" y="5741382"/>
            <a:ext cx="1008112" cy="546698"/>
            <a:chOff x="7668344" y="5741382"/>
            <a:chExt cx="1008112" cy="546698"/>
          </a:xfrm>
        </p:grpSpPr>
        <p:grpSp>
          <p:nvGrpSpPr>
            <p:cNvPr id="19" name="Group 18"/>
            <p:cNvGrpSpPr/>
            <p:nvPr/>
          </p:nvGrpSpPr>
          <p:grpSpPr>
            <a:xfrm>
              <a:off x="7668344" y="5741382"/>
              <a:ext cx="792205" cy="546698"/>
              <a:chOff x="7668344" y="5741382"/>
              <a:chExt cx="792205" cy="546698"/>
            </a:xfrm>
          </p:grpSpPr>
          <p:sp>
            <p:nvSpPr>
              <p:cNvPr id="22" name="Action Button: Return 21">
                <a:hlinkClick r:id="rId3" action="ppaction://hlinksldjump" highlightClick="1"/>
              </p:cNvPr>
              <p:cNvSpPr/>
              <p:nvPr/>
            </p:nvSpPr>
            <p:spPr bwMode="auto">
              <a:xfrm>
                <a:off x="7909945" y="5741382"/>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23" name="TextBox 22">
                <a:hlinkClick r:id="" action="ppaction://noaction"/>
              </p:cNvPr>
              <p:cNvSpPr txBox="1"/>
              <p:nvPr/>
            </p:nvSpPr>
            <p:spPr>
              <a:xfrm>
                <a:off x="7668344" y="6034164"/>
                <a:ext cx="792205" cy="253916"/>
              </a:xfrm>
              <a:prstGeom prst="actionButtonReturn">
                <a:avLst/>
              </a:prstGeom>
              <a:noFill/>
            </p:spPr>
            <p:txBody>
              <a:bodyPr wrap="none" rtlCol="0">
                <a:spAutoFit/>
              </a:bodyPr>
              <a:lstStyle/>
              <a:p>
                <a:pPr algn="ctr"/>
                <a:r>
                  <a:rPr lang="en-US" sz="1050" i="1" dirty="0" smtClean="0"/>
                  <a:t>Objective 1</a:t>
                </a:r>
                <a:endParaRPr lang="en-US" sz="1050" i="1" dirty="0"/>
              </a:p>
            </p:txBody>
          </p:sp>
        </p:grpSp>
        <p:sp>
          <p:nvSpPr>
            <p:cNvPr id="21" name="Action Button: Home 20">
              <a:hlinkClick r:id="rId4" action="ppaction://hlinksldjump" highlightClick="1"/>
            </p:cNvPr>
            <p:cNvSpPr/>
            <p:nvPr/>
          </p:nvSpPr>
          <p:spPr bwMode="auto">
            <a:xfrm>
              <a:off x="8316416" y="5746132"/>
              <a:ext cx="360040" cy="288032"/>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
        <p:nvSpPr>
          <p:cNvPr id="24" name="Slide Number Placeholder 2"/>
          <p:cNvSpPr>
            <a:spLocks noGrp="1"/>
          </p:cNvSpPr>
          <p:nvPr>
            <p:ph type="sldNum" sz="quarter" idx="4294967295"/>
          </p:nvPr>
        </p:nvSpPr>
        <p:spPr>
          <a:xfrm>
            <a:off x="6553200" y="6356350"/>
            <a:ext cx="2133600" cy="365125"/>
          </a:xfrm>
        </p:spPr>
        <p:txBody>
          <a:bodyPr/>
          <a:lstStyle/>
          <a:p>
            <a:fld id="{418A78CD-E27B-441A-A2B1-21C1D5FFEB65}" type="slidenum">
              <a:rPr lang="en-US" sz="1200" smtClean="0">
                <a:solidFill>
                  <a:prstClr val="black"/>
                </a:solidFill>
                <a:latin typeface="Georgia" pitchFamily="18" charset="0"/>
              </a:rPr>
              <a:pPr/>
              <a:t>12</a:t>
            </a:fld>
            <a:endParaRPr lang="en-US" sz="1200" dirty="0">
              <a:solidFill>
                <a:prstClr val="black"/>
              </a:solidFill>
              <a:latin typeface="Georgia" pitchFamily="18" charset="0"/>
            </a:endParaRPr>
          </a:p>
        </p:txBody>
      </p:sp>
      <p:sp>
        <p:nvSpPr>
          <p:cNvPr id="25"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Tree>
    <p:extLst>
      <p:ext uri="{BB962C8B-B14F-4D97-AF65-F5344CB8AC3E}">
        <p14:creationId xmlns:p14="http://schemas.microsoft.com/office/powerpoint/2010/main" val="316662983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13</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p:txBody>
          <a:bodyPr>
            <a:normAutofit fontScale="85000" lnSpcReduction="20000"/>
          </a:bodyPr>
          <a:lstStyle/>
          <a:p>
            <a:r>
              <a:rPr lang="en-GB" dirty="0" smtClean="0"/>
              <a:t>Recommendations for political leadership</a:t>
            </a:r>
            <a:endParaRPr lang="en-GB" dirty="0"/>
          </a:p>
        </p:txBody>
      </p:sp>
      <p:sp>
        <p:nvSpPr>
          <p:cNvPr id="5" name="Text Placeholder 4"/>
          <p:cNvSpPr>
            <a:spLocks noGrp="1"/>
          </p:cNvSpPr>
          <p:nvPr>
            <p:ph type="body" sz="quarter" idx="11"/>
          </p:nvPr>
        </p:nvSpPr>
        <p:spPr>
          <a:xfrm>
            <a:off x="468313" y="1700808"/>
            <a:ext cx="8208143" cy="3240360"/>
          </a:xfrm>
        </p:spPr>
        <p:txBody>
          <a:bodyPr>
            <a:noAutofit/>
          </a:bodyPr>
          <a:lstStyle/>
          <a:p>
            <a:pPr algn="just">
              <a:spcAft>
                <a:spcPts val="600"/>
              </a:spcAft>
            </a:pPr>
            <a:r>
              <a:rPr lang="en-US" sz="2200" dirty="0" smtClean="0"/>
              <a:t>Stakeholders (e.g. technical experts, </a:t>
            </a:r>
            <a:r>
              <a:rPr lang="en-US" sz="2200" dirty="0"/>
              <a:t>petroleum and non-petroleum professional </a:t>
            </a:r>
            <a:r>
              <a:rPr lang="en-US" sz="2200" dirty="0" smtClean="0"/>
              <a:t>associations, and civil society) </a:t>
            </a:r>
            <a:r>
              <a:rPr lang="en-US" sz="2200" dirty="0"/>
              <a:t>can </a:t>
            </a:r>
            <a:r>
              <a:rPr lang="en-US" sz="2200" dirty="0" smtClean="0"/>
              <a:t>raise public awareness and </a:t>
            </a:r>
            <a:r>
              <a:rPr lang="en-US" sz="2200" dirty="0"/>
              <a:t>create political pressure for </a:t>
            </a:r>
            <a:r>
              <a:rPr lang="en-US" sz="2200" dirty="0" smtClean="0"/>
              <a:t>key decisions</a:t>
            </a:r>
            <a:endParaRPr lang="en-US" sz="2200" dirty="0"/>
          </a:p>
          <a:p>
            <a:pPr algn="just">
              <a:spcAft>
                <a:spcPts val="600"/>
              </a:spcAft>
            </a:pPr>
            <a:endParaRPr lang="en-US" sz="2200" dirty="0" smtClean="0"/>
          </a:p>
          <a:p>
            <a:pPr marL="0" indent="0" algn="just">
              <a:spcAft>
                <a:spcPts val="600"/>
              </a:spcAft>
              <a:buNone/>
            </a:pPr>
            <a:endParaRPr lang="en-US" sz="2200" dirty="0" smtClean="0"/>
          </a:p>
          <a:p>
            <a:pPr marL="0" indent="0" algn="just">
              <a:spcAft>
                <a:spcPts val="600"/>
              </a:spcAft>
              <a:buNone/>
            </a:pPr>
            <a:r>
              <a:rPr lang="en-US" sz="2200" dirty="0" smtClean="0"/>
              <a:t>But there are limits to what a grassroots initiative and public debate can do when leadership is missing</a:t>
            </a:r>
            <a:r>
              <a:rPr lang="is-IS" sz="2200" dirty="0" smtClean="0"/>
              <a:t>…</a:t>
            </a:r>
            <a:endParaRPr lang="en-US" sz="2200" dirty="0"/>
          </a:p>
        </p:txBody>
      </p:sp>
      <p:grpSp>
        <p:nvGrpSpPr>
          <p:cNvPr id="10" name="Group 9"/>
          <p:cNvGrpSpPr/>
          <p:nvPr/>
        </p:nvGrpSpPr>
        <p:grpSpPr>
          <a:xfrm>
            <a:off x="7668344" y="5741382"/>
            <a:ext cx="1008112" cy="546698"/>
            <a:chOff x="7668344" y="5741382"/>
            <a:chExt cx="1008112" cy="546698"/>
          </a:xfrm>
        </p:grpSpPr>
        <p:grpSp>
          <p:nvGrpSpPr>
            <p:cNvPr id="11" name="Group 10"/>
            <p:cNvGrpSpPr/>
            <p:nvPr/>
          </p:nvGrpSpPr>
          <p:grpSpPr>
            <a:xfrm>
              <a:off x="7668344" y="5741382"/>
              <a:ext cx="792205" cy="546698"/>
              <a:chOff x="7668344" y="5741382"/>
              <a:chExt cx="792205" cy="546698"/>
            </a:xfrm>
          </p:grpSpPr>
          <p:sp>
            <p:nvSpPr>
              <p:cNvPr id="13" name="Action Button: Return 12">
                <a:hlinkClick r:id="rId2" action="ppaction://hlinksldjump" highlightClick="1"/>
              </p:cNvPr>
              <p:cNvSpPr/>
              <p:nvPr/>
            </p:nvSpPr>
            <p:spPr bwMode="auto">
              <a:xfrm>
                <a:off x="7909945" y="5741382"/>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4" name="TextBox 13">
                <a:hlinkClick r:id="" action="ppaction://noaction"/>
              </p:cNvPr>
              <p:cNvSpPr txBox="1"/>
              <p:nvPr/>
            </p:nvSpPr>
            <p:spPr>
              <a:xfrm>
                <a:off x="7668344" y="6034164"/>
                <a:ext cx="792205" cy="253916"/>
              </a:xfrm>
              <a:prstGeom prst="actionButtonReturn">
                <a:avLst/>
              </a:prstGeom>
              <a:noFill/>
            </p:spPr>
            <p:txBody>
              <a:bodyPr wrap="none" rtlCol="0">
                <a:spAutoFit/>
              </a:bodyPr>
              <a:lstStyle/>
              <a:p>
                <a:pPr algn="ctr"/>
                <a:r>
                  <a:rPr lang="en-US" sz="1050" i="1" dirty="0" smtClean="0"/>
                  <a:t>Objective 1</a:t>
                </a:r>
                <a:endParaRPr lang="en-US" sz="1050" i="1" dirty="0"/>
              </a:p>
            </p:txBody>
          </p:sp>
        </p:grpSp>
        <p:sp>
          <p:nvSpPr>
            <p:cNvPr id="12" name="Action Button: Home 11">
              <a:hlinkClick r:id="rId3" action="ppaction://hlinksldjump" highlightClick="1"/>
            </p:cNvPr>
            <p:cNvSpPr/>
            <p:nvPr/>
          </p:nvSpPr>
          <p:spPr bwMode="auto">
            <a:xfrm>
              <a:off x="8316416" y="5746132"/>
              <a:ext cx="360040" cy="288032"/>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Tree>
    <p:extLst>
      <p:ext uri="{BB962C8B-B14F-4D97-AF65-F5344CB8AC3E}">
        <p14:creationId xmlns:p14="http://schemas.microsoft.com/office/powerpoint/2010/main" val="417215274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0">
            <a:hlinkClick r:id="rId2" action="ppaction://hlinksldjump"/>
          </p:cNvPr>
          <p:cNvSpPr/>
          <p:nvPr/>
        </p:nvSpPr>
        <p:spPr>
          <a:xfrm>
            <a:off x="673988" y="5049151"/>
            <a:ext cx="7776864" cy="540089"/>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algn="ctr"/>
            <a:r>
              <a:rPr lang="en-US" sz="2000" dirty="0" smtClean="0"/>
              <a:t>Recommendations for implementing national development plans</a:t>
            </a:r>
            <a:endParaRPr lang="en-US" sz="2000" dirty="0"/>
          </a:p>
        </p:txBody>
      </p:sp>
      <p:sp>
        <p:nvSpPr>
          <p:cNvPr id="14" name="Freeform 9"/>
          <p:cNvSpPr/>
          <p:nvPr/>
        </p:nvSpPr>
        <p:spPr>
          <a:xfrm>
            <a:off x="496515" y="260648"/>
            <a:ext cx="8035925" cy="792146"/>
          </a:xfrm>
          <a:prstGeom prst="roundRect">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algn="ctr"/>
            <a:r>
              <a:rPr lang="en-US" sz="2400" dirty="0">
                <a:latin typeface="+mj-lt"/>
                <a:cs typeface="Arial"/>
              </a:rPr>
              <a:t>Challenge 3</a:t>
            </a:r>
            <a:r>
              <a:rPr lang="en-US" sz="2400" dirty="0" smtClean="0">
                <a:latin typeface="+mj-lt"/>
                <a:cs typeface="Arial"/>
              </a:rPr>
              <a:t>: Implementing national development plans</a:t>
            </a:r>
            <a:endParaRPr lang="en-US" sz="2400" dirty="0">
              <a:latin typeface="+mj-lt"/>
            </a:endParaRPr>
          </a:p>
        </p:txBody>
      </p:sp>
      <p:cxnSp>
        <p:nvCxnSpPr>
          <p:cNvPr id="16" name="Straight Connector 15"/>
          <p:cNvCxnSpPr/>
          <p:nvPr/>
        </p:nvCxnSpPr>
        <p:spPr>
          <a:xfrm>
            <a:off x="468000" y="6310800"/>
            <a:ext cx="8208000" cy="0"/>
          </a:xfrm>
          <a:prstGeom prst="line">
            <a:avLst/>
          </a:prstGeom>
          <a:ln w="19050" cmpd="thickThi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3" name="Diagram 2"/>
          <p:cNvGraphicFramePr/>
          <p:nvPr>
            <p:extLst>
              <p:ext uri="{D42A27DB-BD31-4B8C-83A1-F6EECF244321}">
                <p14:modId xmlns:p14="http://schemas.microsoft.com/office/powerpoint/2010/main" val="1861576306"/>
              </p:ext>
            </p:extLst>
          </p:nvPr>
        </p:nvGraphicFramePr>
        <p:xfrm>
          <a:off x="251520" y="1212615"/>
          <a:ext cx="6919172" cy="37285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8" name="TextBox 17"/>
          <p:cNvSpPr txBox="1"/>
          <p:nvPr/>
        </p:nvSpPr>
        <p:spPr>
          <a:xfrm>
            <a:off x="6589879" y="1988840"/>
            <a:ext cx="2411759" cy="1323439"/>
          </a:xfrm>
          <a:prstGeom prst="rect">
            <a:avLst/>
          </a:prstGeom>
          <a:noFill/>
        </p:spPr>
        <p:txBody>
          <a:bodyPr wrap="square" rtlCol="0">
            <a:spAutoFit/>
          </a:bodyPr>
          <a:lstStyle/>
          <a:p>
            <a:pPr algn="ctr"/>
            <a:r>
              <a:rPr lang="en-US" sz="2000" b="1" dirty="0" smtClean="0">
                <a:latin typeface="Georgia" pitchFamily="18" charset="0"/>
              </a:rPr>
              <a:t>Implementation can be derailed by several factors</a:t>
            </a:r>
            <a:endParaRPr lang="en-US" sz="2000" b="1" dirty="0">
              <a:latin typeface="Georgia" pitchFamily="18" charset="0"/>
            </a:endParaRPr>
          </a:p>
        </p:txBody>
      </p:sp>
      <p:sp>
        <p:nvSpPr>
          <p:cNvPr id="21" name="Bent Arrow 20"/>
          <p:cNvSpPr/>
          <p:nvPr/>
        </p:nvSpPr>
        <p:spPr>
          <a:xfrm rot="10800000">
            <a:off x="7164288" y="3356992"/>
            <a:ext cx="753550" cy="565028"/>
          </a:xfrm>
          <a:prstGeom prst="bentArrow">
            <a:avLst/>
          </a:prstGeom>
          <a:solidFill>
            <a:schemeClr val="tx1">
              <a:lumMod val="50000"/>
              <a:lumOff val="50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endParaRPr>
          </a:p>
        </p:txBody>
      </p:sp>
      <p:grpSp>
        <p:nvGrpSpPr>
          <p:cNvPr id="19" name="Group 18"/>
          <p:cNvGrpSpPr/>
          <p:nvPr/>
        </p:nvGrpSpPr>
        <p:grpSpPr>
          <a:xfrm>
            <a:off x="7668344" y="5741382"/>
            <a:ext cx="1008112" cy="546698"/>
            <a:chOff x="7668344" y="5741382"/>
            <a:chExt cx="1008112" cy="546698"/>
          </a:xfrm>
        </p:grpSpPr>
        <p:grpSp>
          <p:nvGrpSpPr>
            <p:cNvPr id="20" name="Group 19"/>
            <p:cNvGrpSpPr/>
            <p:nvPr/>
          </p:nvGrpSpPr>
          <p:grpSpPr>
            <a:xfrm>
              <a:off x="7668344" y="5741382"/>
              <a:ext cx="792205" cy="546698"/>
              <a:chOff x="7668344" y="5741382"/>
              <a:chExt cx="792205" cy="546698"/>
            </a:xfrm>
          </p:grpSpPr>
          <p:sp>
            <p:nvSpPr>
              <p:cNvPr id="23" name="Action Button: Return 22">
                <a:hlinkClick r:id="rId8" action="ppaction://hlinksldjump" highlightClick="1"/>
              </p:cNvPr>
              <p:cNvSpPr/>
              <p:nvPr/>
            </p:nvSpPr>
            <p:spPr bwMode="auto">
              <a:xfrm>
                <a:off x="7909945" y="5741382"/>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24" name="TextBox 23">
                <a:hlinkClick r:id="" action="ppaction://noaction"/>
              </p:cNvPr>
              <p:cNvSpPr txBox="1"/>
              <p:nvPr/>
            </p:nvSpPr>
            <p:spPr>
              <a:xfrm>
                <a:off x="7668344" y="6034164"/>
                <a:ext cx="792205" cy="253916"/>
              </a:xfrm>
              <a:prstGeom prst="actionButtonReturn">
                <a:avLst/>
              </a:prstGeom>
              <a:noFill/>
            </p:spPr>
            <p:txBody>
              <a:bodyPr wrap="none" rtlCol="0">
                <a:spAutoFit/>
              </a:bodyPr>
              <a:lstStyle/>
              <a:p>
                <a:pPr algn="ctr"/>
                <a:r>
                  <a:rPr lang="en-US" sz="1050" i="1" dirty="0" smtClean="0"/>
                  <a:t>Objective 1</a:t>
                </a:r>
                <a:endParaRPr lang="en-US" sz="1050" i="1" dirty="0"/>
              </a:p>
            </p:txBody>
          </p:sp>
        </p:grpSp>
        <p:sp>
          <p:nvSpPr>
            <p:cNvPr id="22" name="Action Button: Home 21">
              <a:hlinkClick r:id="rId9" action="ppaction://hlinksldjump" highlightClick="1"/>
            </p:cNvPr>
            <p:cNvSpPr/>
            <p:nvPr/>
          </p:nvSpPr>
          <p:spPr bwMode="auto">
            <a:xfrm>
              <a:off x="8316416" y="5746132"/>
              <a:ext cx="360040" cy="288032"/>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
        <p:nvSpPr>
          <p:cNvPr id="25" name="Slide Number Placeholder 2"/>
          <p:cNvSpPr>
            <a:spLocks noGrp="1"/>
          </p:cNvSpPr>
          <p:nvPr>
            <p:ph type="sldNum" sz="quarter" idx="4294967295"/>
          </p:nvPr>
        </p:nvSpPr>
        <p:spPr>
          <a:xfrm>
            <a:off x="6553200" y="6356350"/>
            <a:ext cx="2133600" cy="365125"/>
          </a:xfrm>
        </p:spPr>
        <p:txBody>
          <a:bodyPr/>
          <a:lstStyle/>
          <a:p>
            <a:fld id="{418A78CD-E27B-441A-A2B1-21C1D5FFEB65}" type="slidenum">
              <a:rPr lang="en-US" sz="1200" smtClean="0">
                <a:solidFill>
                  <a:prstClr val="black"/>
                </a:solidFill>
                <a:latin typeface="Georgia" pitchFamily="18" charset="0"/>
              </a:rPr>
              <a:pPr/>
              <a:t>14</a:t>
            </a:fld>
            <a:endParaRPr lang="en-US" sz="1200" dirty="0">
              <a:solidFill>
                <a:prstClr val="black"/>
              </a:solidFill>
              <a:latin typeface="Georgia" pitchFamily="18" charset="0"/>
            </a:endParaRPr>
          </a:p>
        </p:txBody>
      </p:sp>
      <p:sp>
        <p:nvSpPr>
          <p:cNvPr id="26"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Tree>
    <p:extLst>
      <p:ext uri="{BB962C8B-B14F-4D97-AF65-F5344CB8AC3E}">
        <p14:creationId xmlns:p14="http://schemas.microsoft.com/office/powerpoint/2010/main" val="316142403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15</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p:txBody>
          <a:bodyPr>
            <a:normAutofit fontScale="85000" lnSpcReduction="20000"/>
          </a:bodyPr>
          <a:lstStyle/>
          <a:p>
            <a:r>
              <a:rPr lang="en-GB" dirty="0" smtClean="0"/>
              <a:t>Recommendations for implementing national plans</a:t>
            </a:r>
            <a:endParaRPr lang="en-GB" dirty="0"/>
          </a:p>
        </p:txBody>
      </p:sp>
      <p:sp>
        <p:nvSpPr>
          <p:cNvPr id="5" name="Text Placeholder 4"/>
          <p:cNvSpPr>
            <a:spLocks noGrp="1"/>
          </p:cNvSpPr>
          <p:nvPr>
            <p:ph type="body" sz="quarter" idx="11"/>
          </p:nvPr>
        </p:nvSpPr>
        <p:spPr>
          <a:xfrm>
            <a:off x="468313" y="1988840"/>
            <a:ext cx="8208143" cy="3168352"/>
          </a:xfrm>
        </p:spPr>
        <p:txBody>
          <a:bodyPr>
            <a:noAutofit/>
          </a:bodyPr>
          <a:lstStyle/>
          <a:p>
            <a:pPr lvl="0"/>
            <a:r>
              <a:rPr lang="en-GB" sz="2400" dirty="0" smtClean="0"/>
              <a:t>Link country’s oil development strategy to national vision</a:t>
            </a:r>
            <a:r>
              <a:rPr lang="en-GB" sz="2400" dirty="0"/>
              <a:t> </a:t>
            </a:r>
            <a:r>
              <a:rPr lang="en-GB" sz="2400" dirty="0" smtClean="0"/>
              <a:t>formed through cross-party consensus</a:t>
            </a:r>
          </a:p>
          <a:p>
            <a:pPr lvl="0">
              <a:lnSpc>
                <a:spcPct val="150000"/>
              </a:lnSpc>
            </a:pPr>
            <a:r>
              <a:rPr lang="en-GB" sz="2400" dirty="0"/>
              <a:t>I</a:t>
            </a:r>
            <a:r>
              <a:rPr lang="en-GB" sz="2400" dirty="0" smtClean="0"/>
              <a:t>nvolve </a:t>
            </a:r>
            <a:r>
              <a:rPr lang="en-GB" sz="2400" dirty="0"/>
              <a:t>civil-society groups </a:t>
            </a:r>
            <a:r>
              <a:rPr lang="en-GB" sz="2400" dirty="0" smtClean="0"/>
              <a:t>as a means of increasing </a:t>
            </a:r>
            <a:r>
              <a:rPr lang="en-GB" sz="2400" dirty="0"/>
              <a:t>accountability and </a:t>
            </a:r>
            <a:r>
              <a:rPr lang="en-GB" sz="2400" dirty="0" smtClean="0"/>
              <a:t>sharpening focus </a:t>
            </a:r>
            <a:r>
              <a:rPr lang="en-GB" sz="2400" dirty="0"/>
              <a:t>on long-term </a:t>
            </a:r>
            <a:r>
              <a:rPr lang="en-GB" sz="2400" dirty="0" smtClean="0"/>
              <a:t>issues</a:t>
            </a:r>
            <a:endParaRPr lang="en-US" sz="2400" dirty="0"/>
          </a:p>
          <a:p>
            <a:pPr>
              <a:lnSpc>
                <a:spcPct val="150000"/>
              </a:lnSpc>
            </a:pPr>
            <a:r>
              <a:rPr lang="en-GB" sz="2400" dirty="0" smtClean="0"/>
              <a:t>Create an institution to oversee implementation </a:t>
            </a:r>
          </a:p>
          <a:p>
            <a:pPr>
              <a:lnSpc>
                <a:spcPct val="150000"/>
              </a:lnSpc>
            </a:pPr>
            <a:r>
              <a:rPr lang="en-GB" sz="2400" dirty="0" smtClean="0"/>
              <a:t>Enact legislation to coordinate institutions</a:t>
            </a:r>
            <a:endParaRPr lang="en-US" sz="2400" dirty="0"/>
          </a:p>
        </p:txBody>
      </p:sp>
      <p:grpSp>
        <p:nvGrpSpPr>
          <p:cNvPr id="15" name="Group 14"/>
          <p:cNvGrpSpPr/>
          <p:nvPr/>
        </p:nvGrpSpPr>
        <p:grpSpPr>
          <a:xfrm>
            <a:off x="7668344" y="5741382"/>
            <a:ext cx="1008112" cy="546698"/>
            <a:chOff x="7668344" y="5741382"/>
            <a:chExt cx="1008112" cy="546698"/>
          </a:xfrm>
        </p:grpSpPr>
        <p:grpSp>
          <p:nvGrpSpPr>
            <p:cNvPr id="7" name="Group 6"/>
            <p:cNvGrpSpPr/>
            <p:nvPr/>
          </p:nvGrpSpPr>
          <p:grpSpPr>
            <a:xfrm>
              <a:off x="7668344" y="5741382"/>
              <a:ext cx="792205" cy="546698"/>
              <a:chOff x="7668344" y="5741382"/>
              <a:chExt cx="792205" cy="546698"/>
            </a:xfrm>
          </p:grpSpPr>
          <p:sp>
            <p:nvSpPr>
              <p:cNvPr id="13" name="Action Button: Return 12">
                <a:hlinkClick r:id="rId2" action="ppaction://hlinksldjump" highlightClick="1"/>
              </p:cNvPr>
              <p:cNvSpPr/>
              <p:nvPr/>
            </p:nvSpPr>
            <p:spPr bwMode="auto">
              <a:xfrm>
                <a:off x="7909945" y="5741382"/>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4" name="TextBox 13">
                <a:hlinkClick r:id="" action="ppaction://noaction"/>
              </p:cNvPr>
              <p:cNvSpPr txBox="1"/>
              <p:nvPr/>
            </p:nvSpPr>
            <p:spPr>
              <a:xfrm>
                <a:off x="7668344" y="6034164"/>
                <a:ext cx="792205" cy="253916"/>
              </a:xfrm>
              <a:prstGeom prst="actionButtonReturn">
                <a:avLst/>
              </a:prstGeom>
              <a:noFill/>
            </p:spPr>
            <p:txBody>
              <a:bodyPr wrap="none" rtlCol="0">
                <a:spAutoFit/>
              </a:bodyPr>
              <a:lstStyle/>
              <a:p>
                <a:pPr algn="ctr"/>
                <a:r>
                  <a:rPr lang="en-US" sz="1050" i="1" dirty="0" smtClean="0"/>
                  <a:t>Objective 1</a:t>
                </a:r>
                <a:endParaRPr lang="en-US" sz="1050" i="1" dirty="0"/>
              </a:p>
            </p:txBody>
          </p:sp>
        </p:grpSp>
        <p:sp>
          <p:nvSpPr>
            <p:cNvPr id="12" name="Action Button: Home 11">
              <a:hlinkClick r:id="rId3" action="ppaction://hlinksldjump" highlightClick="1"/>
            </p:cNvPr>
            <p:cNvSpPr/>
            <p:nvPr/>
          </p:nvSpPr>
          <p:spPr bwMode="auto">
            <a:xfrm>
              <a:off x="8316416" y="5746132"/>
              <a:ext cx="360040" cy="288032"/>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Tree>
    <p:extLst>
      <p:ext uri="{BB962C8B-B14F-4D97-AF65-F5344CB8AC3E}">
        <p14:creationId xmlns:p14="http://schemas.microsoft.com/office/powerpoint/2010/main" val="297120988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037687" y="100883"/>
            <a:ext cx="3274862" cy="3130846"/>
            <a:chOff x="2914789" y="0"/>
            <a:chExt cx="3525388" cy="3525388"/>
          </a:xfrm>
        </p:grpSpPr>
        <p:sp>
          <p:nvSpPr>
            <p:cNvPr id="3" name="Oval 2"/>
            <p:cNvSpPr/>
            <p:nvPr/>
          </p:nvSpPr>
          <p:spPr>
            <a:xfrm>
              <a:off x="2914789" y="0"/>
              <a:ext cx="3525388" cy="3525388"/>
            </a:xfrm>
            <a:prstGeom prst="ellipse">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4" name="Oval 4"/>
            <p:cNvSpPr/>
            <p:nvPr/>
          </p:nvSpPr>
          <p:spPr>
            <a:xfrm>
              <a:off x="3431070" y="516281"/>
              <a:ext cx="2492826" cy="249282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8100" tIns="38100" rIns="38100" bIns="38100" numCol="1" spcCol="1270" anchor="ctr" anchorCtr="0">
              <a:noAutofit/>
            </a:bodyPr>
            <a:lstStyle/>
            <a:p>
              <a:pPr lvl="0" algn="ctr" defTabSz="1333500">
                <a:lnSpc>
                  <a:spcPct val="90000"/>
                </a:lnSpc>
                <a:spcBef>
                  <a:spcPct val="0"/>
                </a:spcBef>
                <a:spcAft>
                  <a:spcPct val="35000"/>
                </a:spcAft>
              </a:pPr>
              <a:r>
                <a:rPr lang="en-US" sz="3000" kern="1200" dirty="0" smtClean="0"/>
                <a:t>Objective 2: Attract the most qualified investors for the long run</a:t>
              </a:r>
              <a:endParaRPr lang="en-US" sz="3000" kern="1200" dirty="0"/>
            </a:p>
          </p:txBody>
        </p:sp>
      </p:grpSp>
      <p:sp>
        <p:nvSpPr>
          <p:cNvPr id="5" name="Freeform 10">
            <a:hlinkClick r:id="rId2" action="ppaction://hlinksldjump"/>
          </p:cNvPr>
          <p:cNvSpPr/>
          <p:nvPr/>
        </p:nvSpPr>
        <p:spPr>
          <a:xfrm>
            <a:off x="601494" y="3969031"/>
            <a:ext cx="8147248" cy="684105"/>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defTabSz="1555750">
              <a:lnSpc>
                <a:spcPct val="90000"/>
              </a:lnSpc>
              <a:spcAft>
                <a:spcPct val="35000"/>
              </a:spcAft>
            </a:pPr>
            <a:r>
              <a:rPr lang="en-US" sz="2000" dirty="0"/>
              <a:t>Recommendations to attract well-established companies</a:t>
            </a:r>
            <a:endParaRPr lang="en-US" sz="2000" kern="1200" dirty="0"/>
          </a:p>
        </p:txBody>
      </p:sp>
      <p:sp>
        <p:nvSpPr>
          <p:cNvPr id="6" name="Freeform 10">
            <a:hlinkClick r:id="rId3" action="ppaction://hlinksldjump"/>
          </p:cNvPr>
          <p:cNvSpPr/>
          <p:nvPr/>
        </p:nvSpPr>
        <p:spPr>
          <a:xfrm>
            <a:off x="606628" y="4833127"/>
            <a:ext cx="8147248" cy="684105"/>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r>
              <a:rPr lang="en-US" sz="2000" dirty="0"/>
              <a:t>Recommendations </a:t>
            </a:r>
            <a:r>
              <a:rPr lang="en-US" sz="2000" dirty="0" smtClean="0"/>
              <a:t>for </a:t>
            </a:r>
            <a:r>
              <a:rPr lang="en-US" sz="2000" dirty="0"/>
              <a:t>the </a:t>
            </a:r>
            <a:r>
              <a:rPr lang="en-US" sz="2000" dirty="0" smtClean="0"/>
              <a:t>licensing </a:t>
            </a:r>
            <a:r>
              <a:rPr lang="en-US" sz="2000" dirty="0"/>
              <a:t>format</a:t>
            </a:r>
            <a:endParaRPr lang="en-GB" sz="2000" dirty="0">
              <a:cs typeface="Arial"/>
            </a:endParaRPr>
          </a:p>
        </p:txBody>
      </p:sp>
      <p:sp>
        <p:nvSpPr>
          <p:cNvPr id="17" name="Slide Number Placeholder 2"/>
          <p:cNvSpPr>
            <a:spLocks noGrp="1"/>
          </p:cNvSpPr>
          <p:nvPr>
            <p:ph type="sldNum" sz="quarter" idx="4294967295"/>
          </p:nvPr>
        </p:nvSpPr>
        <p:spPr>
          <a:xfrm>
            <a:off x="6553200" y="6356350"/>
            <a:ext cx="2133600" cy="365125"/>
          </a:xfrm>
        </p:spPr>
        <p:txBody>
          <a:bodyPr/>
          <a:lstStyle/>
          <a:p>
            <a:fld id="{418A78CD-E27B-441A-A2B1-21C1D5FFEB65}" type="slidenum">
              <a:rPr lang="en-US" sz="1200" smtClean="0">
                <a:solidFill>
                  <a:prstClr val="black"/>
                </a:solidFill>
                <a:latin typeface="Georgia" pitchFamily="18" charset="0"/>
              </a:rPr>
              <a:pPr/>
              <a:t>16</a:t>
            </a:fld>
            <a:endParaRPr lang="en-US" sz="1200" dirty="0">
              <a:solidFill>
                <a:prstClr val="black"/>
              </a:solidFill>
              <a:latin typeface="Georgia" pitchFamily="18" charset="0"/>
            </a:endParaRPr>
          </a:p>
        </p:txBody>
      </p:sp>
      <p:cxnSp>
        <p:nvCxnSpPr>
          <p:cNvPr id="18" name="Straight Connector 17"/>
          <p:cNvCxnSpPr/>
          <p:nvPr/>
        </p:nvCxnSpPr>
        <p:spPr>
          <a:xfrm>
            <a:off x="468000" y="6310800"/>
            <a:ext cx="8208000" cy="0"/>
          </a:xfrm>
          <a:prstGeom prst="line">
            <a:avLst/>
          </a:prstGeom>
          <a:ln w="19050" cmpd="thickThi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20" name="Action Button: Home 19">
            <a:hlinkClick r:id="rId4" action="ppaction://hlinksldjump" highlightClick="1"/>
          </p:cNvPr>
          <p:cNvSpPr/>
          <p:nvPr/>
        </p:nvSpPr>
        <p:spPr bwMode="auto">
          <a:xfrm>
            <a:off x="8317754" y="5937346"/>
            <a:ext cx="360040" cy="288032"/>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Tree>
    <p:extLst>
      <p:ext uri="{BB962C8B-B14F-4D97-AF65-F5344CB8AC3E}">
        <p14:creationId xmlns:p14="http://schemas.microsoft.com/office/powerpoint/2010/main" val="293125024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4"/>
          <p:cNvSpPr txBox="1">
            <a:spLocks/>
          </p:cNvSpPr>
          <p:nvPr/>
        </p:nvSpPr>
        <p:spPr bwMode="auto">
          <a:xfrm>
            <a:off x="899592" y="1772816"/>
            <a:ext cx="3355405" cy="100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Times" charset="0"/>
              <a:buChar char="•"/>
              <a:defRPr sz="2400">
                <a:solidFill>
                  <a:srgbClr val="006699"/>
                </a:solidFill>
                <a:latin typeface="+mn-lt"/>
                <a:ea typeface="ＭＳ Ｐゴシック" charset="0"/>
                <a:cs typeface="Geneva" charset="0"/>
              </a:defRPr>
            </a:lvl1pPr>
            <a:lvl2pPr marL="742950" indent="-285750" algn="l" rtl="0" eaLnBrk="0" fontAlgn="base" hangingPunct="0">
              <a:spcBef>
                <a:spcPct val="20000"/>
              </a:spcBef>
              <a:spcAft>
                <a:spcPct val="0"/>
              </a:spcAft>
              <a:buChar char="–"/>
              <a:defRPr sz="2000">
                <a:solidFill>
                  <a:srgbClr val="006699"/>
                </a:solidFill>
                <a:latin typeface="+mn-lt"/>
                <a:ea typeface="Geneva" charset="-128"/>
                <a:cs typeface="Geneva" charset="0"/>
              </a:defRPr>
            </a:lvl2pPr>
            <a:lvl3pPr marL="1143000" indent="-228600" algn="l" rtl="0" eaLnBrk="0" fontAlgn="base" hangingPunct="0">
              <a:spcBef>
                <a:spcPct val="20000"/>
              </a:spcBef>
              <a:spcAft>
                <a:spcPct val="0"/>
              </a:spcAft>
              <a:buChar char="•"/>
              <a:defRPr sz="2400">
                <a:solidFill>
                  <a:schemeClr val="tx1"/>
                </a:solidFill>
                <a:latin typeface="+mn-lt"/>
                <a:ea typeface="Geneva" charset="-128"/>
                <a:cs typeface="Geneva" charset="0"/>
              </a:defRPr>
            </a:lvl3pPr>
            <a:lvl4pPr marL="1600200" indent="-228600" algn="l" rtl="0" eaLnBrk="0" fontAlgn="base" hangingPunct="0">
              <a:spcBef>
                <a:spcPct val="20000"/>
              </a:spcBef>
              <a:spcAft>
                <a:spcPct val="0"/>
              </a:spcAft>
              <a:buChar char="–"/>
              <a:defRPr sz="2000">
                <a:solidFill>
                  <a:schemeClr val="tx1"/>
                </a:solidFill>
                <a:latin typeface="+mn-lt"/>
                <a:ea typeface="Geneva" charset="-128"/>
                <a:cs typeface="Geneva" charset="0"/>
              </a:defRPr>
            </a:lvl4pPr>
            <a:lvl5pPr marL="2057400" indent="-228600" algn="l" rtl="0" eaLnBrk="0" fontAlgn="base" hangingPunct="0">
              <a:spcBef>
                <a:spcPct val="20000"/>
              </a:spcBef>
              <a:spcAft>
                <a:spcPct val="0"/>
              </a:spcAft>
              <a:buChar char="»"/>
              <a:defRPr sz="2000">
                <a:solidFill>
                  <a:schemeClr val="tx1"/>
                </a:solidFill>
                <a:latin typeface="+mn-lt"/>
                <a:ea typeface="Geneva" charset="-128"/>
                <a:cs typeface="Geneva" charset="0"/>
              </a:defRPr>
            </a:lvl5pPr>
            <a:lvl6pPr marL="2514600" indent="-228600" algn="l" rtl="0" fontAlgn="base">
              <a:spcBef>
                <a:spcPct val="20000"/>
              </a:spcBef>
              <a:spcAft>
                <a:spcPct val="0"/>
              </a:spcAft>
              <a:buChar char="»"/>
              <a:defRPr sz="2000">
                <a:solidFill>
                  <a:schemeClr val="tx1"/>
                </a:solidFill>
                <a:latin typeface="+mn-lt"/>
                <a:ea typeface="Geneva" charset="-128"/>
              </a:defRPr>
            </a:lvl6pPr>
            <a:lvl7pPr marL="2971800" indent="-228600" algn="l" rtl="0" fontAlgn="base">
              <a:spcBef>
                <a:spcPct val="20000"/>
              </a:spcBef>
              <a:spcAft>
                <a:spcPct val="0"/>
              </a:spcAft>
              <a:buChar char="»"/>
              <a:defRPr sz="2000">
                <a:solidFill>
                  <a:schemeClr val="tx1"/>
                </a:solidFill>
                <a:latin typeface="+mn-lt"/>
                <a:ea typeface="Geneva" charset="-128"/>
              </a:defRPr>
            </a:lvl7pPr>
            <a:lvl8pPr marL="3429000" indent="-228600" algn="l" rtl="0" fontAlgn="base">
              <a:spcBef>
                <a:spcPct val="20000"/>
              </a:spcBef>
              <a:spcAft>
                <a:spcPct val="0"/>
              </a:spcAft>
              <a:buChar char="»"/>
              <a:defRPr sz="2000">
                <a:solidFill>
                  <a:schemeClr val="tx1"/>
                </a:solidFill>
                <a:latin typeface="+mn-lt"/>
                <a:ea typeface="Geneva" charset="-128"/>
              </a:defRPr>
            </a:lvl8pPr>
            <a:lvl9pPr marL="3886200" indent="-228600" algn="l" rtl="0" fontAlgn="base">
              <a:spcBef>
                <a:spcPct val="20000"/>
              </a:spcBef>
              <a:spcAft>
                <a:spcPct val="0"/>
              </a:spcAft>
              <a:buChar char="»"/>
              <a:defRPr sz="2000">
                <a:solidFill>
                  <a:schemeClr val="tx1"/>
                </a:solidFill>
                <a:latin typeface="+mn-lt"/>
                <a:ea typeface="Geneva" charset="-128"/>
              </a:defRPr>
            </a:lvl9pPr>
          </a:lstStyle>
          <a:p>
            <a:pPr marL="0" indent="0" algn="ctr">
              <a:buNone/>
            </a:pPr>
            <a:r>
              <a:rPr lang="en-US" sz="1800" dirty="0" smtClean="0"/>
              <a:t>Political Stability</a:t>
            </a:r>
          </a:p>
          <a:p>
            <a:pPr marL="0" indent="0" algn="ctr">
              <a:buNone/>
            </a:pPr>
            <a:r>
              <a:rPr lang="en-US" sz="1800" dirty="0" smtClean="0"/>
              <a:t>Geological data/Prospectivity</a:t>
            </a:r>
          </a:p>
        </p:txBody>
      </p:sp>
      <p:sp>
        <p:nvSpPr>
          <p:cNvPr id="4" name="Content Placeholder 4"/>
          <p:cNvSpPr txBox="1">
            <a:spLocks/>
          </p:cNvSpPr>
          <p:nvPr/>
        </p:nvSpPr>
        <p:spPr bwMode="auto">
          <a:xfrm>
            <a:off x="4788024" y="1700808"/>
            <a:ext cx="3168351" cy="100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Times" charset="0"/>
              <a:buChar char="•"/>
              <a:defRPr sz="2400">
                <a:solidFill>
                  <a:srgbClr val="006699"/>
                </a:solidFill>
                <a:latin typeface="+mn-lt"/>
                <a:ea typeface="ＭＳ Ｐゴシック" charset="0"/>
                <a:cs typeface="Geneva" charset="0"/>
              </a:defRPr>
            </a:lvl1pPr>
            <a:lvl2pPr marL="742950" indent="-285750" algn="l" rtl="0" eaLnBrk="0" fontAlgn="base" hangingPunct="0">
              <a:spcBef>
                <a:spcPct val="20000"/>
              </a:spcBef>
              <a:spcAft>
                <a:spcPct val="0"/>
              </a:spcAft>
              <a:buChar char="–"/>
              <a:defRPr sz="2000">
                <a:solidFill>
                  <a:srgbClr val="006699"/>
                </a:solidFill>
                <a:latin typeface="+mn-lt"/>
                <a:ea typeface="Geneva" charset="-128"/>
                <a:cs typeface="Geneva" charset="0"/>
              </a:defRPr>
            </a:lvl2pPr>
            <a:lvl3pPr marL="1143000" indent="-228600" algn="l" rtl="0" eaLnBrk="0" fontAlgn="base" hangingPunct="0">
              <a:spcBef>
                <a:spcPct val="20000"/>
              </a:spcBef>
              <a:spcAft>
                <a:spcPct val="0"/>
              </a:spcAft>
              <a:buChar char="•"/>
              <a:defRPr sz="2400">
                <a:solidFill>
                  <a:schemeClr val="tx1"/>
                </a:solidFill>
                <a:latin typeface="+mn-lt"/>
                <a:ea typeface="Geneva" charset="-128"/>
                <a:cs typeface="Geneva" charset="0"/>
              </a:defRPr>
            </a:lvl3pPr>
            <a:lvl4pPr marL="1600200" indent="-228600" algn="l" rtl="0" eaLnBrk="0" fontAlgn="base" hangingPunct="0">
              <a:spcBef>
                <a:spcPct val="20000"/>
              </a:spcBef>
              <a:spcAft>
                <a:spcPct val="0"/>
              </a:spcAft>
              <a:buChar char="–"/>
              <a:defRPr sz="2000">
                <a:solidFill>
                  <a:schemeClr val="tx1"/>
                </a:solidFill>
                <a:latin typeface="+mn-lt"/>
                <a:ea typeface="Geneva" charset="-128"/>
                <a:cs typeface="Geneva" charset="0"/>
              </a:defRPr>
            </a:lvl4pPr>
            <a:lvl5pPr marL="2057400" indent="-228600" algn="l" rtl="0" eaLnBrk="0" fontAlgn="base" hangingPunct="0">
              <a:spcBef>
                <a:spcPct val="20000"/>
              </a:spcBef>
              <a:spcAft>
                <a:spcPct val="0"/>
              </a:spcAft>
              <a:buChar char="»"/>
              <a:defRPr sz="2000">
                <a:solidFill>
                  <a:schemeClr val="tx1"/>
                </a:solidFill>
                <a:latin typeface="+mn-lt"/>
                <a:ea typeface="Geneva" charset="-128"/>
                <a:cs typeface="Geneva" charset="0"/>
              </a:defRPr>
            </a:lvl5pPr>
            <a:lvl6pPr marL="2514600" indent="-228600" algn="l" rtl="0" fontAlgn="base">
              <a:spcBef>
                <a:spcPct val="20000"/>
              </a:spcBef>
              <a:spcAft>
                <a:spcPct val="0"/>
              </a:spcAft>
              <a:buChar char="»"/>
              <a:defRPr sz="2000">
                <a:solidFill>
                  <a:schemeClr val="tx1"/>
                </a:solidFill>
                <a:latin typeface="+mn-lt"/>
                <a:ea typeface="Geneva" charset="-128"/>
              </a:defRPr>
            </a:lvl6pPr>
            <a:lvl7pPr marL="2971800" indent="-228600" algn="l" rtl="0" fontAlgn="base">
              <a:spcBef>
                <a:spcPct val="20000"/>
              </a:spcBef>
              <a:spcAft>
                <a:spcPct val="0"/>
              </a:spcAft>
              <a:buChar char="»"/>
              <a:defRPr sz="2000">
                <a:solidFill>
                  <a:schemeClr val="tx1"/>
                </a:solidFill>
                <a:latin typeface="+mn-lt"/>
                <a:ea typeface="Geneva" charset="-128"/>
              </a:defRPr>
            </a:lvl7pPr>
            <a:lvl8pPr marL="3429000" indent="-228600" algn="l" rtl="0" fontAlgn="base">
              <a:spcBef>
                <a:spcPct val="20000"/>
              </a:spcBef>
              <a:spcAft>
                <a:spcPct val="0"/>
              </a:spcAft>
              <a:buChar char="»"/>
              <a:defRPr sz="2000">
                <a:solidFill>
                  <a:schemeClr val="tx1"/>
                </a:solidFill>
                <a:latin typeface="+mn-lt"/>
                <a:ea typeface="Geneva" charset="-128"/>
              </a:defRPr>
            </a:lvl8pPr>
            <a:lvl9pPr marL="3886200" indent="-228600" algn="l" rtl="0" fontAlgn="base">
              <a:spcBef>
                <a:spcPct val="20000"/>
              </a:spcBef>
              <a:spcAft>
                <a:spcPct val="0"/>
              </a:spcAft>
              <a:buChar char="»"/>
              <a:defRPr sz="2000">
                <a:solidFill>
                  <a:schemeClr val="tx1"/>
                </a:solidFill>
                <a:latin typeface="+mn-lt"/>
                <a:ea typeface="Geneva" charset="-128"/>
              </a:defRPr>
            </a:lvl9pPr>
          </a:lstStyle>
          <a:p>
            <a:pPr marL="0" indent="0" algn="ctr">
              <a:buNone/>
            </a:pPr>
            <a:r>
              <a:rPr lang="en-US" sz="1800" dirty="0" smtClean="0"/>
              <a:t>Sanctions/war</a:t>
            </a:r>
          </a:p>
          <a:p>
            <a:pPr marL="0" indent="0" algn="ctr">
              <a:buNone/>
            </a:pPr>
            <a:r>
              <a:rPr lang="en-US" sz="1800" dirty="0" smtClean="0"/>
              <a:t>Poor knowledge of the geological basin</a:t>
            </a:r>
          </a:p>
          <a:p>
            <a:pPr marL="0" indent="0" algn="ctr">
              <a:buNone/>
            </a:pPr>
            <a:endParaRPr lang="en-US" sz="1800" dirty="0"/>
          </a:p>
          <a:p>
            <a:pPr marL="0" indent="0" algn="ctr">
              <a:buNone/>
            </a:pPr>
            <a:endParaRPr lang="en-US" sz="1800" dirty="0" smtClean="0"/>
          </a:p>
          <a:p>
            <a:pPr marL="0" indent="0" algn="ctr">
              <a:buNone/>
            </a:pPr>
            <a:endParaRPr lang="en-US" sz="1800" dirty="0"/>
          </a:p>
          <a:p>
            <a:pPr marL="0" indent="0" algn="ctr">
              <a:buNone/>
            </a:pPr>
            <a:endParaRPr lang="en-US" sz="1800" dirty="0" smtClean="0"/>
          </a:p>
        </p:txBody>
      </p:sp>
      <p:sp>
        <p:nvSpPr>
          <p:cNvPr id="6" name="Content Placeholder 4"/>
          <p:cNvSpPr txBox="1">
            <a:spLocks/>
          </p:cNvSpPr>
          <p:nvPr/>
        </p:nvSpPr>
        <p:spPr bwMode="auto">
          <a:xfrm>
            <a:off x="1014638" y="3861048"/>
            <a:ext cx="3168351" cy="720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Times" charset="0"/>
              <a:buChar char="•"/>
              <a:defRPr sz="2400">
                <a:solidFill>
                  <a:srgbClr val="006699"/>
                </a:solidFill>
                <a:latin typeface="+mn-lt"/>
                <a:ea typeface="ＭＳ Ｐゴシック" charset="0"/>
                <a:cs typeface="Geneva" charset="0"/>
              </a:defRPr>
            </a:lvl1pPr>
            <a:lvl2pPr marL="742950" indent="-285750" algn="l" rtl="0" eaLnBrk="0" fontAlgn="base" hangingPunct="0">
              <a:spcBef>
                <a:spcPct val="20000"/>
              </a:spcBef>
              <a:spcAft>
                <a:spcPct val="0"/>
              </a:spcAft>
              <a:buChar char="–"/>
              <a:defRPr sz="2000">
                <a:solidFill>
                  <a:srgbClr val="006699"/>
                </a:solidFill>
                <a:latin typeface="+mn-lt"/>
                <a:ea typeface="Geneva" charset="-128"/>
                <a:cs typeface="Geneva" charset="0"/>
              </a:defRPr>
            </a:lvl2pPr>
            <a:lvl3pPr marL="1143000" indent="-228600" algn="l" rtl="0" eaLnBrk="0" fontAlgn="base" hangingPunct="0">
              <a:spcBef>
                <a:spcPct val="20000"/>
              </a:spcBef>
              <a:spcAft>
                <a:spcPct val="0"/>
              </a:spcAft>
              <a:buChar char="•"/>
              <a:defRPr sz="2400">
                <a:solidFill>
                  <a:schemeClr val="tx1"/>
                </a:solidFill>
                <a:latin typeface="+mn-lt"/>
                <a:ea typeface="Geneva" charset="-128"/>
                <a:cs typeface="Geneva" charset="0"/>
              </a:defRPr>
            </a:lvl3pPr>
            <a:lvl4pPr marL="1600200" indent="-228600" algn="l" rtl="0" eaLnBrk="0" fontAlgn="base" hangingPunct="0">
              <a:spcBef>
                <a:spcPct val="20000"/>
              </a:spcBef>
              <a:spcAft>
                <a:spcPct val="0"/>
              </a:spcAft>
              <a:buChar char="–"/>
              <a:defRPr sz="2000">
                <a:solidFill>
                  <a:schemeClr val="tx1"/>
                </a:solidFill>
                <a:latin typeface="+mn-lt"/>
                <a:ea typeface="Geneva" charset="-128"/>
                <a:cs typeface="Geneva" charset="0"/>
              </a:defRPr>
            </a:lvl4pPr>
            <a:lvl5pPr marL="2057400" indent="-228600" algn="l" rtl="0" eaLnBrk="0" fontAlgn="base" hangingPunct="0">
              <a:spcBef>
                <a:spcPct val="20000"/>
              </a:spcBef>
              <a:spcAft>
                <a:spcPct val="0"/>
              </a:spcAft>
              <a:buChar char="»"/>
              <a:defRPr sz="2000">
                <a:solidFill>
                  <a:schemeClr val="tx1"/>
                </a:solidFill>
                <a:latin typeface="+mn-lt"/>
                <a:ea typeface="Geneva" charset="-128"/>
                <a:cs typeface="Geneva" charset="0"/>
              </a:defRPr>
            </a:lvl5pPr>
            <a:lvl6pPr marL="2514600" indent="-228600" algn="l" rtl="0" fontAlgn="base">
              <a:spcBef>
                <a:spcPct val="20000"/>
              </a:spcBef>
              <a:spcAft>
                <a:spcPct val="0"/>
              </a:spcAft>
              <a:buChar char="»"/>
              <a:defRPr sz="2000">
                <a:solidFill>
                  <a:schemeClr val="tx1"/>
                </a:solidFill>
                <a:latin typeface="+mn-lt"/>
                <a:ea typeface="Geneva" charset="-128"/>
              </a:defRPr>
            </a:lvl6pPr>
            <a:lvl7pPr marL="2971800" indent="-228600" algn="l" rtl="0" fontAlgn="base">
              <a:spcBef>
                <a:spcPct val="20000"/>
              </a:spcBef>
              <a:spcAft>
                <a:spcPct val="0"/>
              </a:spcAft>
              <a:buChar char="»"/>
              <a:defRPr sz="2000">
                <a:solidFill>
                  <a:schemeClr val="tx1"/>
                </a:solidFill>
                <a:latin typeface="+mn-lt"/>
                <a:ea typeface="Geneva" charset="-128"/>
              </a:defRPr>
            </a:lvl7pPr>
            <a:lvl8pPr marL="3429000" indent="-228600" algn="l" rtl="0" fontAlgn="base">
              <a:spcBef>
                <a:spcPct val="20000"/>
              </a:spcBef>
              <a:spcAft>
                <a:spcPct val="0"/>
              </a:spcAft>
              <a:buChar char="»"/>
              <a:defRPr sz="2000">
                <a:solidFill>
                  <a:schemeClr val="tx1"/>
                </a:solidFill>
                <a:latin typeface="+mn-lt"/>
                <a:ea typeface="Geneva" charset="-128"/>
              </a:defRPr>
            </a:lvl8pPr>
            <a:lvl9pPr marL="3886200" indent="-228600" algn="l" rtl="0" fontAlgn="base">
              <a:spcBef>
                <a:spcPct val="20000"/>
              </a:spcBef>
              <a:spcAft>
                <a:spcPct val="0"/>
              </a:spcAft>
              <a:buChar char="»"/>
              <a:defRPr sz="2000">
                <a:solidFill>
                  <a:schemeClr val="tx1"/>
                </a:solidFill>
                <a:latin typeface="+mn-lt"/>
                <a:ea typeface="Geneva" charset="-128"/>
              </a:defRPr>
            </a:lvl9pPr>
          </a:lstStyle>
          <a:p>
            <a:pPr marL="0" indent="0" algn="ctr">
              <a:buNone/>
            </a:pPr>
            <a:r>
              <a:rPr lang="en-US" sz="1800" dirty="0" smtClean="0"/>
              <a:t>Attractive to larger, more established companies</a:t>
            </a:r>
          </a:p>
        </p:txBody>
      </p:sp>
      <p:sp>
        <p:nvSpPr>
          <p:cNvPr id="7" name="Content Placeholder 4"/>
          <p:cNvSpPr txBox="1">
            <a:spLocks/>
          </p:cNvSpPr>
          <p:nvPr/>
        </p:nvSpPr>
        <p:spPr bwMode="auto">
          <a:xfrm>
            <a:off x="5259593" y="3717032"/>
            <a:ext cx="2297221" cy="1059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Times" charset="0"/>
              <a:buChar char="•"/>
              <a:defRPr sz="2400">
                <a:solidFill>
                  <a:srgbClr val="006699"/>
                </a:solidFill>
                <a:latin typeface="+mn-lt"/>
                <a:ea typeface="ＭＳ Ｐゴシック" charset="0"/>
                <a:cs typeface="Geneva" charset="0"/>
              </a:defRPr>
            </a:lvl1pPr>
            <a:lvl2pPr marL="742950" indent="-285750" algn="l" rtl="0" eaLnBrk="0" fontAlgn="base" hangingPunct="0">
              <a:spcBef>
                <a:spcPct val="20000"/>
              </a:spcBef>
              <a:spcAft>
                <a:spcPct val="0"/>
              </a:spcAft>
              <a:buChar char="–"/>
              <a:defRPr sz="2000">
                <a:solidFill>
                  <a:srgbClr val="006699"/>
                </a:solidFill>
                <a:latin typeface="+mn-lt"/>
                <a:ea typeface="Geneva" charset="-128"/>
                <a:cs typeface="Geneva" charset="0"/>
              </a:defRPr>
            </a:lvl2pPr>
            <a:lvl3pPr marL="1143000" indent="-228600" algn="l" rtl="0" eaLnBrk="0" fontAlgn="base" hangingPunct="0">
              <a:spcBef>
                <a:spcPct val="20000"/>
              </a:spcBef>
              <a:spcAft>
                <a:spcPct val="0"/>
              </a:spcAft>
              <a:buChar char="•"/>
              <a:defRPr sz="2400">
                <a:solidFill>
                  <a:schemeClr val="tx1"/>
                </a:solidFill>
                <a:latin typeface="+mn-lt"/>
                <a:ea typeface="Geneva" charset="-128"/>
                <a:cs typeface="Geneva" charset="0"/>
              </a:defRPr>
            </a:lvl3pPr>
            <a:lvl4pPr marL="1600200" indent="-228600" algn="l" rtl="0" eaLnBrk="0" fontAlgn="base" hangingPunct="0">
              <a:spcBef>
                <a:spcPct val="20000"/>
              </a:spcBef>
              <a:spcAft>
                <a:spcPct val="0"/>
              </a:spcAft>
              <a:buChar char="–"/>
              <a:defRPr sz="2000">
                <a:solidFill>
                  <a:schemeClr val="tx1"/>
                </a:solidFill>
                <a:latin typeface="+mn-lt"/>
                <a:ea typeface="Geneva" charset="-128"/>
                <a:cs typeface="Geneva" charset="0"/>
              </a:defRPr>
            </a:lvl4pPr>
            <a:lvl5pPr marL="2057400" indent="-228600" algn="l" rtl="0" eaLnBrk="0" fontAlgn="base" hangingPunct="0">
              <a:spcBef>
                <a:spcPct val="20000"/>
              </a:spcBef>
              <a:spcAft>
                <a:spcPct val="0"/>
              </a:spcAft>
              <a:buChar char="»"/>
              <a:defRPr sz="2000">
                <a:solidFill>
                  <a:schemeClr val="tx1"/>
                </a:solidFill>
                <a:latin typeface="+mn-lt"/>
                <a:ea typeface="Geneva" charset="-128"/>
                <a:cs typeface="Geneva" charset="0"/>
              </a:defRPr>
            </a:lvl5pPr>
            <a:lvl6pPr marL="2514600" indent="-228600" algn="l" rtl="0" fontAlgn="base">
              <a:spcBef>
                <a:spcPct val="20000"/>
              </a:spcBef>
              <a:spcAft>
                <a:spcPct val="0"/>
              </a:spcAft>
              <a:buChar char="»"/>
              <a:defRPr sz="2000">
                <a:solidFill>
                  <a:schemeClr val="tx1"/>
                </a:solidFill>
                <a:latin typeface="+mn-lt"/>
                <a:ea typeface="Geneva" charset="-128"/>
              </a:defRPr>
            </a:lvl6pPr>
            <a:lvl7pPr marL="2971800" indent="-228600" algn="l" rtl="0" fontAlgn="base">
              <a:spcBef>
                <a:spcPct val="20000"/>
              </a:spcBef>
              <a:spcAft>
                <a:spcPct val="0"/>
              </a:spcAft>
              <a:buChar char="»"/>
              <a:defRPr sz="2000">
                <a:solidFill>
                  <a:schemeClr val="tx1"/>
                </a:solidFill>
                <a:latin typeface="+mn-lt"/>
                <a:ea typeface="Geneva" charset="-128"/>
              </a:defRPr>
            </a:lvl7pPr>
            <a:lvl8pPr marL="3429000" indent="-228600" algn="l" rtl="0" fontAlgn="base">
              <a:spcBef>
                <a:spcPct val="20000"/>
              </a:spcBef>
              <a:spcAft>
                <a:spcPct val="0"/>
              </a:spcAft>
              <a:buChar char="»"/>
              <a:defRPr sz="2000">
                <a:solidFill>
                  <a:schemeClr val="tx1"/>
                </a:solidFill>
                <a:latin typeface="+mn-lt"/>
                <a:ea typeface="Geneva" charset="-128"/>
              </a:defRPr>
            </a:lvl8pPr>
            <a:lvl9pPr marL="3886200" indent="-228600" algn="l" rtl="0" fontAlgn="base">
              <a:spcBef>
                <a:spcPct val="20000"/>
              </a:spcBef>
              <a:spcAft>
                <a:spcPct val="0"/>
              </a:spcAft>
              <a:buChar char="»"/>
              <a:defRPr sz="2000">
                <a:solidFill>
                  <a:schemeClr val="tx1"/>
                </a:solidFill>
                <a:latin typeface="+mn-lt"/>
                <a:ea typeface="Geneva" charset="-128"/>
              </a:defRPr>
            </a:lvl9pPr>
          </a:lstStyle>
          <a:p>
            <a:pPr marL="0" indent="0" algn="ctr">
              <a:buNone/>
            </a:pPr>
            <a:r>
              <a:rPr lang="en-US" sz="1800" dirty="0" smtClean="0"/>
              <a:t>Attractive to smaller</a:t>
            </a:r>
            <a:r>
              <a:rPr lang="en-US" sz="1800" dirty="0"/>
              <a:t> </a:t>
            </a:r>
            <a:r>
              <a:rPr lang="en-US" sz="1800" dirty="0" smtClean="0"/>
              <a:t>and less qualified companies</a:t>
            </a:r>
          </a:p>
        </p:txBody>
      </p:sp>
      <p:sp>
        <p:nvSpPr>
          <p:cNvPr id="8" name="Down Arrow 7"/>
          <p:cNvSpPr/>
          <p:nvPr/>
        </p:nvSpPr>
        <p:spPr bwMode="auto">
          <a:xfrm>
            <a:off x="5969123" y="2780928"/>
            <a:ext cx="792088" cy="864096"/>
          </a:xfrm>
          <a:prstGeom prst="downArrow">
            <a:avLst/>
          </a:prstGeom>
          <a:solidFill>
            <a:srgbClr val="006699"/>
          </a:solidFill>
          <a:ln w="9525" cap="flat" cmpd="sng" algn="ctr">
            <a:solidFill>
              <a:srgbClr val="00669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9" name="Donut 8"/>
          <p:cNvSpPr/>
          <p:nvPr/>
        </p:nvSpPr>
        <p:spPr bwMode="auto">
          <a:xfrm>
            <a:off x="4355976" y="1196752"/>
            <a:ext cx="4024957" cy="3744416"/>
          </a:xfrm>
          <a:prstGeom prst="donut">
            <a:avLst>
              <a:gd name="adj" fmla="val 5560"/>
            </a:avLst>
          </a:prstGeom>
          <a:solidFill>
            <a:srgbClr val="006699">
              <a:alpha val="27000"/>
            </a:srgbClr>
          </a:solidFill>
          <a:ln w="9525" cap="flat" cmpd="sng" algn="ctr">
            <a:noFill/>
            <a:prstDash val="solid"/>
            <a:round/>
            <a:headEnd type="none" w="med" len="med"/>
            <a:tailEnd type="none" w="med" len="med"/>
          </a:ln>
          <a:effectLst/>
        </p:spPr>
        <p:txBody>
          <a:bodyPr/>
          <a:lstStyle/>
          <a:p>
            <a:endParaRPr lang="en-GB" dirty="0"/>
          </a:p>
        </p:txBody>
      </p:sp>
      <p:sp>
        <p:nvSpPr>
          <p:cNvPr id="10" name="Freeform 10">
            <a:hlinkClick r:id="rId2" action="ppaction://hlinksldjump"/>
          </p:cNvPr>
          <p:cNvSpPr/>
          <p:nvPr/>
        </p:nvSpPr>
        <p:spPr>
          <a:xfrm>
            <a:off x="683568" y="5049151"/>
            <a:ext cx="7776864" cy="540089"/>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algn="ctr"/>
            <a:r>
              <a:rPr lang="en-US" sz="2000" dirty="0"/>
              <a:t>Recommendations to attract </a:t>
            </a:r>
            <a:r>
              <a:rPr lang="en-US" sz="2000" dirty="0" smtClean="0"/>
              <a:t>qualified companies to frontier areas</a:t>
            </a:r>
            <a:endParaRPr lang="en-US" sz="2000" dirty="0"/>
          </a:p>
        </p:txBody>
      </p:sp>
      <p:sp>
        <p:nvSpPr>
          <p:cNvPr id="14" name="Freeform 9"/>
          <p:cNvSpPr/>
          <p:nvPr/>
        </p:nvSpPr>
        <p:spPr>
          <a:xfrm>
            <a:off x="496515" y="260648"/>
            <a:ext cx="8035925" cy="792146"/>
          </a:xfrm>
          <a:prstGeom prst="roundRect">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algn="ctr"/>
            <a:r>
              <a:rPr lang="en-US" sz="2400" dirty="0">
                <a:latin typeface="+mj-lt"/>
                <a:cs typeface="Arial"/>
              </a:rPr>
              <a:t>Challenge 1</a:t>
            </a:r>
            <a:r>
              <a:rPr lang="en-US" sz="2400" dirty="0" smtClean="0">
                <a:latin typeface="+mj-lt"/>
                <a:cs typeface="Arial"/>
              </a:rPr>
              <a:t>: </a:t>
            </a:r>
            <a:r>
              <a:rPr lang="en-US" sz="2400" dirty="0" smtClean="0">
                <a:latin typeface="+mj-lt"/>
              </a:rPr>
              <a:t>Attracting qualified companies </a:t>
            </a:r>
            <a:r>
              <a:rPr lang="en-US" sz="2400" dirty="0">
                <a:latin typeface="+mj-lt"/>
              </a:rPr>
              <a:t>to frontier </a:t>
            </a:r>
            <a:r>
              <a:rPr lang="en-US" sz="2400" dirty="0" smtClean="0">
                <a:latin typeface="+mj-lt"/>
              </a:rPr>
              <a:t>areas</a:t>
            </a:r>
            <a:endParaRPr lang="en-US" sz="2400" dirty="0">
              <a:latin typeface="+mj-lt"/>
            </a:endParaRPr>
          </a:p>
        </p:txBody>
      </p:sp>
      <p:grpSp>
        <p:nvGrpSpPr>
          <p:cNvPr id="26" name="Group 25"/>
          <p:cNvGrpSpPr/>
          <p:nvPr/>
        </p:nvGrpSpPr>
        <p:grpSpPr>
          <a:xfrm>
            <a:off x="7668227" y="5733256"/>
            <a:ext cx="1008229" cy="558246"/>
            <a:chOff x="7668227" y="5733256"/>
            <a:chExt cx="1008229" cy="558246"/>
          </a:xfrm>
        </p:grpSpPr>
        <p:sp>
          <p:nvSpPr>
            <p:cNvPr id="11" name="Action Button: Return 10">
              <a:hlinkClick r:id="rId3" action="ppaction://hlinksldjump" highlightClick="1"/>
            </p:cNvPr>
            <p:cNvSpPr/>
            <p:nvPr/>
          </p:nvSpPr>
          <p:spPr bwMode="auto">
            <a:xfrm>
              <a:off x="7884368" y="5733256"/>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3" name="TextBox 12">
              <a:hlinkClick r:id="" action="ppaction://noaction"/>
            </p:cNvPr>
            <p:cNvSpPr txBox="1"/>
            <p:nvPr/>
          </p:nvSpPr>
          <p:spPr>
            <a:xfrm>
              <a:off x="7668227" y="6037586"/>
              <a:ext cx="792205" cy="253916"/>
            </a:xfrm>
            <a:prstGeom prst="actionButtonReturn">
              <a:avLst/>
            </a:prstGeom>
            <a:noFill/>
          </p:spPr>
          <p:txBody>
            <a:bodyPr wrap="none" rtlCol="0">
              <a:spAutoFit/>
            </a:bodyPr>
            <a:lstStyle/>
            <a:p>
              <a:pPr algn="ctr"/>
              <a:r>
                <a:rPr lang="en-US" sz="1050" i="1" dirty="0" smtClean="0"/>
                <a:t>Objective 2</a:t>
              </a:r>
              <a:endParaRPr lang="en-US" sz="1050" i="1" dirty="0"/>
            </a:p>
          </p:txBody>
        </p:sp>
        <p:sp>
          <p:nvSpPr>
            <p:cNvPr id="15" name="Action Button: Home 14">
              <a:hlinkClick r:id="rId4" action="ppaction://hlinksldjump" highlightClick="1"/>
            </p:cNvPr>
            <p:cNvSpPr/>
            <p:nvPr/>
          </p:nvSpPr>
          <p:spPr bwMode="auto">
            <a:xfrm>
              <a:off x="8316416" y="5742000"/>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
        <p:nvSpPr>
          <p:cNvPr id="18" name="Oval 17"/>
          <p:cNvSpPr/>
          <p:nvPr/>
        </p:nvSpPr>
        <p:spPr>
          <a:xfrm>
            <a:off x="7308304" y="2348880"/>
            <a:ext cx="1705248" cy="1659896"/>
          </a:xfrm>
          <a:prstGeom prst="ellipse">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lIns="0" tIns="91440" rIns="0" bIns="91440"/>
          <a:lstStyle/>
          <a:p>
            <a:pPr algn="ctr"/>
            <a:r>
              <a:rPr lang="en-US" dirty="0" smtClean="0"/>
              <a:t>Low price environment a challenge!</a:t>
            </a:r>
            <a:endParaRPr lang="en-US" dirty="0"/>
          </a:p>
        </p:txBody>
      </p:sp>
      <p:sp>
        <p:nvSpPr>
          <p:cNvPr id="20" name="Slide Number Placeholder 2"/>
          <p:cNvSpPr>
            <a:spLocks noGrp="1"/>
          </p:cNvSpPr>
          <p:nvPr>
            <p:ph type="sldNum" sz="quarter" idx="4294967295"/>
          </p:nvPr>
        </p:nvSpPr>
        <p:spPr>
          <a:xfrm>
            <a:off x="6553200" y="6356350"/>
            <a:ext cx="2133600" cy="365125"/>
          </a:xfrm>
        </p:spPr>
        <p:txBody>
          <a:bodyPr/>
          <a:lstStyle/>
          <a:p>
            <a:fld id="{418A78CD-E27B-441A-A2B1-21C1D5FFEB65}" type="slidenum">
              <a:rPr lang="en-US" sz="1200" smtClean="0">
                <a:solidFill>
                  <a:prstClr val="black"/>
                </a:solidFill>
                <a:latin typeface="Georgia" pitchFamily="18" charset="0"/>
              </a:rPr>
              <a:pPr/>
              <a:t>17</a:t>
            </a:fld>
            <a:endParaRPr lang="en-US" sz="1200" dirty="0">
              <a:solidFill>
                <a:prstClr val="black"/>
              </a:solidFill>
              <a:latin typeface="Georgia" pitchFamily="18" charset="0"/>
            </a:endParaRPr>
          </a:p>
        </p:txBody>
      </p:sp>
      <p:sp>
        <p:nvSpPr>
          <p:cNvPr id="2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cxnSp>
        <p:nvCxnSpPr>
          <p:cNvPr id="23" name="Straight Connector 22"/>
          <p:cNvCxnSpPr/>
          <p:nvPr/>
        </p:nvCxnSpPr>
        <p:spPr>
          <a:xfrm>
            <a:off x="468000" y="6310800"/>
            <a:ext cx="8208000" cy="0"/>
          </a:xfrm>
          <a:prstGeom prst="line">
            <a:avLst/>
          </a:prstGeom>
          <a:ln w="19050" cmpd="thickThi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Down Arrow 24"/>
          <p:cNvSpPr/>
          <p:nvPr/>
        </p:nvSpPr>
        <p:spPr bwMode="auto">
          <a:xfrm>
            <a:off x="1979712" y="2708920"/>
            <a:ext cx="792088" cy="864096"/>
          </a:xfrm>
          <a:prstGeom prst="downArrow">
            <a:avLst/>
          </a:prstGeom>
          <a:solidFill>
            <a:srgbClr val="006699"/>
          </a:solidFill>
          <a:ln w="9525" cap="flat" cmpd="sng" algn="ctr">
            <a:solidFill>
              <a:srgbClr val="00669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Tree>
    <p:extLst>
      <p:ext uri="{BB962C8B-B14F-4D97-AF65-F5344CB8AC3E}">
        <p14:creationId xmlns:p14="http://schemas.microsoft.com/office/powerpoint/2010/main" val="169404145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18</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p:txBody>
          <a:bodyPr>
            <a:normAutofit fontScale="77500" lnSpcReduction="20000"/>
          </a:bodyPr>
          <a:lstStyle/>
          <a:p>
            <a:r>
              <a:rPr lang="en-GB" dirty="0" smtClean="0"/>
              <a:t>Recommendations to attract qualified companies (1/2)</a:t>
            </a:r>
            <a:endParaRPr lang="en-GB" dirty="0"/>
          </a:p>
        </p:txBody>
      </p:sp>
      <p:sp>
        <p:nvSpPr>
          <p:cNvPr id="5" name="Text Placeholder 4"/>
          <p:cNvSpPr>
            <a:spLocks noGrp="1"/>
          </p:cNvSpPr>
          <p:nvPr>
            <p:ph type="body" sz="quarter" idx="11"/>
          </p:nvPr>
        </p:nvSpPr>
        <p:spPr>
          <a:xfrm>
            <a:off x="468312" y="980728"/>
            <a:ext cx="8208143" cy="5060072"/>
          </a:xfrm>
        </p:spPr>
        <p:txBody>
          <a:bodyPr>
            <a:noAutofit/>
          </a:bodyPr>
          <a:lstStyle/>
          <a:p>
            <a:pPr marL="0" indent="0" algn="just">
              <a:spcAft>
                <a:spcPts val="600"/>
              </a:spcAft>
              <a:buNone/>
            </a:pPr>
            <a:r>
              <a:rPr lang="en-US" sz="2000" dirty="0"/>
              <a:t>When geological or political risk make your country less attractive</a:t>
            </a:r>
            <a:r>
              <a:rPr lang="en-US" sz="2000" dirty="0" smtClean="0"/>
              <a:t>:</a:t>
            </a:r>
          </a:p>
          <a:p>
            <a:pPr marL="0" indent="0" algn="just">
              <a:spcAft>
                <a:spcPts val="600"/>
              </a:spcAft>
              <a:buNone/>
            </a:pPr>
            <a:endParaRPr lang="en-US" sz="1800" dirty="0"/>
          </a:p>
          <a:p>
            <a:pPr algn="just">
              <a:spcAft>
                <a:spcPts val="300"/>
              </a:spcAft>
            </a:pPr>
            <a:r>
              <a:rPr lang="en-US" sz="2000" dirty="0" smtClean="0"/>
              <a:t>Invest in collecting geological data </a:t>
            </a:r>
            <a:r>
              <a:rPr lang="en-US" sz="2000" b="1" dirty="0" smtClean="0"/>
              <a:t>before </a:t>
            </a:r>
            <a:r>
              <a:rPr lang="en-US" sz="2000" dirty="0" smtClean="0"/>
              <a:t>licensing to understand  value of resources and reduce investors risk</a:t>
            </a:r>
          </a:p>
          <a:p>
            <a:pPr algn="just">
              <a:spcAft>
                <a:spcPts val="300"/>
              </a:spcAft>
            </a:pPr>
            <a:r>
              <a:rPr lang="en-US" sz="2000" dirty="0"/>
              <a:t>In a low price </a:t>
            </a:r>
            <a:r>
              <a:rPr lang="en-US" sz="2000" dirty="0" smtClean="0"/>
              <a:t>environment, flesh out data to  decrease </a:t>
            </a:r>
            <a:r>
              <a:rPr lang="en-US" sz="2000" dirty="0"/>
              <a:t>risk for the </a:t>
            </a:r>
            <a:r>
              <a:rPr lang="en-US" sz="2000" dirty="0" smtClean="0"/>
              <a:t>investor</a:t>
            </a:r>
          </a:p>
          <a:p>
            <a:pPr algn="just">
              <a:spcAft>
                <a:spcPts val="300"/>
              </a:spcAft>
            </a:pPr>
            <a:r>
              <a:rPr lang="en-US" sz="2000" dirty="0" smtClean="0"/>
              <a:t>Explore different ways of funding data collection</a:t>
            </a:r>
          </a:p>
          <a:p>
            <a:pPr algn="just">
              <a:spcAft>
                <a:spcPts val="300"/>
              </a:spcAft>
            </a:pPr>
            <a:r>
              <a:rPr lang="en-US" sz="2000" dirty="0" smtClean="0"/>
              <a:t>Educate licensing entity on industry to better target </a:t>
            </a:r>
            <a:r>
              <a:rPr lang="en-US" sz="2000" dirty="0"/>
              <a:t>data </a:t>
            </a:r>
            <a:r>
              <a:rPr lang="en-US" sz="2000" dirty="0" smtClean="0"/>
              <a:t>marketing</a:t>
            </a:r>
          </a:p>
          <a:p>
            <a:pPr algn="just">
              <a:spcAft>
                <a:spcPts val="300"/>
              </a:spcAft>
            </a:pPr>
            <a:r>
              <a:rPr lang="en-US" sz="2000" dirty="0" smtClean="0"/>
              <a:t>Establish strong and transparent prequalification criteria (technical, financial, </a:t>
            </a:r>
            <a:r>
              <a:rPr lang="en-US" sz="2000" dirty="0" err="1" smtClean="0"/>
              <a:t>organisational</a:t>
            </a:r>
            <a:r>
              <a:rPr lang="en-US" sz="2000" dirty="0" smtClean="0"/>
              <a:t>) to help select companies with capacity to carry out exploration work</a:t>
            </a:r>
          </a:p>
          <a:p>
            <a:pPr algn="just">
              <a:spcAft>
                <a:spcPts val="300"/>
              </a:spcAft>
            </a:pPr>
            <a:r>
              <a:rPr lang="en-US" sz="2000" dirty="0" smtClean="0"/>
              <a:t>Relinquishment policies and shorter renewal periods can discourage companies from sitting on acreage (careful to stay flexible during price slump)</a:t>
            </a:r>
            <a:endParaRPr lang="en-US" sz="2000" dirty="0"/>
          </a:p>
        </p:txBody>
      </p:sp>
      <p:grpSp>
        <p:nvGrpSpPr>
          <p:cNvPr id="13" name="Group 12"/>
          <p:cNvGrpSpPr/>
          <p:nvPr/>
        </p:nvGrpSpPr>
        <p:grpSpPr>
          <a:xfrm>
            <a:off x="7668227" y="5733256"/>
            <a:ext cx="1008229" cy="558246"/>
            <a:chOff x="7668227" y="5733256"/>
            <a:chExt cx="1008229" cy="558246"/>
          </a:xfrm>
        </p:grpSpPr>
        <p:sp>
          <p:nvSpPr>
            <p:cNvPr id="14" name="Action Button: Return 13">
              <a:hlinkClick r:id="rId2" action="ppaction://hlinksldjump" highlightClick="1"/>
            </p:cNvPr>
            <p:cNvSpPr/>
            <p:nvPr/>
          </p:nvSpPr>
          <p:spPr bwMode="auto">
            <a:xfrm>
              <a:off x="7884368" y="5733256"/>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5" name="TextBox 14">
              <a:hlinkClick r:id="" action="ppaction://noaction"/>
            </p:cNvPr>
            <p:cNvSpPr txBox="1"/>
            <p:nvPr/>
          </p:nvSpPr>
          <p:spPr>
            <a:xfrm>
              <a:off x="7668227" y="6037586"/>
              <a:ext cx="792205" cy="253916"/>
            </a:xfrm>
            <a:prstGeom prst="actionButtonReturn">
              <a:avLst/>
            </a:prstGeom>
            <a:noFill/>
          </p:spPr>
          <p:txBody>
            <a:bodyPr wrap="none" rtlCol="0">
              <a:spAutoFit/>
            </a:bodyPr>
            <a:lstStyle/>
            <a:p>
              <a:pPr algn="ctr"/>
              <a:r>
                <a:rPr lang="en-US" sz="1050" i="1" dirty="0" smtClean="0"/>
                <a:t>Objective 2</a:t>
              </a:r>
              <a:endParaRPr lang="en-US" sz="1050" i="1" dirty="0"/>
            </a:p>
          </p:txBody>
        </p:sp>
        <p:sp>
          <p:nvSpPr>
            <p:cNvPr id="16" name="Action Button: Home 15">
              <a:hlinkClick r:id="rId3" action="ppaction://hlinksldjump" highlightClick="1"/>
            </p:cNvPr>
            <p:cNvSpPr/>
            <p:nvPr/>
          </p:nvSpPr>
          <p:spPr bwMode="auto">
            <a:xfrm>
              <a:off x="8316416" y="5742000"/>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Tree>
    <p:extLst>
      <p:ext uri="{BB962C8B-B14F-4D97-AF65-F5344CB8AC3E}">
        <p14:creationId xmlns:p14="http://schemas.microsoft.com/office/powerpoint/2010/main" val="382661055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19</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p:txBody>
          <a:bodyPr>
            <a:normAutofit fontScale="77500" lnSpcReduction="20000"/>
          </a:bodyPr>
          <a:lstStyle/>
          <a:p>
            <a:r>
              <a:rPr lang="en-GB" dirty="0" smtClean="0"/>
              <a:t>Recommendations to attract qualified companies (2/2)</a:t>
            </a:r>
            <a:endParaRPr lang="en-GB" dirty="0"/>
          </a:p>
        </p:txBody>
      </p:sp>
      <p:sp>
        <p:nvSpPr>
          <p:cNvPr id="5" name="Text Placeholder 4"/>
          <p:cNvSpPr>
            <a:spLocks noGrp="1"/>
          </p:cNvSpPr>
          <p:nvPr>
            <p:ph type="body" sz="quarter" idx="11"/>
          </p:nvPr>
        </p:nvSpPr>
        <p:spPr>
          <a:xfrm>
            <a:off x="468313" y="1268760"/>
            <a:ext cx="8208143" cy="4383744"/>
          </a:xfrm>
        </p:spPr>
        <p:txBody>
          <a:bodyPr>
            <a:noAutofit/>
          </a:bodyPr>
          <a:lstStyle/>
          <a:p>
            <a:pPr algn="just">
              <a:spcAft>
                <a:spcPts val="300"/>
              </a:spcAft>
            </a:pPr>
            <a:r>
              <a:rPr lang="en-GB" sz="2100" dirty="0" smtClean="0"/>
              <a:t>Don’t overly penalize the trade (farm out) of a company’s interest in a license. But do protect state interests</a:t>
            </a:r>
          </a:p>
          <a:p>
            <a:pPr lvl="1" algn="just">
              <a:spcAft>
                <a:spcPts val="300"/>
              </a:spcAft>
            </a:pPr>
            <a:r>
              <a:rPr lang="en-GB" sz="2000" dirty="0" smtClean="0"/>
              <a:t>Provisions for capital gains  (high rates discourage explorers)</a:t>
            </a:r>
          </a:p>
          <a:p>
            <a:pPr lvl="1" algn="just">
              <a:spcAft>
                <a:spcPts val="300"/>
              </a:spcAft>
            </a:pPr>
            <a:r>
              <a:rPr lang="en-GB" sz="2000" dirty="0" smtClean="0"/>
              <a:t>Specify in the Petroleum Law that government approval is required for any transfer of stakes or licenses, to avoid entry of under-qualified companies</a:t>
            </a:r>
          </a:p>
          <a:p>
            <a:pPr lvl="1" algn="just">
              <a:spcAft>
                <a:spcPts val="300"/>
              </a:spcAft>
            </a:pPr>
            <a:r>
              <a:rPr lang="en-GB" sz="2000" dirty="0" smtClean="0"/>
              <a:t>Disclose bidding information to the public to deter corrupt bidders</a:t>
            </a:r>
          </a:p>
          <a:p>
            <a:pPr algn="just">
              <a:spcAft>
                <a:spcPts val="300"/>
              </a:spcAft>
            </a:pPr>
            <a:r>
              <a:rPr lang="en-GB" sz="2100" dirty="0" smtClean="0"/>
              <a:t>Consult with reputable firms/organisations on the design, marketing and evaluation of bid round programme</a:t>
            </a:r>
          </a:p>
          <a:p>
            <a:pPr algn="just">
              <a:spcAft>
                <a:spcPts val="300"/>
              </a:spcAft>
            </a:pPr>
            <a:r>
              <a:rPr lang="en-GB" sz="2100" dirty="0" smtClean="0"/>
              <a:t>Publicise the model PSC prior to final publication and invite stakeholder comments</a:t>
            </a:r>
          </a:p>
        </p:txBody>
      </p:sp>
      <p:grpSp>
        <p:nvGrpSpPr>
          <p:cNvPr id="10" name="Group 9"/>
          <p:cNvGrpSpPr/>
          <p:nvPr/>
        </p:nvGrpSpPr>
        <p:grpSpPr>
          <a:xfrm>
            <a:off x="7668227" y="5733256"/>
            <a:ext cx="1008229" cy="558246"/>
            <a:chOff x="7668227" y="5733256"/>
            <a:chExt cx="1008229" cy="558246"/>
          </a:xfrm>
        </p:grpSpPr>
        <p:sp>
          <p:nvSpPr>
            <p:cNvPr id="11" name="Action Button: Return 10">
              <a:hlinkClick r:id="rId2" action="ppaction://hlinksldjump" highlightClick="1"/>
            </p:cNvPr>
            <p:cNvSpPr/>
            <p:nvPr/>
          </p:nvSpPr>
          <p:spPr bwMode="auto">
            <a:xfrm>
              <a:off x="7884368" y="5733256"/>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2" name="TextBox 11">
              <a:hlinkClick r:id="" action="ppaction://noaction"/>
            </p:cNvPr>
            <p:cNvSpPr txBox="1"/>
            <p:nvPr/>
          </p:nvSpPr>
          <p:spPr>
            <a:xfrm>
              <a:off x="7668227" y="6037586"/>
              <a:ext cx="792205" cy="253916"/>
            </a:xfrm>
            <a:prstGeom prst="actionButtonReturn">
              <a:avLst/>
            </a:prstGeom>
            <a:noFill/>
          </p:spPr>
          <p:txBody>
            <a:bodyPr wrap="none" rtlCol="0">
              <a:spAutoFit/>
            </a:bodyPr>
            <a:lstStyle/>
            <a:p>
              <a:pPr algn="ctr"/>
              <a:r>
                <a:rPr lang="en-US" sz="1050" i="1" dirty="0" smtClean="0"/>
                <a:t>Objective 2</a:t>
              </a:r>
              <a:endParaRPr lang="en-US" sz="1050" i="1" dirty="0"/>
            </a:p>
          </p:txBody>
        </p:sp>
        <p:sp>
          <p:nvSpPr>
            <p:cNvPr id="13" name="Action Button: Home 12">
              <a:hlinkClick r:id="rId3" action="ppaction://hlinksldjump" highlightClick="1"/>
            </p:cNvPr>
            <p:cNvSpPr/>
            <p:nvPr/>
          </p:nvSpPr>
          <p:spPr bwMode="auto">
            <a:xfrm>
              <a:off x="8316416" y="5742000"/>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Tree>
    <p:extLst>
      <p:ext uri="{BB962C8B-B14F-4D97-AF65-F5344CB8AC3E}">
        <p14:creationId xmlns:p14="http://schemas.microsoft.com/office/powerpoint/2010/main" val="138132131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
          <p:cNvSpPr/>
          <p:nvPr/>
        </p:nvSpPr>
        <p:spPr>
          <a:xfrm>
            <a:off x="496515" y="260648"/>
            <a:ext cx="8035925" cy="792146"/>
          </a:xfrm>
          <a:prstGeom prst="roundRect">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algn="ctr"/>
            <a:r>
              <a:rPr lang="en-US" sz="2000" dirty="0"/>
              <a:t>Challenge 2: </a:t>
            </a:r>
            <a:r>
              <a:rPr lang="en-US" sz="2000" dirty="0" smtClean="0"/>
              <a:t>Frontier area is not attractive enough to hold an auction</a:t>
            </a:r>
            <a:endParaRPr lang="en-US" sz="2000" dirty="0"/>
          </a:p>
        </p:txBody>
      </p:sp>
      <p:grpSp>
        <p:nvGrpSpPr>
          <p:cNvPr id="3" name="Group 2"/>
          <p:cNvGrpSpPr/>
          <p:nvPr/>
        </p:nvGrpSpPr>
        <p:grpSpPr>
          <a:xfrm>
            <a:off x="971600" y="1700808"/>
            <a:ext cx="5150045" cy="2664296"/>
            <a:chOff x="877586" y="649288"/>
            <a:chExt cx="5150045" cy="1497073"/>
          </a:xfrm>
        </p:grpSpPr>
        <p:sp>
          <p:nvSpPr>
            <p:cNvPr id="4" name="Rectangle 3"/>
            <p:cNvSpPr/>
            <p:nvPr/>
          </p:nvSpPr>
          <p:spPr>
            <a:xfrm>
              <a:off x="877586" y="649288"/>
              <a:ext cx="5150045" cy="1416150"/>
            </a:xfrm>
            <a:prstGeom prst="rect">
              <a:avLst/>
            </a:prstGeom>
            <a:solidFill>
              <a:srgbClr val="D9D9D9"/>
            </a:solidFill>
          </p:spPr>
          <p:style>
            <a:lnRef idx="2">
              <a:schemeClr val="accent2">
                <a:tint val="40000"/>
                <a:alpha val="90000"/>
                <a:hueOff val="0"/>
                <a:satOff val="0"/>
                <a:lumOff val="0"/>
                <a:alphaOff val="0"/>
              </a:schemeClr>
            </a:lnRef>
            <a:fillRef idx="1">
              <a:scrgbClr r="0" g="0" b="0"/>
            </a:fillRef>
            <a:effectRef idx="0">
              <a:schemeClr val="accent2">
                <a:tint val="40000"/>
                <a:alpha val="90000"/>
                <a:hueOff val="0"/>
                <a:satOff val="0"/>
                <a:lumOff val="0"/>
                <a:alphaOff val="0"/>
              </a:schemeClr>
            </a:effectRef>
            <a:fontRef idx="minor">
              <a:schemeClr val="dk1">
                <a:hueOff val="0"/>
                <a:satOff val="0"/>
                <a:lumOff val="0"/>
                <a:alphaOff val="0"/>
              </a:schemeClr>
            </a:fontRef>
          </p:style>
        </p:sp>
        <p:sp>
          <p:nvSpPr>
            <p:cNvPr id="5" name="Rectangle 4"/>
            <p:cNvSpPr/>
            <p:nvPr/>
          </p:nvSpPr>
          <p:spPr>
            <a:xfrm>
              <a:off x="1093610" y="770672"/>
              <a:ext cx="4896544" cy="137568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0" tIns="120904" rIns="120904" bIns="120904" numCol="1" spcCol="1270" anchor="ctr" anchorCtr="0">
              <a:noAutofit/>
            </a:bodyPr>
            <a:lstStyle/>
            <a:p>
              <a:pPr marL="0" lvl="0" indent="0" algn="l" defTabSz="755650">
                <a:lnSpc>
                  <a:spcPct val="90000"/>
                </a:lnSpc>
                <a:spcBef>
                  <a:spcPct val="0"/>
                </a:spcBef>
                <a:spcAft>
                  <a:spcPct val="35000"/>
                </a:spcAft>
              </a:pPr>
              <a:r>
                <a:rPr lang="en-US" sz="2000" b="1" kern="1200" dirty="0" smtClean="0">
                  <a:solidFill>
                    <a:srgbClr val="006699"/>
                  </a:solidFill>
                </a:rPr>
                <a:t>Benefits of auctions (open bid rounds)</a:t>
              </a:r>
              <a:r>
                <a:rPr lang="en-US" sz="2000" kern="1200" dirty="0" smtClean="0">
                  <a:solidFill>
                    <a:srgbClr val="006699"/>
                  </a:solidFill>
                </a:rPr>
                <a:t>:</a:t>
              </a:r>
            </a:p>
            <a:p>
              <a:pPr marL="342900" lvl="0" indent="-342900" algn="l" defTabSz="755650">
                <a:lnSpc>
                  <a:spcPct val="90000"/>
                </a:lnSpc>
                <a:spcBef>
                  <a:spcPct val="0"/>
                </a:spcBef>
                <a:spcAft>
                  <a:spcPct val="35000"/>
                </a:spcAft>
                <a:buAutoNum type="arabicPeriod"/>
              </a:pPr>
              <a:r>
                <a:rPr lang="en-US" sz="2000" dirty="0" smtClean="0">
                  <a:solidFill>
                    <a:srgbClr val="006699"/>
                  </a:solidFill>
                </a:rPr>
                <a:t>Competition between bidders g</a:t>
              </a:r>
              <a:r>
                <a:rPr lang="en-US" sz="2000" kern="1200" dirty="0" smtClean="0">
                  <a:solidFill>
                    <a:srgbClr val="006699"/>
                  </a:solidFill>
                </a:rPr>
                <a:t>enerates the best terms for the </a:t>
              </a:r>
              <a:r>
                <a:rPr lang="en-US" sz="2000" dirty="0" smtClean="0">
                  <a:solidFill>
                    <a:srgbClr val="006699"/>
                  </a:solidFill>
                </a:rPr>
                <a:t>government and </a:t>
              </a:r>
              <a:r>
                <a:rPr lang="en-US" sz="2000" kern="1200" dirty="0" smtClean="0">
                  <a:solidFill>
                    <a:srgbClr val="006699"/>
                  </a:solidFill>
                </a:rPr>
                <a:t>sets the market value of the acreage</a:t>
              </a:r>
            </a:p>
            <a:p>
              <a:pPr marL="342900" indent="-342900" defTabSz="755650">
                <a:lnSpc>
                  <a:spcPct val="90000"/>
                </a:lnSpc>
                <a:spcBef>
                  <a:spcPct val="0"/>
                </a:spcBef>
                <a:spcAft>
                  <a:spcPct val="35000"/>
                </a:spcAft>
                <a:buFontTx/>
                <a:buAutoNum type="arabicPeriod"/>
              </a:pPr>
              <a:r>
                <a:rPr lang="en-US" sz="2000" dirty="0" smtClean="0">
                  <a:solidFill>
                    <a:srgbClr val="006699"/>
                  </a:solidFill>
                </a:rPr>
                <a:t>Auctions </a:t>
              </a:r>
              <a:r>
                <a:rPr lang="en-US" sz="2000" dirty="0">
                  <a:solidFill>
                    <a:srgbClr val="006699"/>
                  </a:solidFill>
                </a:rPr>
                <a:t>reduce knowledge asymmetry problems between the state and the investor, in contrast to direct negotiations</a:t>
              </a:r>
            </a:p>
            <a:p>
              <a:pPr marL="342900" lvl="0" indent="-342900" algn="l" defTabSz="755650">
                <a:lnSpc>
                  <a:spcPct val="90000"/>
                </a:lnSpc>
                <a:spcBef>
                  <a:spcPct val="0"/>
                </a:spcBef>
                <a:spcAft>
                  <a:spcPct val="35000"/>
                </a:spcAft>
                <a:buAutoNum type="arabicPeriod"/>
              </a:pPr>
              <a:endParaRPr lang="en-US" sz="1700" kern="1200" dirty="0">
                <a:solidFill>
                  <a:srgbClr val="006699"/>
                </a:solidFill>
              </a:endParaRPr>
            </a:p>
          </p:txBody>
        </p:sp>
      </p:grpSp>
      <p:grpSp>
        <p:nvGrpSpPr>
          <p:cNvPr id="9" name="Group 8"/>
          <p:cNvGrpSpPr/>
          <p:nvPr/>
        </p:nvGrpSpPr>
        <p:grpSpPr>
          <a:xfrm>
            <a:off x="6338728" y="1772816"/>
            <a:ext cx="2193712" cy="2232248"/>
            <a:chOff x="5655147" y="53343"/>
            <a:chExt cx="1617648" cy="1617648"/>
          </a:xfrm>
        </p:grpSpPr>
        <p:sp>
          <p:nvSpPr>
            <p:cNvPr id="10" name="Oval 9"/>
            <p:cNvSpPr/>
            <p:nvPr/>
          </p:nvSpPr>
          <p:spPr>
            <a:xfrm>
              <a:off x="5655147" y="53343"/>
              <a:ext cx="1617648" cy="1617648"/>
            </a:xfrm>
            <a:prstGeom prst="ellipse">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11" name="Oval 4"/>
            <p:cNvSpPr/>
            <p:nvPr/>
          </p:nvSpPr>
          <p:spPr>
            <a:xfrm>
              <a:off x="5892046" y="262072"/>
              <a:ext cx="1143850" cy="11438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r>
                <a:rPr lang="en-US" kern="1200" dirty="0" smtClean="0">
                  <a:solidFill>
                    <a:schemeClr val="bg1"/>
                  </a:solidFill>
                </a:rPr>
                <a:t>But only suitable when high investor interest</a:t>
              </a:r>
              <a:endParaRPr lang="en-US" kern="1200" dirty="0">
                <a:solidFill>
                  <a:schemeClr val="bg1"/>
                </a:solidFill>
              </a:endParaRPr>
            </a:p>
          </p:txBody>
        </p:sp>
      </p:grpSp>
      <p:sp>
        <p:nvSpPr>
          <p:cNvPr id="12" name="Freeform 10">
            <a:hlinkClick r:id="rId2" action="ppaction://hlinksldjump"/>
          </p:cNvPr>
          <p:cNvSpPr/>
          <p:nvPr/>
        </p:nvSpPr>
        <p:spPr>
          <a:xfrm>
            <a:off x="827583" y="5031163"/>
            <a:ext cx="7813801" cy="540089"/>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algn="ctr" defTabSz="1555750">
              <a:lnSpc>
                <a:spcPct val="90000"/>
              </a:lnSpc>
              <a:spcAft>
                <a:spcPct val="35000"/>
              </a:spcAft>
            </a:pPr>
            <a:r>
              <a:rPr lang="en-US" sz="2000" dirty="0" smtClean="0"/>
              <a:t>Recommendations for the licensing format</a:t>
            </a:r>
            <a:endParaRPr lang="en-US" sz="2000" kern="1200" dirty="0"/>
          </a:p>
        </p:txBody>
      </p:sp>
      <p:grpSp>
        <p:nvGrpSpPr>
          <p:cNvPr id="19" name="Group 18"/>
          <p:cNvGrpSpPr/>
          <p:nvPr/>
        </p:nvGrpSpPr>
        <p:grpSpPr>
          <a:xfrm>
            <a:off x="7668227" y="5733256"/>
            <a:ext cx="1008229" cy="558246"/>
            <a:chOff x="7668227" y="5733256"/>
            <a:chExt cx="1008229" cy="558246"/>
          </a:xfrm>
        </p:grpSpPr>
        <p:sp>
          <p:nvSpPr>
            <p:cNvPr id="20" name="Action Button: Return 19">
              <a:hlinkClick r:id="rId3" action="ppaction://hlinksldjump" highlightClick="1"/>
            </p:cNvPr>
            <p:cNvSpPr/>
            <p:nvPr/>
          </p:nvSpPr>
          <p:spPr bwMode="auto">
            <a:xfrm>
              <a:off x="7884368" y="5733256"/>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21" name="TextBox 20">
              <a:hlinkClick r:id="" action="ppaction://noaction"/>
            </p:cNvPr>
            <p:cNvSpPr txBox="1"/>
            <p:nvPr/>
          </p:nvSpPr>
          <p:spPr>
            <a:xfrm>
              <a:off x="7668227" y="6037586"/>
              <a:ext cx="792205" cy="253916"/>
            </a:xfrm>
            <a:prstGeom prst="actionButtonReturn">
              <a:avLst/>
            </a:prstGeom>
            <a:noFill/>
          </p:spPr>
          <p:txBody>
            <a:bodyPr wrap="none" rtlCol="0">
              <a:spAutoFit/>
            </a:bodyPr>
            <a:lstStyle/>
            <a:p>
              <a:pPr algn="ctr"/>
              <a:r>
                <a:rPr lang="en-US" sz="1050" i="1" dirty="0" smtClean="0"/>
                <a:t>Objective 2</a:t>
              </a:r>
              <a:endParaRPr lang="en-US" sz="1050" i="1" dirty="0"/>
            </a:p>
          </p:txBody>
        </p:sp>
        <p:sp>
          <p:nvSpPr>
            <p:cNvPr id="22" name="Action Button: Home 21">
              <a:hlinkClick r:id="rId4" action="ppaction://hlinksldjump" highlightClick="1"/>
            </p:cNvPr>
            <p:cNvSpPr/>
            <p:nvPr/>
          </p:nvSpPr>
          <p:spPr bwMode="auto">
            <a:xfrm>
              <a:off x="8316416" y="5742000"/>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
        <p:nvSpPr>
          <p:cNvPr id="23" name="Slide Number Placeholder 2"/>
          <p:cNvSpPr>
            <a:spLocks noGrp="1"/>
          </p:cNvSpPr>
          <p:nvPr>
            <p:ph type="sldNum" sz="quarter" idx="4294967295"/>
          </p:nvPr>
        </p:nvSpPr>
        <p:spPr>
          <a:xfrm>
            <a:off x="6553200" y="6356350"/>
            <a:ext cx="2133600" cy="365125"/>
          </a:xfrm>
        </p:spPr>
        <p:txBody>
          <a:bodyPr/>
          <a:lstStyle/>
          <a:p>
            <a:fld id="{418A78CD-E27B-441A-A2B1-21C1D5FFEB65}" type="slidenum">
              <a:rPr lang="en-US" sz="1200" smtClean="0">
                <a:solidFill>
                  <a:prstClr val="black"/>
                </a:solidFill>
                <a:latin typeface="Georgia" pitchFamily="18" charset="0"/>
              </a:rPr>
              <a:pPr/>
              <a:t>20</a:t>
            </a:fld>
            <a:endParaRPr lang="en-US" sz="1200" dirty="0">
              <a:solidFill>
                <a:prstClr val="black"/>
              </a:solidFill>
              <a:latin typeface="Georgia" pitchFamily="18" charset="0"/>
            </a:endParaRPr>
          </a:p>
        </p:txBody>
      </p:sp>
      <p:cxnSp>
        <p:nvCxnSpPr>
          <p:cNvPr id="24" name="Straight Connector 23"/>
          <p:cNvCxnSpPr/>
          <p:nvPr/>
        </p:nvCxnSpPr>
        <p:spPr>
          <a:xfrm>
            <a:off x="468000" y="6310800"/>
            <a:ext cx="8208000" cy="0"/>
          </a:xfrm>
          <a:prstGeom prst="line">
            <a:avLst/>
          </a:prstGeom>
          <a:ln w="19050" cmpd="thickThi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Tree>
    <p:extLst>
      <p:ext uri="{BB962C8B-B14F-4D97-AF65-F5344CB8AC3E}">
        <p14:creationId xmlns:p14="http://schemas.microsoft.com/office/powerpoint/2010/main" val="425680662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21</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p:txBody>
          <a:bodyPr>
            <a:normAutofit fontScale="85000" lnSpcReduction="20000"/>
          </a:bodyPr>
          <a:lstStyle/>
          <a:p>
            <a:r>
              <a:rPr lang="en-GB" dirty="0" smtClean="0"/>
              <a:t>Recommendations for the licensing format </a:t>
            </a:r>
            <a:endParaRPr lang="en-GB" dirty="0"/>
          </a:p>
        </p:txBody>
      </p:sp>
      <p:sp>
        <p:nvSpPr>
          <p:cNvPr id="5" name="Text Placeholder 4"/>
          <p:cNvSpPr>
            <a:spLocks noGrp="1"/>
          </p:cNvSpPr>
          <p:nvPr>
            <p:ph type="body" sz="quarter" idx="11"/>
          </p:nvPr>
        </p:nvSpPr>
        <p:spPr>
          <a:xfrm>
            <a:off x="468313" y="1367088"/>
            <a:ext cx="8208143" cy="4104456"/>
          </a:xfrm>
          <a:prstGeom prst="rect">
            <a:avLst/>
          </a:prstGeom>
        </p:spPr>
        <p:txBody>
          <a:bodyPr>
            <a:normAutofit fontScale="85000" lnSpcReduction="10000"/>
          </a:bodyPr>
          <a:lstStyle/>
          <a:p>
            <a:pPr algn="just">
              <a:spcAft>
                <a:spcPts val="300"/>
              </a:spcAft>
            </a:pPr>
            <a:r>
              <a:rPr lang="en-US" sz="2600" dirty="0" smtClean="0"/>
              <a:t>When investor interest allows it, </a:t>
            </a:r>
            <a:r>
              <a:rPr lang="en-US" sz="2600" dirty="0"/>
              <a:t>use transparent, open bidding rounds to create real </a:t>
            </a:r>
            <a:r>
              <a:rPr lang="en-US" sz="2600" dirty="0" smtClean="0"/>
              <a:t>competition</a:t>
            </a:r>
            <a:endParaRPr lang="en-US" sz="2600" dirty="0"/>
          </a:p>
          <a:p>
            <a:pPr algn="just">
              <a:spcAft>
                <a:spcPts val="300"/>
              </a:spcAft>
            </a:pPr>
            <a:r>
              <a:rPr lang="en-US" sz="2600" dirty="0"/>
              <a:t>If </a:t>
            </a:r>
            <a:r>
              <a:rPr lang="en-US" sz="2600" dirty="0" smtClean="0"/>
              <a:t>insufficient interest avoid </a:t>
            </a:r>
            <a:r>
              <a:rPr lang="en-US" sz="2600" dirty="0"/>
              <a:t>open bid </a:t>
            </a:r>
            <a:r>
              <a:rPr lang="en-US" sz="2600" dirty="0" smtClean="0"/>
              <a:t>formats, </a:t>
            </a:r>
            <a:r>
              <a:rPr lang="en-US" sz="2600" dirty="0"/>
              <a:t>r</a:t>
            </a:r>
            <a:r>
              <a:rPr lang="en-US" sz="2600" dirty="0" smtClean="0"/>
              <a:t>ely </a:t>
            </a:r>
            <a:r>
              <a:rPr lang="en-US" sz="2600" dirty="0"/>
              <a:t>instead on first-come-first-served </a:t>
            </a:r>
            <a:r>
              <a:rPr lang="en-US" sz="2600" dirty="0" smtClean="0"/>
              <a:t>licensing</a:t>
            </a:r>
          </a:p>
          <a:p>
            <a:pPr algn="just">
              <a:spcAft>
                <a:spcPts val="300"/>
              </a:spcAft>
            </a:pPr>
            <a:r>
              <a:rPr lang="en-US" sz="2600" dirty="0" smtClean="0"/>
              <a:t>For </a:t>
            </a:r>
            <a:r>
              <a:rPr lang="en-US" sz="2600" dirty="0"/>
              <a:t>governments with low knowledge of </a:t>
            </a:r>
            <a:r>
              <a:rPr lang="en-US" sz="2600" dirty="0" smtClean="0"/>
              <a:t>the sector</a:t>
            </a:r>
            <a:r>
              <a:rPr lang="en-US" sz="2600" dirty="0"/>
              <a:t>, </a:t>
            </a:r>
            <a:r>
              <a:rPr lang="en-US" sz="2600" dirty="0" smtClean="0"/>
              <a:t>engage with expertise to </a:t>
            </a:r>
            <a:r>
              <a:rPr lang="en-US" sz="2600" dirty="0"/>
              <a:t>balance the knowledge equation during </a:t>
            </a:r>
            <a:r>
              <a:rPr lang="en-US" sz="2600" dirty="0" smtClean="0"/>
              <a:t>negotiations</a:t>
            </a:r>
            <a:endParaRPr lang="en-US" sz="2600" dirty="0"/>
          </a:p>
          <a:p>
            <a:pPr algn="just">
              <a:spcAft>
                <a:spcPts val="300"/>
              </a:spcAft>
            </a:pPr>
            <a:r>
              <a:rPr lang="en-US" sz="2600" dirty="0"/>
              <a:t>Use transparent selection criteria in both bid rounds and direct </a:t>
            </a:r>
            <a:r>
              <a:rPr lang="en-US" sz="2600" dirty="0" smtClean="0"/>
              <a:t>negotiations</a:t>
            </a:r>
            <a:endParaRPr lang="en-US" sz="2600" dirty="0"/>
          </a:p>
          <a:p>
            <a:pPr algn="just">
              <a:spcAft>
                <a:spcPts val="300"/>
              </a:spcAft>
            </a:pPr>
            <a:r>
              <a:rPr lang="en-US" sz="2600" dirty="0" smtClean="0"/>
              <a:t>If under </a:t>
            </a:r>
            <a:r>
              <a:rPr lang="en-US" sz="2600" dirty="0"/>
              <a:t>depressed market conditions, countries with frontier acreage should consider whether to a </a:t>
            </a:r>
            <a:r>
              <a:rPr lang="en-US" sz="2600" dirty="0" smtClean="0"/>
              <a:t>hold </a:t>
            </a:r>
            <a:r>
              <a:rPr lang="en-US" sz="2600" dirty="0"/>
              <a:t>new awards at </a:t>
            </a:r>
            <a:r>
              <a:rPr lang="en-US" sz="2600" dirty="0" smtClean="0"/>
              <a:t>all</a:t>
            </a:r>
          </a:p>
          <a:p>
            <a:pPr algn="just">
              <a:spcAft>
                <a:spcPts val="300"/>
              </a:spcAft>
            </a:pPr>
            <a:r>
              <a:rPr lang="en-US" sz="2600" dirty="0"/>
              <a:t>Shift to auction when basin becomes more </a:t>
            </a:r>
            <a:r>
              <a:rPr lang="en-US" sz="2600" dirty="0" smtClean="0"/>
              <a:t>attractive</a:t>
            </a:r>
            <a:endParaRPr lang="en-US" sz="2600" dirty="0"/>
          </a:p>
          <a:p>
            <a:pPr marL="0" indent="0" algn="just">
              <a:spcAft>
                <a:spcPts val="300"/>
              </a:spcAft>
              <a:buNone/>
            </a:pPr>
            <a:endParaRPr lang="en-US" sz="3000" dirty="0" smtClean="0"/>
          </a:p>
          <a:p>
            <a:pPr marL="0" indent="0" algn="just">
              <a:buNone/>
            </a:pPr>
            <a:endParaRPr lang="en-US" dirty="0"/>
          </a:p>
          <a:p>
            <a:pPr marL="0" indent="0" algn="just">
              <a:buNone/>
            </a:pPr>
            <a:endParaRPr lang="en-GB" dirty="0">
              <a:solidFill>
                <a:srgbClr val="FF0000"/>
              </a:solidFill>
            </a:endParaRPr>
          </a:p>
        </p:txBody>
      </p:sp>
      <p:sp>
        <p:nvSpPr>
          <p:cNvPr id="10" name="Freeform 10">
            <a:hlinkClick r:id="rId2" action="ppaction://hlinksldjump"/>
          </p:cNvPr>
          <p:cNvSpPr/>
          <p:nvPr/>
        </p:nvSpPr>
        <p:spPr>
          <a:xfrm>
            <a:off x="537632" y="5497248"/>
            <a:ext cx="4820778" cy="540089"/>
          </a:xfrm>
          <a:prstGeom prst="roundRect">
            <a:avLst/>
          </a:prstGeom>
          <a:solidFill>
            <a:schemeClr val="bg1"/>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defTabSz="1555750">
              <a:lnSpc>
                <a:spcPct val="90000"/>
              </a:lnSpc>
              <a:spcAft>
                <a:spcPct val="35000"/>
              </a:spcAft>
            </a:pPr>
            <a:r>
              <a:rPr lang="en-US" sz="2500" kern="1200" dirty="0" smtClean="0">
                <a:solidFill>
                  <a:schemeClr val="accent2"/>
                </a:solidFill>
                <a:latin typeface="Georgia" pitchFamily="18" charset="0"/>
              </a:rPr>
              <a:t>*Consider the open file system</a:t>
            </a:r>
            <a:endParaRPr lang="en-US" sz="2500" kern="1200" dirty="0">
              <a:solidFill>
                <a:schemeClr val="accent2"/>
              </a:solidFill>
              <a:latin typeface="Georgia" pitchFamily="18" charset="0"/>
            </a:endParaRPr>
          </a:p>
        </p:txBody>
      </p:sp>
      <p:grpSp>
        <p:nvGrpSpPr>
          <p:cNvPr id="11" name="Group 10"/>
          <p:cNvGrpSpPr/>
          <p:nvPr/>
        </p:nvGrpSpPr>
        <p:grpSpPr>
          <a:xfrm>
            <a:off x="7668227" y="5733256"/>
            <a:ext cx="1008229" cy="558246"/>
            <a:chOff x="7668227" y="5733256"/>
            <a:chExt cx="1008229" cy="558246"/>
          </a:xfrm>
        </p:grpSpPr>
        <p:sp>
          <p:nvSpPr>
            <p:cNvPr id="12" name="Action Button: Return 11">
              <a:hlinkClick r:id="rId3" action="ppaction://hlinksldjump" highlightClick="1"/>
            </p:cNvPr>
            <p:cNvSpPr/>
            <p:nvPr/>
          </p:nvSpPr>
          <p:spPr bwMode="auto">
            <a:xfrm>
              <a:off x="7884368" y="5733256"/>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3" name="TextBox 12">
              <a:hlinkClick r:id="" action="ppaction://noaction"/>
            </p:cNvPr>
            <p:cNvSpPr txBox="1"/>
            <p:nvPr/>
          </p:nvSpPr>
          <p:spPr>
            <a:xfrm>
              <a:off x="7668227" y="6037586"/>
              <a:ext cx="792205" cy="253916"/>
            </a:xfrm>
            <a:prstGeom prst="actionButtonReturn">
              <a:avLst/>
            </a:prstGeom>
            <a:noFill/>
          </p:spPr>
          <p:txBody>
            <a:bodyPr wrap="none" rtlCol="0">
              <a:spAutoFit/>
            </a:bodyPr>
            <a:lstStyle/>
            <a:p>
              <a:pPr algn="ctr"/>
              <a:r>
                <a:rPr lang="en-US" sz="1050" i="1" dirty="0" smtClean="0"/>
                <a:t>Objective 2</a:t>
              </a:r>
              <a:endParaRPr lang="en-US" sz="1050" i="1" dirty="0"/>
            </a:p>
          </p:txBody>
        </p:sp>
        <p:sp>
          <p:nvSpPr>
            <p:cNvPr id="14" name="Action Button: Home 13">
              <a:hlinkClick r:id="rId4" action="ppaction://hlinksldjump" highlightClick="1"/>
            </p:cNvPr>
            <p:cNvSpPr/>
            <p:nvPr/>
          </p:nvSpPr>
          <p:spPr bwMode="auto">
            <a:xfrm>
              <a:off x="8316416" y="5742000"/>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Tree>
    <p:extLst>
      <p:ext uri="{BB962C8B-B14F-4D97-AF65-F5344CB8AC3E}">
        <p14:creationId xmlns:p14="http://schemas.microsoft.com/office/powerpoint/2010/main" val="225423998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22</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p:txBody>
          <a:bodyPr>
            <a:normAutofit fontScale="85000" lnSpcReduction="20000"/>
          </a:bodyPr>
          <a:lstStyle/>
          <a:p>
            <a:r>
              <a:rPr lang="en-GB" dirty="0" smtClean="0"/>
              <a:t>What is an open file system?</a:t>
            </a:r>
            <a:endParaRPr lang="en-GB" dirty="0"/>
          </a:p>
        </p:txBody>
      </p:sp>
      <p:sp>
        <p:nvSpPr>
          <p:cNvPr id="6" name="Text Placeholder 5"/>
          <p:cNvSpPr>
            <a:spLocks noGrp="1"/>
          </p:cNvSpPr>
          <p:nvPr>
            <p:ph type="body" sz="quarter" idx="11"/>
          </p:nvPr>
        </p:nvSpPr>
        <p:spPr>
          <a:xfrm>
            <a:off x="477479" y="2564904"/>
            <a:ext cx="8208143" cy="2400657"/>
          </a:xfrm>
          <a:prstGeom prst="rect">
            <a:avLst/>
          </a:prstGeom>
          <a:noFill/>
        </p:spPr>
        <p:txBody>
          <a:bodyPr wrap="square" lIns="91440" tIns="45720" rIns="91440" bIns="45720">
            <a:spAutoFit/>
          </a:bodyPr>
          <a:lstStyle/>
          <a:p>
            <a:pPr marL="0" indent="0" algn="ctr">
              <a:buNone/>
            </a:pPr>
            <a:r>
              <a:rPr lang="en-GB" sz="2400" dirty="0" smtClean="0"/>
              <a:t>The Open File System is </a:t>
            </a:r>
            <a:r>
              <a:rPr lang="en-GB" sz="2400" dirty="0"/>
              <a:t>a cross between auctioning and first-come-first-served: a 90 day window is used by the government to invite bids to compete for an application that has just been made by a </a:t>
            </a:r>
            <a:r>
              <a:rPr lang="en-GB" sz="2400" dirty="0" smtClean="0"/>
              <a:t>company.</a:t>
            </a:r>
            <a:endParaRPr lang="en-GB" sz="2400" dirty="0"/>
          </a:p>
          <a:p>
            <a:pPr marL="0" indent="0" algn="ctr">
              <a:buNone/>
            </a:pPr>
            <a:endParaRPr lang="fr-CA" sz="5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grpSp>
        <p:nvGrpSpPr>
          <p:cNvPr id="7" name="Group 6"/>
          <p:cNvGrpSpPr/>
          <p:nvPr/>
        </p:nvGrpSpPr>
        <p:grpSpPr>
          <a:xfrm>
            <a:off x="7308344" y="5733256"/>
            <a:ext cx="1296104" cy="558246"/>
            <a:chOff x="7452360" y="5733256"/>
            <a:chExt cx="1296104" cy="558246"/>
          </a:xfrm>
        </p:grpSpPr>
        <p:grpSp>
          <p:nvGrpSpPr>
            <p:cNvPr id="5" name="Group 4"/>
            <p:cNvGrpSpPr/>
            <p:nvPr/>
          </p:nvGrpSpPr>
          <p:grpSpPr>
            <a:xfrm>
              <a:off x="7452360" y="5733256"/>
              <a:ext cx="834302" cy="558246"/>
              <a:chOff x="7842154" y="5733256"/>
              <a:chExt cx="834302" cy="558246"/>
            </a:xfrm>
          </p:grpSpPr>
          <p:sp>
            <p:nvSpPr>
              <p:cNvPr id="16" name="Action Button: Return 15">
                <a:hlinkClick r:id="rId2" action="ppaction://hlinksldjump" highlightClick="1"/>
              </p:cNvPr>
              <p:cNvSpPr/>
              <p:nvPr/>
            </p:nvSpPr>
            <p:spPr bwMode="auto">
              <a:xfrm>
                <a:off x="7884368" y="5733256"/>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7" name="TextBox 16">
                <a:hlinkClick r:id="" action="ppaction://noaction"/>
              </p:cNvPr>
              <p:cNvSpPr txBox="1"/>
              <p:nvPr/>
            </p:nvSpPr>
            <p:spPr>
              <a:xfrm>
                <a:off x="7842154" y="6037586"/>
                <a:ext cx="444352" cy="253916"/>
              </a:xfrm>
              <a:prstGeom prst="actionButtonReturn">
                <a:avLst/>
              </a:prstGeom>
              <a:noFill/>
            </p:spPr>
            <p:txBody>
              <a:bodyPr wrap="none" rtlCol="0">
                <a:spAutoFit/>
              </a:bodyPr>
              <a:lstStyle/>
              <a:p>
                <a:pPr algn="ctr"/>
                <a:r>
                  <a:rPr lang="en-US" sz="1050" i="1" dirty="0" smtClean="0"/>
                  <a:t>Back</a:t>
                </a:r>
                <a:endParaRPr lang="en-US" sz="1050" i="1" dirty="0"/>
              </a:p>
            </p:txBody>
          </p:sp>
          <p:sp>
            <p:nvSpPr>
              <p:cNvPr id="18" name="Action Button: Home 17">
                <a:hlinkClick r:id="rId3" action="ppaction://hlinksldjump" highlightClick="1"/>
              </p:cNvPr>
              <p:cNvSpPr/>
              <p:nvPr/>
            </p:nvSpPr>
            <p:spPr bwMode="auto">
              <a:xfrm>
                <a:off x="8316416" y="5742000"/>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
          <p:nvSpPr>
            <p:cNvPr id="10" name="Action Button: Forward or Next 9">
              <a:hlinkClick r:id="" action="ppaction://hlinkshowjump?jump=nextslide" highlightClick="1"/>
            </p:cNvPr>
            <p:cNvSpPr/>
            <p:nvPr/>
          </p:nvSpPr>
          <p:spPr>
            <a:xfrm>
              <a:off x="8388464" y="5733256"/>
              <a:ext cx="360000" cy="298800"/>
            </a:xfrm>
            <a:prstGeom prst="actionButtonForwardNex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4054357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131840" y="260648"/>
            <a:ext cx="3007822" cy="3007822"/>
            <a:chOff x="2514051" y="0"/>
            <a:chExt cx="3007822" cy="3007822"/>
          </a:xfrm>
        </p:grpSpPr>
        <p:sp>
          <p:nvSpPr>
            <p:cNvPr id="3" name="Oval 2"/>
            <p:cNvSpPr/>
            <p:nvPr/>
          </p:nvSpPr>
          <p:spPr>
            <a:xfrm>
              <a:off x="2514051" y="0"/>
              <a:ext cx="3007822" cy="3007822"/>
            </a:xfrm>
            <a:prstGeom prst="ellipse">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4" name="Oval 4"/>
            <p:cNvSpPr/>
            <p:nvPr/>
          </p:nvSpPr>
          <p:spPr>
            <a:xfrm>
              <a:off x="2954536" y="440485"/>
              <a:ext cx="2126852" cy="21268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3020" tIns="33020" rIns="33020" bIns="33020" numCol="1" spcCol="1270" anchor="ctr" anchorCtr="0">
              <a:noAutofit/>
            </a:bodyPr>
            <a:lstStyle/>
            <a:p>
              <a:pPr lvl="0" algn="ctr" defTabSz="1155700">
                <a:lnSpc>
                  <a:spcPct val="90000"/>
                </a:lnSpc>
                <a:spcBef>
                  <a:spcPct val="0"/>
                </a:spcBef>
                <a:spcAft>
                  <a:spcPct val="35000"/>
                </a:spcAft>
              </a:pPr>
              <a:r>
                <a:rPr lang="en-US" sz="2600" kern="1200" dirty="0" smtClean="0"/>
                <a:t>Objective 3: Maximize economic returns to the state through licensing </a:t>
              </a:r>
              <a:endParaRPr lang="en-US" sz="2600" kern="1200" dirty="0"/>
            </a:p>
          </p:txBody>
        </p:sp>
      </p:grpSp>
      <p:sp>
        <p:nvSpPr>
          <p:cNvPr id="5" name="Freeform 10">
            <a:hlinkClick r:id="rId2" action="ppaction://hlinksldjump"/>
          </p:cNvPr>
          <p:cNvSpPr/>
          <p:nvPr/>
        </p:nvSpPr>
        <p:spPr>
          <a:xfrm>
            <a:off x="562127" y="5121159"/>
            <a:ext cx="8147248" cy="684105"/>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defTabSz="1555750">
              <a:lnSpc>
                <a:spcPct val="90000"/>
              </a:lnSpc>
              <a:spcAft>
                <a:spcPct val="35000"/>
              </a:spcAft>
            </a:pPr>
            <a:r>
              <a:rPr lang="en-US" sz="2000" dirty="0"/>
              <a:t>Recommendations </a:t>
            </a:r>
            <a:r>
              <a:rPr lang="en-US" sz="2000" dirty="0" smtClean="0"/>
              <a:t>for </a:t>
            </a:r>
            <a:r>
              <a:rPr lang="en-GB" sz="2000" dirty="0" smtClean="0">
                <a:cs typeface="Arial Black"/>
              </a:rPr>
              <a:t>changing investment terms</a:t>
            </a:r>
            <a:endParaRPr lang="en-US" sz="2000" kern="1200" dirty="0"/>
          </a:p>
        </p:txBody>
      </p:sp>
      <p:sp>
        <p:nvSpPr>
          <p:cNvPr id="6" name="Freeform 10">
            <a:hlinkClick r:id="rId3" action="ppaction://hlinksldjump"/>
          </p:cNvPr>
          <p:cNvSpPr/>
          <p:nvPr/>
        </p:nvSpPr>
        <p:spPr>
          <a:xfrm>
            <a:off x="562127" y="4257063"/>
            <a:ext cx="8147248" cy="684105"/>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r>
              <a:rPr lang="en-US" sz="2000" dirty="0"/>
              <a:t>Recommendations </a:t>
            </a:r>
            <a:r>
              <a:rPr lang="en-US" sz="2000" dirty="0" smtClean="0"/>
              <a:t>for dealing with </a:t>
            </a:r>
            <a:r>
              <a:rPr lang="en-GB" sz="2000" dirty="0" smtClean="0">
                <a:cs typeface="Arial Black"/>
              </a:rPr>
              <a:t>knowledge </a:t>
            </a:r>
            <a:r>
              <a:rPr lang="en-GB" sz="2000" dirty="0">
                <a:cs typeface="Arial Black"/>
              </a:rPr>
              <a:t>asymmetries in negotiations</a:t>
            </a:r>
            <a:endParaRPr lang="en-GB" sz="2000" dirty="0">
              <a:cs typeface="Arial"/>
            </a:endParaRPr>
          </a:p>
        </p:txBody>
      </p:sp>
      <p:sp>
        <p:nvSpPr>
          <p:cNvPr id="7" name="Freeform 10">
            <a:hlinkClick r:id="rId4" action="ppaction://hlinksldjump"/>
          </p:cNvPr>
          <p:cNvSpPr/>
          <p:nvPr/>
        </p:nvSpPr>
        <p:spPr>
          <a:xfrm>
            <a:off x="562127" y="3392967"/>
            <a:ext cx="8147248" cy="684105"/>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r>
              <a:rPr lang="en-US" sz="2000" dirty="0"/>
              <a:t>Recommendations </a:t>
            </a:r>
            <a:r>
              <a:rPr lang="en-US" sz="2000" dirty="0" smtClean="0"/>
              <a:t>for designing appropriate </a:t>
            </a:r>
            <a:r>
              <a:rPr lang="en-US" sz="2000" dirty="0"/>
              <a:t>t</a:t>
            </a:r>
            <a:r>
              <a:rPr lang="en-US" sz="2000" dirty="0" smtClean="0"/>
              <a:t>ax </a:t>
            </a:r>
            <a:r>
              <a:rPr lang="en-US" sz="2000" dirty="0"/>
              <a:t>s</a:t>
            </a:r>
            <a:r>
              <a:rPr lang="en-US" sz="2000" dirty="0" smtClean="0"/>
              <a:t>tructures</a:t>
            </a:r>
            <a:endParaRPr lang="en-US" sz="2000" dirty="0"/>
          </a:p>
        </p:txBody>
      </p:sp>
      <p:sp>
        <p:nvSpPr>
          <p:cNvPr id="12" name="Slide Number Placeholder 2"/>
          <p:cNvSpPr>
            <a:spLocks noGrp="1"/>
          </p:cNvSpPr>
          <p:nvPr>
            <p:ph type="sldNum" sz="quarter" idx="4294967295"/>
          </p:nvPr>
        </p:nvSpPr>
        <p:spPr>
          <a:xfrm>
            <a:off x="6553200" y="6356350"/>
            <a:ext cx="2133600" cy="365125"/>
          </a:xfrm>
        </p:spPr>
        <p:txBody>
          <a:bodyPr/>
          <a:lstStyle/>
          <a:p>
            <a:fld id="{418A78CD-E27B-441A-A2B1-21C1D5FFEB65}" type="slidenum">
              <a:rPr lang="en-US" sz="1200" smtClean="0">
                <a:solidFill>
                  <a:prstClr val="black"/>
                </a:solidFill>
                <a:latin typeface="Georgia" pitchFamily="18" charset="0"/>
              </a:rPr>
              <a:pPr/>
              <a:t>23</a:t>
            </a:fld>
            <a:endParaRPr lang="en-US" sz="1200" dirty="0">
              <a:solidFill>
                <a:prstClr val="black"/>
              </a:solidFill>
              <a:latin typeface="Georgia" pitchFamily="18" charset="0"/>
            </a:endParaRPr>
          </a:p>
        </p:txBody>
      </p:sp>
      <p:cxnSp>
        <p:nvCxnSpPr>
          <p:cNvPr id="13" name="Straight Connector 12"/>
          <p:cNvCxnSpPr/>
          <p:nvPr/>
        </p:nvCxnSpPr>
        <p:spPr>
          <a:xfrm>
            <a:off x="468000" y="6310800"/>
            <a:ext cx="8208000" cy="0"/>
          </a:xfrm>
          <a:prstGeom prst="line">
            <a:avLst/>
          </a:prstGeom>
          <a:ln w="19050" cmpd="thickThi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16" name="Action Button: Home 15">
            <a:hlinkClick r:id="rId5" action="ppaction://hlinksldjump" highlightClick="1"/>
          </p:cNvPr>
          <p:cNvSpPr/>
          <p:nvPr/>
        </p:nvSpPr>
        <p:spPr bwMode="auto">
          <a:xfrm>
            <a:off x="8317754" y="5937346"/>
            <a:ext cx="360040" cy="288032"/>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Tree>
    <p:extLst>
      <p:ext uri="{BB962C8B-B14F-4D97-AF65-F5344CB8AC3E}">
        <p14:creationId xmlns:p14="http://schemas.microsoft.com/office/powerpoint/2010/main" val="18644256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24</a:t>
            </a:fld>
            <a:endParaRPr lang="en-US" sz="1200" dirty="0">
              <a:solidFill>
                <a:prstClr val="black"/>
              </a:solidFill>
              <a:latin typeface="Georgia" pitchFamily="18" charset="0"/>
            </a:endParaRPr>
          </a:p>
        </p:txBody>
      </p:sp>
      <p:sp>
        <p:nvSpPr>
          <p:cNvPr id="5" name="Text Placeholder 4"/>
          <p:cNvSpPr>
            <a:spLocks noGrp="1"/>
          </p:cNvSpPr>
          <p:nvPr>
            <p:ph type="body" sz="quarter" idx="11"/>
          </p:nvPr>
        </p:nvSpPr>
        <p:spPr>
          <a:xfrm>
            <a:off x="528691" y="1196752"/>
            <a:ext cx="8208143" cy="936104"/>
          </a:xfrm>
        </p:spPr>
        <p:txBody>
          <a:bodyPr>
            <a:normAutofit fontScale="92500" lnSpcReduction="20000"/>
          </a:bodyPr>
          <a:lstStyle/>
          <a:p>
            <a:pPr marL="0" lvl="0" indent="0" algn="ctr">
              <a:buNone/>
            </a:pPr>
            <a:r>
              <a:rPr lang="en-US" sz="2500" dirty="0"/>
              <a:t>In designing fiscal terms, producers must balance early revenues and long-term </a:t>
            </a:r>
            <a:r>
              <a:rPr lang="en-US" sz="2500" dirty="0" smtClean="0"/>
              <a:t>benefits, in line with the national vision whilst maintaining investor interest.</a:t>
            </a:r>
            <a:endParaRPr lang="en-US" sz="2500" dirty="0"/>
          </a:p>
          <a:p>
            <a:endParaRPr lang="en-GB" dirty="0"/>
          </a:p>
        </p:txBody>
      </p:sp>
      <p:graphicFrame>
        <p:nvGraphicFramePr>
          <p:cNvPr id="6" name="Diagram 5"/>
          <p:cNvGraphicFramePr/>
          <p:nvPr>
            <p:extLst>
              <p:ext uri="{D42A27DB-BD31-4B8C-83A1-F6EECF244321}">
                <p14:modId xmlns:p14="http://schemas.microsoft.com/office/powerpoint/2010/main" val="493677952"/>
              </p:ext>
            </p:extLst>
          </p:nvPr>
        </p:nvGraphicFramePr>
        <p:xfrm>
          <a:off x="1187624" y="1844824"/>
          <a:ext cx="6912768" cy="30950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Freeform 10">
            <a:hlinkClick r:id="rId7" action="ppaction://hlinksldjump"/>
          </p:cNvPr>
          <p:cNvSpPr/>
          <p:nvPr/>
        </p:nvSpPr>
        <p:spPr>
          <a:xfrm>
            <a:off x="611560" y="5088639"/>
            <a:ext cx="7920880" cy="540089"/>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algn="ctr" defTabSz="1555750">
              <a:lnSpc>
                <a:spcPct val="90000"/>
              </a:lnSpc>
              <a:spcAft>
                <a:spcPct val="35000"/>
              </a:spcAft>
            </a:pPr>
            <a:r>
              <a:rPr lang="en-US" sz="2000" dirty="0" smtClean="0"/>
              <a:t>Recommendations for designing appropriate tax structures</a:t>
            </a:r>
            <a:endParaRPr lang="en-US" sz="2000" kern="1200" dirty="0"/>
          </a:p>
        </p:txBody>
      </p:sp>
      <p:grpSp>
        <p:nvGrpSpPr>
          <p:cNvPr id="9" name="Group 8"/>
          <p:cNvGrpSpPr/>
          <p:nvPr/>
        </p:nvGrpSpPr>
        <p:grpSpPr>
          <a:xfrm>
            <a:off x="7668000" y="5742000"/>
            <a:ext cx="1004191" cy="544654"/>
            <a:chOff x="7452547" y="5692658"/>
            <a:chExt cx="1004191" cy="544654"/>
          </a:xfrm>
        </p:grpSpPr>
        <p:grpSp>
          <p:nvGrpSpPr>
            <p:cNvPr id="4" name="Group 3"/>
            <p:cNvGrpSpPr/>
            <p:nvPr/>
          </p:nvGrpSpPr>
          <p:grpSpPr>
            <a:xfrm>
              <a:off x="7452547" y="5692658"/>
              <a:ext cx="792205" cy="544654"/>
              <a:chOff x="7452547" y="5692658"/>
              <a:chExt cx="792205" cy="544654"/>
            </a:xfrm>
          </p:grpSpPr>
          <p:sp>
            <p:nvSpPr>
              <p:cNvPr id="8" name="Action Button: Return 7">
                <a:hlinkClick r:id="rId8" action="ppaction://hlinksldjump" highlightClick="1"/>
              </p:cNvPr>
              <p:cNvSpPr/>
              <p:nvPr/>
            </p:nvSpPr>
            <p:spPr bwMode="auto">
              <a:xfrm>
                <a:off x="7655479" y="5692658"/>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0" name="TextBox 9">
                <a:hlinkClick r:id="" action="ppaction://noaction"/>
              </p:cNvPr>
              <p:cNvSpPr txBox="1"/>
              <p:nvPr/>
            </p:nvSpPr>
            <p:spPr>
              <a:xfrm>
                <a:off x="7452547" y="5983396"/>
                <a:ext cx="792205" cy="253916"/>
              </a:xfrm>
              <a:prstGeom prst="actionButtonReturn">
                <a:avLst/>
              </a:prstGeom>
              <a:noFill/>
            </p:spPr>
            <p:txBody>
              <a:bodyPr wrap="none" rtlCol="0">
                <a:spAutoFit/>
              </a:bodyPr>
              <a:lstStyle/>
              <a:p>
                <a:pPr algn="ctr"/>
                <a:r>
                  <a:rPr lang="en-US" sz="1050" i="1" dirty="0" smtClean="0"/>
                  <a:t>Objective 3</a:t>
                </a:r>
                <a:endParaRPr lang="en-US" sz="1050" i="1" dirty="0"/>
              </a:p>
            </p:txBody>
          </p:sp>
        </p:grpSp>
        <p:sp>
          <p:nvSpPr>
            <p:cNvPr id="11" name="Action Button: Home 10">
              <a:hlinkClick r:id="rId9" action="ppaction://hlinksldjump" highlightClick="1"/>
            </p:cNvPr>
            <p:cNvSpPr/>
            <p:nvPr/>
          </p:nvSpPr>
          <p:spPr bwMode="auto">
            <a:xfrm>
              <a:off x="8096698" y="5692658"/>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grpSp>
        <p:nvGrpSpPr>
          <p:cNvPr id="12" name="Group 11"/>
          <p:cNvGrpSpPr/>
          <p:nvPr/>
        </p:nvGrpSpPr>
        <p:grpSpPr>
          <a:xfrm>
            <a:off x="7356085" y="2603440"/>
            <a:ext cx="1617648" cy="1617648"/>
            <a:chOff x="5655147" y="1161"/>
            <a:chExt cx="1617648" cy="1617648"/>
          </a:xfrm>
        </p:grpSpPr>
        <p:sp>
          <p:nvSpPr>
            <p:cNvPr id="13" name="Oval 12"/>
            <p:cNvSpPr/>
            <p:nvPr/>
          </p:nvSpPr>
          <p:spPr>
            <a:xfrm>
              <a:off x="5655147" y="1161"/>
              <a:ext cx="1617648" cy="1617648"/>
            </a:xfrm>
            <a:prstGeom prst="ellipse">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14" name="Oval 4"/>
            <p:cNvSpPr/>
            <p:nvPr/>
          </p:nvSpPr>
          <p:spPr>
            <a:xfrm>
              <a:off x="5892046" y="238060"/>
              <a:ext cx="1143850" cy="11438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r>
                <a:rPr lang="en-US" sz="1700" dirty="0" smtClean="0">
                  <a:solidFill>
                    <a:schemeClr val="bg1"/>
                  </a:solidFill>
                </a:rPr>
                <a:t>Investors want lower fiscal burden during price slump</a:t>
              </a:r>
              <a:endParaRPr lang="en-US" sz="1700" kern="1200" dirty="0">
                <a:solidFill>
                  <a:schemeClr val="bg1"/>
                </a:solidFill>
              </a:endParaRPr>
            </a:p>
          </p:txBody>
        </p:sp>
      </p:grpSp>
      <p:sp>
        <p:nvSpPr>
          <p:cNvPr id="16" name="Freeform 9"/>
          <p:cNvSpPr/>
          <p:nvPr/>
        </p:nvSpPr>
        <p:spPr>
          <a:xfrm>
            <a:off x="420813" y="260648"/>
            <a:ext cx="8316021" cy="792146"/>
          </a:xfrm>
          <a:prstGeom prst="roundRect">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algn="ctr"/>
            <a:r>
              <a:rPr lang="en-US" sz="2000" dirty="0"/>
              <a:t>Challenge </a:t>
            </a:r>
            <a:r>
              <a:rPr lang="en-US" sz="2000" dirty="0" smtClean="0"/>
              <a:t>1: Designing appropriate tax structures</a:t>
            </a:r>
            <a:endParaRPr lang="en-US" sz="2000" dirty="0"/>
          </a:p>
        </p:txBody>
      </p:sp>
      <p:sp>
        <p:nvSpPr>
          <p:cNvPr id="15" name="Oval 4"/>
          <p:cNvSpPr/>
          <p:nvPr/>
        </p:nvSpPr>
        <p:spPr>
          <a:xfrm>
            <a:off x="611560" y="2904291"/>
            <a:ext cx="1143850" cy="11438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r>
              <a:rPr lang="en-US" sz="1700" dirty="0" smtClean="0">
                <a:solidFill>
                  <a:schemeClr val="bg1"/>
                </a:solidFill>
              </a:rPr>
              <a:t>Investors want to ease fiscal burden under low price environment</a:t>
            </a:r>
            <a:endParaRPr lang="en-US" sz="1700" kern="1200" dirty="0">
              <a:solidFill>
                <a:schemeClr val="bg1"/>
              </a:solidFill>
            </a:endParaRPr>
          </a:p>
        </p:txBody>
      </p:sp>
      <p:grpSp>
        <p:nvGrpSpPr>
          <p:cNvPr id="17" name="Group 16"/>
          <p:cNvGrpSpPr/>
          <p:nvPr/>
        </p:nvGrpSpPr>
        <p:grpSpPr>
          <a:xfrm>
            <a:off x="323528" y="2636912"/>
            <a:ext cx="1617648" cy="1617648"/>
            <a:chOff x="5655147" y="1161"/>
            <a:chExt cx="1617648" cy="1617648"/>
          </a:xfrm>
          <a:solidFill>
            <a:schemeClr val="bg1">
              <a:lumMod val="65000"/>
            </a:schemeClr>
          </a:solidFill>
        </p:grpSpPr>
        <p:sp>
          <p:nvSpPr>
            <p:cNvPr id="18" name="Oval 17"/>
            <p:cNvSpPr/>
            <p:nvPr/>
          </p:nvSpPr>
          <p:spPr>
            <a:xfrm>
              <a:off x="5655147" y="1161"/>
              <a:ext cx="1617648" cy="1617648"/>
            </a:xfrm>
            <a:prstGeom prst="ellipse">
              <a:avLst/>
            </a:prstGeom>
            <a:grp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19" name="Oval 4"/>
            <p:cNvSpPr/>
            <p:nvPr/>
          </p:nvSpPr>
          <p:spPr>
            <a:xfrm>
              <a:off x="5892046" y="238060"/>
              <a:ext cx="1143850" cy="1143850"/>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r>
                <a:rPr lang="en-US" sz="1700" dirty="0" smtClean="0">
                  <a:solidFill>
                    <a:schemeClr val="bg1"/>
                  </a:solidFill>
                </a:rPr>
                <a:t>Priorities laid out in national vision?</a:t>
              </a:r>
              <a:endParaRPr lang="en-US" sz="1700" kern="1200" dirty="0">
                <a:solidFill>
                  <a:schemeClr val="bg1"/>
                </a:solidFill>
              </a:endParaRPr>
            </a:p>
          </p:txBody>
        </p:sp>
      </p:grpSp>
      <p:sp>
        <p:nvSpPr>
          <p:cNvPr id="20"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Tree>
    <p:extLst>
      <p:ext uri="{BB962C8B-B14F-4D97-AF65-F5344CB8AC3E}">
        <p14:creationId xmlns:p14="http://schemas.microsoft.com/office/powerpoint/2010/main" val="356266985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25</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a:xfrm>
            <a:off x="467544" y="116632"/>
            <a:ext cx="8208143" cy="432048"/>
          </a:xfrm>
        </p:spPr>
        <p:txBody>
          <a:bodyPr>
            <a:noAutofit/>
          </a:bodyPr>
          <a:lstStyle/>
          <a:p>
            <a:r>
              <a:rPr lang="en-GB" sz="2400" dirty="0" smtClean="0"/>
              <a:t>Recommendations for designing fiscal terms that provide early revenues and ensure long-term benefits (1/2)</a:t>
            </a:r>
            <a:endParaRPr lang="en-GB" sz="2400" dirty="0"/>
          </a:p>
        </p:txBody>
      </p:sp>
      <p:graphicFrame>
        <p:nvGraphicFramePr>
          <p:cNvPr id="6" name="Diagram 5"/>
          <p:cNvGraphicFramePr/>
          <p:nvPr>
            <p:extLst>
              <p:ext uri="{D42A27DB-BD31-4B8C-83A1-F6EECF244321}">
                <p14:modId xmlns:p14="http://schemas.microsoft.com/office/powerpoint/2010/main" val="907347298"/>
              </p:ext>
            </p:extLst>
          </p:nvPr>
        </p:nvGraphicFramePr>
        <p:xfrm>
          <a:off x="1187624" y="1124744"/>
          <a:ext cx="6889819" cy="44644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9" name="Group 8"/>
          <p:cNvGrpSpPr/>
          <p:nvPr/>
        </p:nvGrpSpPr>
        <p:grpSpPr>
          <a:xfrm>
            <a:off x="7668000" y="5742000"/>
            <a:ext cx="1004191" cy="544654"/>
            <a:chOff x="7452547" y="5692658"/>
            <a:chExt cx="1004191" cy="544654"/>
          </a:xfrm>
        </p:grpSpPr>
        <p:grpSp>
          <p:nvGrpSpPr>
            <p:cNvPr id="11" name="Group 10"/>
            <p:cNvGrpSpPr/>
            <p:nvPr/>
          </p:nvGrpSpPr>
          <p:grpSpPr>
            <a:xfrm>
              <a:off x="7452547" y="5692658"/>
              <a:ext cx="792205" cy="544654"/>
              <a:chOff x="7452547" y="5692658"/>
              <a:chExt cx="792205" cy="544654"/>
            </a:xfrm>
          </p:grpSpPr>
          <p:sp>
            <p:nvSpPr>
              <p:cNvPr id="15" name="Action Button: Return 14">
                <a:hlinkClick r:id="rId7" action="ppaction://hlinksldjump" highlightClick="1"/>
              </p:cNvPr>
              <p:cNvSpPr/>
              <p:nvPr/>
            </p:nvSpPr>
            <p:spPr bwMode="auto">
              <a:xfrm>
                <a:off x="7655479" y="5692658"/>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6" name="TextBox 15">
                <a:hlinkClick r:id="" action="ppaction://noaction"/>
              </p:cNvPr>
              <p:cNvSpPr txBox="1"/>
              <p:nvPr/>
            </p:nvSpPr>
            <p:spPr>
              <a:xfrm>
                <a:off x="7452547" y="5983396"/>
                <a:ext cx="792205" cy="253916"/>
              </a:xfrm>
              <a:prstGeom prst="actionButtonReturn">
                <a:avLst/>
              </a:prstGeom>
              <a:noFill/>
            </p:spPr>
            <p:txBody>
              <a:bodyPr wrap="none" rtlCol="0">
                <a:spAutoFit/>
              </a:bodyPr>
              <a:lstStyle/>
              <a:p>
                <a:pPr algn="ctr"/>
                <a:r>
                  <a:rPr lang="en-US" sz="1050" i="1" dirty="0" smtClean="0"/>
                  <a:t>Objective 3</a:t>
                </a:r>
                <a:endParaRPr lang="en-US" sz="1050" i="1" dirty="0"/>
              </a:p>
            </p:txBody>
          </p:sp>
        </p:grpSp>
        <p:sp>
          <p:nvSpPr>
            <p:cNvPr id="14" name="Action Button: Home 13">
              <a:hlinkClick r:id="rId8" action="ppaction://hlinksldjump" highlightClick="1"/>
            </p:cNvPr>
            <p:cNvSpPr/>
            <p:nvPr/>
          </p:nvSpPr>
          <p:spPr bwMode="auto">
            <a:xfrm>
              <a:off x="8096698" y="5692658"/>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Tree>
    <p:extLst>
      <p:ext uri="{BB962C8B-B14F-4D97-AF65-F5344CB8AC3E}">
        <p14:creationId xmlns:p14="http://schemas.microsoft.com/office/powerpoint/2010/main" val="310033618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26</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a:xfrm>
            <a:off x="468313" y="188640"/>
            <a:ext cx="8208143" cy="792088"/>
          </a:xfrm>
        </p:spPr>
        <p:txBody>
          <a:bodyPr>
            <a:normAutofit fontScale="55000" lnSpcReduction="20000"/>
          </a:bodyPr>
          <a:lstStyle/>
          <a:p>
            <a:r>
              <a:rPr lang="en-GB" sz="4400" dirty="0"/>
              <a:t>Recommendations for designing fiscal terms that provide early revenues and ensure long-term benefits </a:t>
            </a:r>
            <a:r>
              <a:rPr lang="en-GB" sz="4400" dirty="0" smtClean="0"/>
              <a:t>(2/2)</a:t>
            </a:r>
            <a:endParaRPr lang="en-GB" sz="4400" dirty="0"/>
          </a:p>
          <a:p>
            <a:endParaRPr lang="en-GB" dirty="0"/>
          </a:p>
        </p:txBody>
      </p:sp>
      <p:sp>
        <p:nvSpPr>
          <p:cNvPr id="5" name="Text Placeholder 4"/>
          <p:cNvSpPr>
            <a:spLocks noGrp="1"/>
          </p:cNvSpPr>
          <p:nvPr>
            <p:ph type="body" sz="quarter" idx="11"/>
          </p:nvPr>
        </p:nvSpPr>
        <p:spPr>
          <a:xfrm>
            <a:off x="464048" y="1700808"/>
            <a:ext cx="8208143" cy="3600400"/>
          </a:xfrm>
        </p:spPr>
        <p:txBody>
          <a:bodyPr>
            <a:normAutofit fontScale="92500" lnSpcReduction="20000"/>
          </a:bodyPr>
          <a:lstStyle/>
          <a:p>
            <a:r>
              <a:rPr lang="en-GB" sz="2400" dirty="0" smtClean="0"/>
              <a:t>Keep the tax structure simple</a:t>
            </a:r>
          </a:p>
          <a:p>
            <a:pPr marL="0" indent="0">
              <a:buNone/>
            </a:pPr>
            <a:endParaRPr lang="en-GB" sz="2400" dirty="0" smtClean="0"/>
          </a:p>
          <a:p>
            <a:r>
              <a:rPr lang="en-GB" sz="2400" dirty="0" smtClean="0"/>
              <a:t>Harmonize </a:t>
            </a:r>
            <a:r>
              <a:rPr lang="en-US" sz="2400" dirty="0" smtClean="0"/>
              <a:t>tax code and </a:t>
            </a:r>
            <a:r>
              <a:rPr lang="en-US" sz="2400" dirty="0"/>
              <a:t>petroleum law </a:t>
            </a:r>
            <a:endParaRPr lang="en-GB" sz="2400" dirty="0" smtClean="0"/>
          </a:p>
          <a:p>
            <a:endParaRPr lang="en-US" sz="2400" dirty="0" smtClean="0"/>
          </a:p>
          <a:p>
            <a:r>
              <a:rPr lang="en-US" sz="2400" dirty="0" smtClean="0"/>
              <a:t>Define </a:t>
            </a:r>
            <a:r>
              <a:rPr lang="en-US" sz="2400" dirty="0"/>
              <a:t>tax obligations and other imposition criteria in the tax </a:t>
            </a:r>
            <a:r>
              <a:rPr lang="en-US" sz="2400" dirty="0" smtClean="0"/>
              <a:t>codes, not in the </a:t>
            </a:r>
            <a:r>
              <a:rPr lang="en-US" sz="2400" dirty="0"/>
              <a:t>contracts (except negotiable fiscal elements</a:t>
            </a:r>
            <a:r>
              <a:rPr lang="en-US" sz="2400" dirty="0" smtClean="0"/>
              <a:t>)</a:t>
            </a:r>
            <a:endParaRPr lang="en-US" sz="2400" dirty="0"/>
          </a:p>
          <a:p>
            <a:endParaRPr lang="en-GB" sz="2400" dirty="0" smtClean="0"/>
          </a:p>
          <a:p>
            <a:r>
              <a:rPr lang="en-GB" sz="2400" dirty="0" smtClean="0"/>
              <a:t>Before licensing make fair provisions </a:t>
            </a:r>
            <a:r>
              <a:rPr lang="en-GB" sz="2400" dirty="0"/>
              <a:t>for taxing capital gains </a:t>
            </a:r>
            <a:r>
              <a:rPr lang="en-US" sz="2400" dirty="0" smtClean="0"/>
              <a:t>by </a:t>
            </a:r>
            <a:r>
              <a:rPr lang="en-US" sz="2400" dirty="0"/>
              <a:t>early entrants that later sell </a:t>
            </a:r>
            <a:r>
              <a:rPr lang="en-US" sz="2400" dirty="0" smtClean="0"/>
              <a:t>out</a:t>
            </a:r>
          </a:p>
          <a:p>
            <a:endParaRPr lang="en-US" sz="2400" dirty="0"/>
          </a:p>
          <a:p>
            <a:r>
              <a:rPr lang="en-US" sz="2400" dirty="0" smtClean="0"/>
              <a:t>To </a:t>
            </a:r>
            <a:r>
              <a:rPr lang="en-US" sz="2400" dirty="0"/>
              <a:t>attract exploration </a:t>
            </a:r>
            <a:r>
              <a:rPr lang="en-US" sz="2400" dirty="0" smtClean="0"/>
              <a:t>capital, attach more weighting to work </a:t>
            </a:r>
            <a:r>
              <a:rPr lang="en-US" sz="2400" dirty="0" err="1" smtClean="0"/>
              <a:t>programmes</a:t>
            </a:r>
            <a:r>
              <a:rPr lang="en-US" sz="2400" dirty="0" smtClean="0"/>
              <a:t> than signature bonuses</a:t>
            </a:r>
          </a:p>
          <a:p>
            <a:pPr marL="0" indent="0">
              <a:buNone/>
            </a:pPr>
            <a:endParaRPr lang="en-US" sz="2400" dirty="0"/>
          </a:p>
          <a:p>
            <a:endParaRPr lang="en-GB" sz="2400" dirty="0"/>
          </a:p>
        </p:txBody>
      </p:sp>
      <p:grpSp>
        <p:nvGrpSpPr>
          <p:cNvPr id="9" name="Group 8"/>
          <p:cNvGrpSpPr/>
          <p:nvPr/>
        </p:nvGrpSpPr>
        <p:grpSpPr>
          <a:xfrm>
            <a:off x="7668000" y="5742000"/>
            <a:ext cx="1004191" cy="544654"/>
            <a:chOff x="7452547" y="5692658"/>
            <a:chExt cx="1004191" cy="544654"/>
          </a:xfrm>
        </p:grpSpPr>
        <p:grpSp>
          <p:nvGrpSpPr>
            <p:cNvPr id="10" name="Group 9"/>
            <p:cNvGrpSpPr/>
            <p:nvPr/>
          </p:nvGrpSpPr>
          <p:grpSpPr>
            <a:xfrm>
              <a:off x="7452547" y="5692658"/>
              <a:ext cx="792205" cy="544654"/>
              <a:chOff x="7452547" y="5692658"/>
              <a:chExt cx="792205" cy="544654"/>
            </a:xfrm>
          </p:grpSpPr>
          <p:sp>
            <p:nvSpPr>
              <p:cNvPr id="12" name="Action Button: Return 11">
                <a:hlinkClick r:id="rId2" action="ppaction://hlinksldjump" highlightClick="1"/>
              </p:cNvPr>
              <p:cNvSpPr/>
              <p:nvPr/>
            </p:nvSpPr>
            <p:spPr bwMode="auto">
              <a:xfrm>
                <a:off x="7655479" y="5692658"/>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3" name="TextBox 12">
                <a:hlinkClick r:id="" action="ppaction://noaction"/>
              </p:cNvPr>
              <p:cNvSpPr txBox="1"/>
              <p:nvPr/>
            </p:nvSpPr>
            <p:spPr>
              <a:xfrm>
                <a:off x="7452547" y="5983396"/>
                <a:ext cx="792205" cy="253916"/>
              </a:xfrm>
              <a:prstGeom prst="actionButtonReturn">
                <a:avLst/>
              </a:prstGeom>
              <a:noFill/>
            </p:spPr>
            <p:txBody>
              <a:bodyPr wrap="none" rtlCol="0">
                <a:spAutoFit/>
              </a:bodyPr>
              <a:lstStyle/>
              <a:p>
                <a:pPr algn="ctr"/>
                <a:r>
                  <a:rPr lang="en-US" sz="1050" i="1" dirty="0" smtClean="0"/>
                  <a:t>Objective 3</a:t>
                </a:r>
                <a:endParaRPr lang="en-US" sz="1050" i="1" dirty="0"/>
              </a:p>
            </p:txBody>
          </p:sp>
        </p:grpSp>
        <p:sp>
          <p:nvSpPr>
            <p:cNvPr id="11" name="Action Button: Home 10">
              <a:hlinkClick r:id="rId3" action="ppaction://hlinksldjump" highlightClick="1"/>
            </p:cNvPr>
            <p:cNvSpPr/>
            <p:nvPr/>
          </p:nvSpPr>
          <p:spPr bwMode="auto">
            <a:xfrm>
              <a:off x="8096698" y="5692658"/>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Tree>
    <p:extLst>
      <p:ext uri="{BB962C8B-B14F-4D97-AF65-F5344CB8AC3E}">
        <p14:creationId xmlns:p14="http://schemas.microsoft.com/office/powerpoint/2010/main" val="299429007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
          <p:cNvSpPr/>
          <p:nvPr/>
        </p:nvSpPr>
        <p:spPr>
          <a:xfrm>
            <a:off x="496515" y="260648"/>
            <a:ext cx="8035925" cy="792146"/>
          </a:xfrm>
          <a:prstGeom prst="roundRect">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marL="3175" algn="ctr"/>
            <a:r>
              <a:rPr lang="en-US" sz="2000" dirty="0">
                <a:cs typeface="Arial"/>
              </a:rPr>
              <a:t>Challenge 2: </a:t>
            </a:r>
            <a:r>
              <a:rPr lang="en-GB" sz="2000" dirty="0">
                <a:cs typeface="Arial"/>
              </a:rPr>
              <a:t>K</a:t>
            </a:r>
            <a:r>
              <a:rPr lang="en-GB" sz="2000" dirty="0" smtClean="0">
                <a:cs typeface="Arial"/>
              </a:rPr>
              <a:t>nowledge </a:t>
            </a:r>
            <a:r>
              <a:rPr lang="en-GB" sz="2000" dirty="0">
                <a:cs typeface="Arial"/>
              </a:rPr>
              <a:t>asymmetries in negotiations</a:t>
            </a:r>
            <a:endParaRPr lang="en-GB" sz="2000" dirty="0">
              <a:latin typeface="Arial" charset="0"/>
            </a:endParaRPr>
          </a:p>
        </p:txBody>
      </p:sp>
      <p:sp>
        <p:nvSpPr>
          <p:cNvPr id="3" name="Content Placeholder 2"/>
          <p:cNvSpPr txBox="1">
            <a:spLocks/>
          </p:cNvSpPr>
          <p:nvPr/>
        </p:nvSpPr>
        <p:spPr>
          <a:xfrm>
            <a:off x="457200" y="1196752"/>
            <a:ext cx="8035925" cy="4038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Georgia" pitchFamily="18"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Georgia" pitchFamily="18" charset="0"/>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Georgia" pitchFamily="18"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Georgia" pitchFamily="18"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Georgia" pitchFamily="18"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150" indent="0">
              <a:buFont typeface="Arial" pitchFamily="34" charset="0"/>
              <a:buNone/>
            </a:pPr>
            <a:r>
              <a:rPr lang="en-US" sz="2300" dirty="0" smtClean="0"/>
              <a:t>Government negotiators may have insufficient knowledge of the costs and technical requirements of oil and gas sector to get optimal terms in negotiations:</a:t>
            </a:r>
          </a:p>
          <a:p>
            <a:pPr marL="57150" indent="0">
              <a:buFont typeface="Arial" pitchFamily="34" charset="0"/>
              <a:buNone/>
            </a:pPr>
            <a:endParaRPr lang="en-US" sz="1800" i="1" dirty="0" smtClean="0"/>
          </a:p>
          <a:p>
            <a:pPr marL="57150" indent="0" algn="ctr">
              <a:buFont typeface="Arial" pitchFamily="34" charset="0"/>
              <a:buNone/>
            </a:pPr>
            <a:r>
              <a:rPr lang="en-US" sz="1800" i="1" dirty="0" smtClean="0"/>
              <a:t>‘Timor-Leste’s regulatory National Petroleum Authority has about 100 staff (most of whom graduated from university within the last five years and have never worked anywhere else) and a total annual budget of less than $10 million. ENI, which is only one of the companies which they regulate, has about 80,000 personnel and annual expenditures of more than $90,000 million. How can a balance be achieved between such unequal entities?’ </a:t>
            </a:r>
          </a:p>
          <a:p>
            <a:pPr marL="57150" indent="0" algn="r">
              <a:buFont typeface="Arial" pitchFamily="34" charset="0"/>
              <a:buNone/>
            </a:pPr>
            <a:r>
              <a:rPr lang="en-US" sz="1200" dirty="0" smtClean="0"/>
              <a:t>- Charlie </a:t>
            </a:r>
            <a:r>
              <a:rPr lang="en-US" sz="1200" dirty="0" err="1" smtClean="0"/>
              <a:t>Scheiner</a:t>
            </a:r>
            <a:r>
              <a:rPr lang="en-US" sz="1200" dirty="0" smtClean="0"/>
              <a:t> at the Timorese NGO </a:t>
            </a:r>
            <a:r>
              <a:rPr lang="en-US" sz="1200" dirty="0" err="1" smtClean="0"/>
              <a:t>La’o</a:t>
            </a:r>
            <a:r>
              <a:rPr lang="en-US" sz="1200" dirty="0" smtClean="0"/>
              <a:t> </a:t>
            </a:r>
            <a:r>
              <a:rPr lang="en-US" sz="1200" dirty="0" err="1" smtClean="0"/>
              <a:t>Hamutuk</a:t>
            </a:r>
            <a:r>
              <a:rPr lang="en-US" sz="1200" dirty="0" smtClean="0"/>
              <a:t> </a:t>
            </a:r>
          </a:p>
          <a:p>
            <a:pPr marL="57150" indent="0" algn="r">
              <a:buFont typeface="Arial" pitchFamily="34" charset="0"/>
              <a:buNone/>
            </a:pPr>
            <a:endParaRPr lang="en-US" dirty="0" smtClean="0"/>
          </a:p>
        </p:txBody>
      </p:sp>
      <p:sp>
        <p:nvSpPr>
          <p:cNvPr id="4" name="Freeform 10">
            <a:hlinkClick r:id="rId2" action="ppaction://hlinksldjump"/>
          </p:cNvPr>
          <p:cNvSpPr/>
          <p:nvPr/>
        </p:nvSpPr>
        <p:spPr>
          <a:xfrm>
            <a:off x="611559" y="5157192"/>
            <a:ext cx="7881565" cy="525285"/>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algn="ctr" defTabSz="1555750">
              <a:lnSpc>
                <a:spcPct val="90000"/>
              </a:lnSpc>
              <a:spcAft>
                <a:spcPct val="35000"/>
              </a:spcAft>
            </a:pPr>
            <a:r>
              <a:rPr lang="en-US" sz="1900" dirty="0"/>
              <a:t>Recommendations for dealing with </a:t>
            </a:r>
            <a:r>
              <a:rPr lang="en-GB" sz="1900" dirty="0">
                <a:cs typeface="Arial Black"/>
              </a:rPr>
              <a:t>knowledge asymmetries in negotiations</a:t>
            </a:r>
            <a:endParaRPr lang="en-US" sz="1900" kern="1200" dirty="0"/>
          </a:p>
        </p:txBody>
      </p:sp>
      <p:grpSp>
        <p:nvGrpSpPr>
          <p:cNvPr id="11" name="Group 10"/>
          <p:cNvGrpSpPr/>
          <p:nvPr/>
        </p:nvGrpSpPr>
        <p:grpSpPr>
          <a:xfrm>
            <a:off x="7668000" y="5742000"/>
            <a:ext cx="1004191" cy="544654"/>
            <a:chOff x="7452547" y="5692658"/>
            <a:chExt cx="1004191" cy="544654"/>
          </a:xfrm>
        </p:grpSpPr>
        <p:grpSp>
          <p:nvGrpSpPr>
            <p:cNvPr id="12" name="Group 11"/>
            <p:cNvGrpSpPr/>
            <p:nvPr/>
          </p:nvGrpSpPr>
          <p:grpSpPr>
            <a:xfrm>
              <a:off x="7452547" y="5692658"/>
              <a:ext cx="792205" cy="544654"/>
              <a:chOff x="7452547" y="5692658"/>
              <a:chExt cx="792205" cy="544654"/>
            </a:xfrm>
          </p:grpSpPr>
          <p:sp>
            <p:nvSpPr>
              <p:cNvPr id="14" name="Action Button: Return 13">
                <a:hlinkClick r:id="rId3" action="ppaction://hlinksldjump" highlightClick="1"/>
              </p:cNvPr>
              <p:cNvSpPr/>
              <p:nvPr/>
            </p:nvSpPr>
            <p:spPr bwMode="auto">
              <a:xfrm>
                <a:off x="7655479" y="5692658"/>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5" name="TextBox 14">
                <a:hlinkClick r:id="" action="ppaction://noaction"/>
              </p:cNvPr>
              <p:cNvSpPr txBox="1"/>
              <p:nvPr/>
            </p:nvSpPr>
            <p:spPr>
              <a:xfrm>
                <a:off x="7452547" y="5983396"/>
                <a:ext cx="792205" cy="253916"/>
              </a:xfrm>
              <a:prstGeom prst="actionButtonReturn">
                <a:avLst/>
              </a:prstGeom>
              <a:noFill/>
            </p:spPr>
            <p:txBody>
              <a:bodyPr wrap="none" rtlCol="0">
                <a:spAutoFit/>
              </a:bodyPr>
              <a:lstStyle/>
              <a:p>
                <a:pPr algn="ctr"/>
                <a:r>
                  <a:rPr lang="en-US" sz="1050" i="1" dirty="0" smtClean="0"/>
                  <a:t>Objective 3</a:t>
                </a:r>
                <a:endParaRPr lang="en-US" sz="1050" i="1" dirty="0"/>
              </a:p>
            </p:txBody>
          </p:sp>
        </p:grpSp>
        <p:sp>
          <p:nvSpPr>
            <p:cNvPr id="13" name="Action Button: Home 12">
              <a:hlinkClick r:id="rId4" action="ppaction://hlinksldjump" highlightClick="1"/>
            </p:cNvPr>
            <p:cNvSpPr/>
            <p:nvPr/>
          </p:nvSpPr>
          <p:spPr bwMode="auto">
            <a:xfrm>
              <a:off x="8096698" y="5692658"/>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
        <p:nvSpPr>
          <p:cNvPr id="16" name="Slide Number Placeholder 2"/>
          <p:cNvSpPr>
            <a:spLocks noGrp="1"/>
          </p:cNvSpPr>
          <p:nvPr>
            <p:ph type="sldNum" sz="quarter" idx="4294967295"/>
          </p:nvPr>
        </p:nvSpPr>
        <p:spPr>
          <a:xfrm>
            <a:off x="6553200" y="6356350"/>
            <a:ext cx="2133600" cy="365125"/>
          </a:xfrm>
        </p:spPr>
        <p:txBody>
          <a:bodyPr/>
          <a:lstStyle/>
          <a:p>
            <a:fld id="{418A78CD-E27B-441A-A2B1-21C1D5FFEB65}" type="slidenum">
              <a:rPr lang="en-US" sz="1200" smtClean="0">
                <a:solidFill>
                  <a:prstClr val="black"/>
                </a:solidFill>
                <a:latin typeface="Georgia" pitchFamily="18" charset="0"/>
              </a:rPr>
              <a:pPr/>
              <a:t>27</a:t>
            </a:fld>
            <a:endParaRPr lang="en-US" sz="1200" dirty="0">
              <a:solidFill>
                <a:prstClr val="black"/>
              </a:solidFill>
              <a:latin typeface="Georgia" pitchFamily="18" charset="0"/>
            </a:endParaRPr>
          </a:p>
        </p:txBody>
      </p:sp>
      <p:sp>
        <p:nvSpPr>
          <p:cNvPr id="17"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cxnSp>
        <p:nvCxnSpPr>
          <p:cNvPr id="18" name="Straight Connector 17"/>
          <p:cNvCxnSpPr/>
          <p:nvPr/>
        </p:nvCxnSpPr>
        <p:spPr>
          <a:xfrm>
            <a:off x="468000" y="6310800"/>
            <a:ext cx="8208000" cy="0"/>
          </a:xfrm>
          <a:prstGeom prst="line">
            <a:avLst/>
          </a:prstGeom>
          <a:ln w="19050" cmpd="thickThi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175346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28</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a:xfrm>
            <a:off x="468313" y="116632"/>
            <a:ext cx="8208143" cy="648072"/>
          </a:xfrm>
        </p:spPr>
        <p:txBody>
          <a:bodyPr>
            <a:noAutofit/>
          </a:bodyPr>
          <a:lstStyle/>
          <a:p>
            <a:r>
              <a:rPr lang="en-GB" sz="2400" dirty="0" smtClean="0"/>
              <a:t>Recommendations to overcome knowledge asymmetries in negotiations</a:t>
            </a:r>
            <a:endParaRPr lang="en-GB" sz="2400" dirty="0"/>
          </a:p>
        </p:txBody>
      </p:sp>
      <p:sp>
        <p:nvSpPr>
          <p:cNvPr id="5" name="Text Placeholder 4"/>
          <p:cNvSpPr>
            <a:spLocks noGrp="1"/>
          </p:cNvSpPr>
          <p:nvPr>
            <p:ph type="body" sz="quarter" idx="11"/>
          </p:nvPr>
        </p:nvSpPr>
        <p:spPr>
          <a:xfrm>
            <a:off x="438018" y="1772816"/>
            <a:ext cx="8208143" cy="3600400"/>
          </a:xfrm>
        </p:spPr>
        <p:txBody>
          <a:bodyPr>
            <a:normAutofit fontScale="40000" lnSpcReduction="20000"/>
          </a:bodyPr>
          <a:lstStyle/>
          <a:p>
            <a:pPr algn="just">
              <a:spcAft>
                <a:spcPts val="300"/>
              </a:spcAft>
            </a:pPr>
            <a:r>
              <a:rPr lang="en-US" sz="5300" b="1" dirty="0"/>
              <a:t>Get help: </a:t>
            </a:r>
            <a:r>
              <a:rPr lang="en-US" sz="5300" dirty="0"/>
              <a:t>when in direct negotiations, governments should work with consultants or technical advisers </a:t>
            </a:r>
            <a:r>
              <a:rPr lang="en-US" sz="5300" dirty="0" smtClean="0"/>
              <a:t>to support </a:t>
            </a:r>
            <a:r>
              <a:rPr lang="en-US" sz="5300" dirty="0"/>
              <a:t>the state in negotiations</a:t>
            </a:r>
          </a:p>
          <a:p>
            <a:pPr algn="just">
              <a:spcAft>
                <a:spcPts val="300"/>
              </a:spcAft>
            </a:pPr>
            <a:r>
              <a:rPr lang="en-US" sz="5300" dirty="0" smtClean="0"/>
              <a:t>Ensure external </a:t>
            </a:r>
            <a:r>
              <a:rPr lang="en-US" sz="5300" dirty="0"/>
              <a:t>support is tailored to the national context in order to avoid ‘cookie cutter’ </a:t>
            </a:r>
            <a:r>
              <a:rPr lang="en-US" sz="5300" dirty="0" smtClean="0"/>
              <a:t>solutions</a:t>
            </a:r>
          </a:p>
          <a:p>
            <a:pPr algn="just">
              <a:spcAft>
                <a:spcPts val="300"/>
              </a:spcAft>
            </a:pPr>
            <a:endParaRPr lang="en-US" sz="5300" dirty="0"/>
          </a:p>
          <a:p>
            <a:pPr algn="just">
              <a:spcAft>
                <a:spcPts val="300"/>
              </a:spcAft>
            </a:pPr>
            <a:r>
              <a:rPr lang="en-US" sz="5300" b="1" dirty="0"/>
              <a:t>Keep it simple: </a:t>
            </a:r>
            <a:r>
              <a:rPr lang="en-US" sz="5300" dirty="0"/>
              <a:t>move as many fiscal elements as possible into laws and regulations, to limit the items to be negotiated</a:t>
            </a:r>
          </a:p>
          <a:p>
            <a:pPr algn="just">
              <a:spcAft>
                <a:spcPts val="300"/>
              </a:spcAft>
            </a:pPr>
            <a:r>
              <a:rPr lang="en-US" sz="5300" dirty="0" smtClean="0"/>
              <a:t>Use a production-sharing </a:t>
            </a:r>
            <a:r>
              <a:rPr lang="en-US" sz="5300" dirty="0"/>
              <a:t>contract with minimal biddable </a:t>
            </a:r>
            <a:r>
              <a:rPr lang="en-US" sz="5300" dirty="0" smtClean="0"/>
              <a:t>items</a:t>
            </a:r>
            <a:endParaRPr lang="en-US" sz="5300" dirty="0"/>
          </a:p>
          <a:p>
            <a:pPr algn="just"/>
            <a:r>
              <a:rPr lang="en-US" sz="5300" dirty="0"/>
              <a:t>Include capacity-building requirements in licensing </a:t>
            </a:r>
            <a:r>
              <a:rPr lang="en-US" sz="5300" dirty="0" smtClean="0"/>
              <a:t>agreements</a:t>
            </a:r>
          </a:p>
          <a:p>
            <a:pPr algn="just"/>
            <a:endParaRPr lang="en-US" sz="5300" dirty="0"/>
          </a:p>
          <a:p>
            <a:pPr lvl="0" algn="just"/>
            <a:r>
              <a:rPr lang="en-US" sz="5300" b="1" dirty="0" smtClean="0"/>
              <a:t>Help </a:t>
            </a:r>
            <a:r>
              <a:rPr lang="en-US" sz="5300" b="1" dirty="0"/>
              <a:t>your neighbor: </a:t>
            </a:r>
            <a:r>
              <a:rPr lang="en-US" sz="5300" dirty="0"/>
              <a:t>consider making contracts </a:t>
            </a:r>
            <a:r>
              <a:rPr lang="en-US" sz="5300" dirty="0" smtClean="0"/>
              <a:t>transparent</a:t>
            </a:r>
            <a:endParaRPr lang="en-US" sz="5300" b="1" dirty="0">
              <a:solidFill>
                <a:srgbClr val="006699"/>
              </a:solidFill>
            </a:endParaRPr>
          </a:p>
          <a:p>
            <a:pPr algn="just"/>
            <a:endParaRPr lang="en-US" dirty="0"/>
          </a:p>
          <a:p>
            <a:endParaRPr lang="en-GB" dirty="0"/>
          </a:p>
        </p:txBody>
      </p:sp>
      <p:grpSp>
        <p:nvGrpSpPr>
          <p:cNvPr id="11" name="Group 10"/>
          <p:cNvGrpSpPr/>
          <p:nvPr/>
        </p:nvGrpSpPr>
        <p:grpSpPr>
          <a:xfrm>
            <a:off x="7668000" y="5742000"/>
            <a:ext cx="1004191" cy="544654"/>
            <a:chOff x="7452547" y="5692658"/>
            <a:chExt cx="1004191" cy="544654"/>
          </a:xfrm>
        </p:grpSpPr>
        <p:grpSp>
          <p:nvGrpSpPr>
            <p:cNvPr id="12" name="Group 11"/>
            <p:cNvGrpSpPr/>
            <p:nvPr/>
          </p:nvGrpSpPr>
          <p:grpSpPr>
            <a:xfrm>
              <a:off x="7452547" y="5692658"/>
              <a:ext cx="792205" cy="544654"/>
              <a:chOff x="7452547" y="5692658"/>
              <a:chExt cx="792205" cy="544654"/>
            </a:xfrm>
          </p:grpSpPr>
          <p:sp>
            <p:nvSpPr>
              <p:cNvPr id="14" name="Action Button: Return 13">
                <a:hlinkClick r:id="rId2" action="ppaction://hlinksldjump" highlightClick="1"/>
              </p:cNvPr>
              <p:cNvSpPr/>
              <p:nvPr/>
            </p:nvSpPr>
            <p:spPr bwMode="auto">
              <a:xfrm>
                <a:off x="7655479" y="5692658"/>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5" name="TextBox 14">
                <a:hlinkClick r:id="" action="ppaction://noaction"/>
              </p:cNvPr>
              <p:cNvSpPr txBox="1"/>
              <p:nvPr/>
            </p:nvSpPr>
            <p:spPr>
              <a:xfrm>
                <a:off x="7452547" y="5983396"/>
                <a:ext cx="792205" cy="253916"/>
              </a:xfrm>
              <a:prstGeom prst="actionButtonReturn">
                <a:avLst/>
              </a:prstGeom>
              <a:noFill/>
            </p:spPr>
            <p:txBody>
              <a:bodyPr wrap="none" rtlCol="0">
                <a:spAutoFit/>
              </a:bodyPr>
              <a:lstStyle/>
              <a:p>
                <a:pPr algn="ctr"/>
                <a:r>
                  <a:rPr lang="en-US" sz="1050" i="1" dirty="0" smtClean="0"/>
                  <a:t>Objective 3</a:t>
                </a:r>
                <a:endParaRPr lang="en-US" sz="1050" i="1" dirty="0"/>
              </a:p>
            </p:txBody>
          </p:sp>
        </p:grpSp>
        <p:sp>
          <p:nvSpPr>
            <p:cNvPr id="13" name="Action Button: Home 12">
              <a:hlinkClick r:id="rId3" action="ppaction://hlinksldjump" highlightClick="1"/>
            </p:cNvPr>
            <p:cNvSpPr/>
            <p:nvPr/>
          </p:nvSpPr>
          <p:spPr bwMode="auto">
            <a:xfrm>
              <a:off x="8096698" y="5692658"/>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Tree>
    <p:extLst>
      <p:ext uri="{BB962C8B-B14F-4D97-AF65-F5344CB8AC3E}">
        <p14:creationId xmlns:p14="http://schemas.microsoft.com/office/powerpoint/2010/main" val="47324859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
          <p:cNvSpPr/>
          <p:nvPr/>
        </p:nvSpPr>
        <p:spPr>
          <a:xfrm>
            <a:off x="496515" y="260648"/>
            <a:ext cx="8035925" cy="792146"/>
          </a:xfrm>
          <a:prstGeom prst="roundRect">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algn="ctr"/>
            <a:r>
              <a:rPr lang="en-US" sz="2000" dirty="0"/>
              <a:t>Challenge 3: </a:t>
            </a:r>
            <a:r>
              <a:rPr lang="en-US" sz="2000" dirty="0" smtClean="0"/>
              <a:t>Fairness in changing investment terms</a:t>
            </a:r>
            <a:endParaRPr lang="en-US" sz="2000" dirty="0"/>
          </a:p>
        </p:txBody>
      </p:sp>
      <p:sp>
        <p:nvSpPr>
          <p:cNvPr id="3" name="Content Placeholder 2"/>
          <p:cNvSpPr txBox="1">
            <a:spLocks/>
          </p:cNvSpPr>
          <p:nvPr/>
        </p:nvSpPr>
        <p:spPr>
          <a:xfrm>
            <a:off x="457200" y="1295400"/>
            <a:ext cx="8035925" cy="40386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Georgia" pitchFamily="18"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Georgia" pitchFamily="18" charset="0"/>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Georgia" pitchFamily="18"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Georgia" pitchFamily="18"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Georgia" pitchFamily="18"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fr-FR" sz="2000" dirty="0" smtClean="0"/>
              <a:t>Our </a:t>
            </a:r>
            <a:r>
              <a:rPr lang="fr-FR" sz="2000" dirty="0"/>
              <a:t>group</a:t>
            </a:r>
            <a:r>
              <a:rPr lang="en-GB" sz="2000" dirty="0"/>
              <a:t> debated the legitimacy of renegotiating an existing agreement. A near consensus emerged </a:t>
            </a:r>
            <a:r>
              <a:rPr lang="en-GB" sz="2000" dirty="0" smtClean="0"/>
              <a:t>that: </a:t>
            </a:r>
          </a:p>
          <a:p>
            <a:r>
              <a:rPr lang="en-GB" sz="2000" dirty="0"/>
              <a:t>R</a:t>
            </a:r>
            <a:r>
              <a:rPr lang="en-GB" sz="2000" dirty="0" smtClean="0"/>
              <a:t>enegotiation </a:t>
            </a:r>
            <a:r>
              <a:rPr lang="en-GB" sz="2000" dirty="0"/>
              <a:t>was sometimes necessary in order to maintain a long-term partnership between oil companies and governments </a:t>
            </a:r>
            <a:endParaRPr lang="en-GB" sz="2000" dirty="0" smtClean="0"/>
          </a:p>
          <a:p>
            <a:r>
              <a:rPr lang="en-GB" sz="2000" dirty="0" smtClean="0"/>
              <a:t>Unilateral change drives business away</a:t>
            </a:r>
          </a:p>
          <a:p>
            <a:endParaRPr lang="en-GB" sz="2000" dirty="0"/>
          </a:p>
          <a:p>
            <a:pPr marL="0" indent="0">
              <a:buNone/>
            </a:pPr>
            <a:r>
              <a:rPr lang="en-GB" sz="2000" dirty="0" smtClean="0"/>
              <a:t>We discussed one avenue for renegotiation: including a stabilization clause in the contract from the outset, allowing renegotiation when triggers are activated. </a:t>
            </a:r>
            <a:endParaRPr lang="en-US" sz="2000" dirty="0" smtClean="0"/>
          </a:p>
        </p:txBody>
      </p:sp>
      <p:sp>
        <p:nvSpPr>
          <p:cNvPr id="5" name="Freeform 10">
            <a:hlinkClick r:id="rId2" action="ppaction://hlinksldjump"/>
          </p:cNvPr>
          <p:cNvSpPr/>
          <p:nvPr/>
        </p:nvSpPr>
        <p:spPr>
          <a:xfrm>
            <a:off x="496515" y="5052058"/>
            <a:ext cx="7996610" cy="540089"/>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algn="ctr" defTabSz="1555750">
              <a:lnSpc>
                <a:spcPct val="90000"/>
              </a:lnSpc>
              <a:spcAft>
                <a:spcPct val="35000"/>
              </a:spcAft>
            </a:pPr>
            <a:r>
              <a:rPr lang="en-US" sz="2000" dirty="0"/>
              <a:t>Recommendations </a:t>
            </a:r>
            <a:r>
              <a:rPr lang="en-US" sz="2000" dirty="0" smtClean="0"/>
              <a:t>for changing investment terms</a:t>
            </a:r>
            <a:endParaRPr lang="en-US" sz="2000" kern="1200" dirty="0"/>
          </a:p>
        </p:txBody>
      </p:sp>
      <p:cxnSp>
        <p:nvCxnSpPr>
          <p:cNvPr id="12" name="Straight Connector 11"/>
          <p:cNvCxnSpPr/>
          <p:nvPr/>
        </p:nvCxnSpPr>
        <p:spPr>
          <a:xfrm>
            <a:off x="468000" y="6310800"/>
            <a:ext cx="8208000" cy="0"/>
          </a:xfrm>
          <a:prstGeom prst="line">
            <a:avLst/>
          </a:prstGeom>
          <a:ln w="19050" cmpd="thickThi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p:cNvGrpSpPr/>
          <p:nvPr/>
        </p:nvGrpSpPr>
        <p:grpSpPr>
          <a:xfrm>
            <a:off x="7668000" y="5742000"/>
            <a:ext cx="1004191" cy="544654"/>
            <a:chOff x="7452547" y="5692658"/>
            <a:chExt cx="1004191" cy="544654"/>
          </a:xfrm>
        </p:grpSpPr>
        <p:grpSp>
          <p:nvGrpSpPr>
            <p:cNvPr id="14" name="Group 13"/>
            <p:cNvGrpSpPr/>
            <p:nvPr/>
          </p:nvGrpSpPr>
          <p:grpSpPr>
            <a:xfrm>
              <a:off x="7452547" y="5692658"/>
              <a:ext cx="792205" cy="544654"/>
              <a:chOff x="7452547" y="5692658"/>
              <a:chExt cx="792205" cy="544654"/>
            </a:xfrm>
          </p:grpSpPr>
          <p:sp>
            <p:nvSpPr>
              <p:cNvPr id="16" name="Action Button: Return 15">
                <a:hlinkClick r:id="rId3" action="ppaction://hlinksldjump" highlightClick="1"/>
              </p:cNvPr>
              <p:cNvSpPr/>
              <p:nvPr/>
            </p:nvSpPr>
            <p:spPr bwMode="auto">
              <a:xfrm>
                <a:off x="7655479" y="5692658"/>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7" name="TextBox 16">
                <a:hlinkClick r:id="" action="ppaction://noaction"/>
              </p:cNvPr>
              <p:cNvSpPr txBox="1"/>
              <p:nvPr/>
            </p:nvSpPr>
            <p:spPr>
              <a:xfrm>
                <a:off x="7452547" y="5983396"/>
                <a:ext cx="792205" cy="253916"/>
              </a:xfrm>
              <a:prstGeom prst="actionButtonReturn">
                <a:avLst/>
              </a:prstGeom>
              <a:noFill/>
            </p:spPr>
            <p:txBody>
              <a:bodyPr wrap="none" rtlCol="0">
                <a:spAutoFit/>
              </a:bodyPr>
              <a:lstStyle/>
              <a:p>
                <a:pPr algn="ctr"/>
                <a:r>
                  <a:rPr lang="en-US" sz="1050" i="1" dirty="0" smtClean="0"/>
                  <a:t>Objective 3</a:t>
                </a:r>
                <a:endParaRPr lang="en-US" sz="1050" i="1" dirty="0"/>
              </a:p>
            </p:txBody>
          </p:sp>
        </p:grpSp>
        <p:sp>
          <p:nvSpPr>
            <p:cNvPr id="15" name="Action Button: Home 14">
              <a:hlinkClick r:id="rId4" action="ppaction://hlinksldjump" highlightClick="1"/>
            </p:cNvPr>
            <p:cNvSpPr/>
            <p:nvPr/>
          </p:nvSpPr>
          <p:spPr bwMode="auto">
            <a:xfrm>
              <a:off x="8096698" y="5692658"/>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
        <p:nvSpPr>
          <p:cNvPr id="18" name="Slide Number Placeholder 2"/>
          <p:cNvSpPr>
            <a:spLocks noGrp="1"/>
          </p:cNvSpPr>
          <p:nvPr>
            <p:ph type="sldNum" sz="quarter" idx="4294967295"/>
          </p:nvPr>
        </p:nvSpPr>
        <p:spPr>
          <a:xfrm>
            <a:off x="6553200" y="6356350"/>
            <a:ext cx="2133600" cy="365125"/>
          </a:xfrm>
        </p:spPr>
        <p:txBody>
          <a:bodyPr/>
          <a:lstStyle/>
          <a:p>
            <a:fld id="{418A78CD-E27B-441A-A2B1-21C1D5FFEB65}" type="slidenum">
              <a:rPr lang="en-US" sz="1200" smtClean="0">
                <a:solidFill>
                  <a:prstClr val="black"/>
                </a:solidFill>
                <a:latin typeface="Georgia" pitchFamily="18" charset="0"/>
              </a:rPr>
              <a:pPr/>
              <a:t>29</a:t>
            </a:fld>
            <a:endParaRPr lang="en-US" sz="1200" dirty="0">
              <a:solidFill>
                <a:prstClr val="black"/>
              </a:solidFill>
              <a:latin typeface="Georgia" pitchFamily="18" charset="0"/>
            </a:endParaRPr>
          </a:p>
        </p:txBody>
      </p:sp>
      <p:sp>
        <p:nvSpPr>
          <p:cNvPr id="19"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Tree>
    <p:extLst>
      <p:ext uri="{BB962C8B-B14F-4D97-AF65-F5344CB8AC3E}">
        <p14:creationId xmlns:p14="http://schemas.microsoft.com/office/powerpoint/2010/main" val="257892025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30</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p:txBody>
          <a:bodyPr>
            <a:normAutofit fontScale="85000" lnSpcReduction="20000"/>
          </a:bodyPr>
          <a:lstStyle/>
          <a:p>
            <a:r>
              <a:rPr lang="en-GB" dirty="0" smtClean="0"/>
              <a:t>Recommendations to changing investment terms</a:t>
            </a:r>
            <a:endParaRPr lang="en-GB" dirty="0"/>
          </a:p>
        </p:txBody>
      </p:sp>
      <p:sp>
        <p:nvSpPr>
          <p:cNvPr id="5" name="Text Placeholder 4"/>
          <p:cNvSpPr>
            <a:spLocks noGrp="1"/>
          </p:cNvSpPr>
          <p:nvPr>
            <p:ph type="body" sz="quarter" idx="11"/>
          </p:nvPr>
        </p:nvSpPr>
        <p:spPr>
          <a:xfrm>
            <a:off x="482015" y="1412776"/>
            <a:ext cx="8208143" cy="4015289"/>
          </a:xfrm>
        </p:spPr>
        <p:txBody>
          <a:bodyPr>
            <a:normAutofit fontScale="92500" lnSpcReduction="10000"/>
          </a:bodyPr>
          <a:lstStyle/>
          <a:p>
            <a:pPr>
              <a:tabLst>
                <a:tab pos="7172325" algn="l"/>
              </a:tabLst>
            </a:pPr>
            <a:r>
              <a:rPr lang="en-US" sz="2400" dirty="0" smtClean="0"/>
              <a:t>Governments should design progressive fiscal terms at the outset, to capture maximum windfalls as the context evolves</a:t>
            </a:r>
          </a:p>
          <a:p>
            <a:pPr>
              <a:tabLst>
                <a:tab pos="7172325" algn="l"/>
              </a:tabLst>
            </a:pPr>
            <a:r>
              <a:rPr lang="en-US" sz="2400" dirty="0" smtClean="0"/>
              <a:t>Respect existing contracts. First remedy is to change terms of future contracts</a:t>
            </a:r>
          </a:p>
          <a:p>
            <a:pPr>
              <a:tabLst>
                <a:tab pos="7172325" algn="l"/>
              </a:tabLst>
            </a:pPr>
            <a:r>
              <a:rPr lang="en-US" sz="2400" dirty="0" smtClean="0"/>
              <a:t>When designing contracts with a stabilization clause, government should ensure that it’s:</a:t>
            </a:r>
          </a:p>
          <a:p>
            <a:pPr>
              <a:tabLst>
                <a:tab pos="7172325" algn="l"/>
              </a:tabLst>
            </a:pPr>
            <a:endParaRPr lang="en-US" sz="2400" dirty="0" smtClean="0"/>
          </a:p>
          <a:p>
            <a:pPr lvl="1">
              <a:buFont typeface="Arial"/>
              <a:buChar char="•"/>
              <a:tabLst>
                <a:tab pos="7172325" algn="l"/>
              </a:tabLst>
            </a:pPr>
            <a:r>
              <a:rPr lang="en-US" sz="2400" dirty="0" smtClean="0"/>
              <a:t>Clear </a:t>
            </a:r>
          </a:p>
          <a:p>
            <a:pPr lvl="1">
              <a:buFont typeface="Arial"/>
              <a:buChar char="•"/>
              <a:tabLst>
                <a:tab pos="7172325" algn="l"/>
              </a:tabLst>
            </a:pPr>
            <a:r>
              <a:rPr lang="en-US" sz="2400" dirty="0" smtClean="0"/>
              <a:t>Specific on terms subject to renegotiation</a:t>
            </a:r>
          </a:p>
          <a:p>
            <a:pPr lvl="1">
              <a:buFont typeface="Arial"/>
              <a:buChar char="•"/>
              <a:tabLst>
                <a:tab pos="7172325" algn="l"/>
              </a:tabLst>
            </a:pPr>
            <a:r>
              <a:rPr lang="en-US" sz="2400" dirty="0" smtClean="0"/>
              <a:t>Specific on triggers for renegotiation</a:t>
            </a:r>
          </a:p>
          <a:p>
            <a:pPr lvl="1">
              <a:buFont typeface="Arial"/>
              <a:buChar char="•"/>
              <a:tabLst>
                <a:tab pos="7172325" algn="l"/>
              </a:tabLst>
            </a:pPr>
            <a:r>
              <a:rPr lang="en-US" sz="2400" dirty="0" smtClean="0"/>
              <a:t>Specific on the baseline for renegotiation</a:t>
            </a:r>
          </a:p>
          <a:p>
            <a:pPr lvl="1">
              <a:buFont typeface="Arial"/>
              <a:buChar char="•"/>
              <a:tabLst>
                <a:tab pos="7172325" algn="l"/>
              </a:tabLst>
            </a:pPr>
            <a:r>
              <a:rPr lang="en-US" sz="2400" dirty="0" smtClean="0"/>
              <a:t>Specific on the process for renegotiation</a:t>
            </a:r>
          </a:p>
          <a:p>
            <a:pPr lvl="1">
              <a:tabLst>
                <a:tab pos="7172325" algn="l"/>
              </a:tabLst>
            </a:pPr>
            <a:endParaRPr lang="en-US" sz="1500" dirty="0"/>
          </a:p>
        </p:txBody>
      </p:sp>
      <p:grpSp>
        <p:nvGrpSpPr>
          <p:cNvPr id="6" name="Group 5"/>
          <p:cNvGrpSpPr/>
          <p:nvPr/>
        </p:nvGrpSpPr>
        <p:grpSpPr>
          <a:xfrm>
            <a:off x="7164288" y="3501008"/>
            <a:ext cx="1255315" cy="1161622"/>
            <a:chOff x="141662" y="0"/>
            <a:chExt cx="986904" cy="986904"/>
          </a:xfrm>
        </p:grpSpPr>
        <p:sp>
          <p:nvSpPr>
            <p:cNvPr id="7" name="Oval 6"/>
            <p:cNvSpPr/>
            <p:nvPr/>
          </p:nvSpPr>
          <p:spPr>
            <a:xfrm>
              <a:off x="141662" y="0"/>
              <a:ext cx="986904" cy="986904"/>
            </a:xfrm>
            <a:prstGeom prst="ellipse">
              <a:avLst/>
            </a:prstGeom>
            <a:noFill/>
            <a:ln w="38100" cap="flat" cmpd="dbl">
              <a:solidFill>
                <a:srgbClr val="99211D"/>
              </a:solidFill>
              <a:prstDash val="solid"/>
              <a:round/>
            </a:ln>
          </p:spPr>
          <p:style>
            <a:lnRef idx="0">
              <a:scrgbClr r="0" g="0" b="0"/>
            </a:lnRef>
            <a:fillRef idx="3">
              <a:scrgbClr r="0" g="0" b="0"/>
            </a:fillRef>
            <a:effectRef idx="2">
              <a:schemeClr val="accent2">
                <a:hueOff val="0"/>
                <a:satOff val="0"/>
                <a:lumOff val="0"/>
                <a:alphaOff val="0"/>
              </a:schemeClr>
            </a:effectRef>
            <a:fontRef idx="minor">
              <a:schemeClr val="lt1"/>
            </a:fontRef>
          </p:style>
        </p:sp>
        <p:sp>
          <p:nvSpPr>
            <p:cNvPr id="8" name="Oval 4"/>
            <p:cNvSpPr/>
            <p:nvPr/>
          </p:nvSpPr>
          <p:spPr>
            <a:xfrm>
              <a:off x="286191" y="246726"/>
              <a:ext cx="697846" cy="4934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6896" tIns="56896" rIns="56896" bIns="56896" numCol="1" spcCol="1270" anchor="ctr" anchorCtr="0">
              <a:noAutofit/>
            </a:bodyPr>
            <a:lstStyle/>
            <a:p>
              <a:pPr lvl="0" algn="ctr" defTabSz="355600">
                <a:lnSpc>
                  <a:spcPct val="90000"/>
                </a:lnSpc>
                <a:spcBef>
                  <a:spcPct val="0"/>
                </a:spcBef>
                <a:spcAft>
                  <a:spcPct val="35000"/>
                </a:spcAft>
              </a:pPr>
              <a:r>
                <a:rPr lang="en-US" sz="1000" b="1" kern="1200" dirty="0" smtClean="0">
                  <a:solidFill>
                    <a:srgbClr val="006699"/>
                  </a:solidFill>
                </a:rPr>
                <a:t>Questions for future workshops</a:t>
              </a:r>
              <a:endParaRPr lang="en-US" sz="1000" b="1" kern="1200" dirty="0">
                <a:solidFill>
                  <a:srgbClr val="006699"/>
                </a:solidFill>
              </a:endParaRPr>
            </a:p>
          </p:txBody>
        </p:sp>
      </p:grpSp>
      <p:grpSp>
        <p:nvGrpSpPr>
          <p:cNvPr id="13" name="Group 12"/>
          <p:cNvGrpSpPr/>
          <p:nvPr/>
        </p:nvGrpSpPr>
        <p:grpSpPr>
          <a:xfrm>
            <a:off x="7668000" y="5742000"/>
            <a:ext cx="1004191" cy="544654"/>
            <a:chOff x="7452547" y="5692658"/>
            <a:chExt cx="1004191" cy="544654"/>
          </a:xfrm>
        </p:grpSpPr>
        <p:grpSp>
          <p:nvGrpSpPr>
            <p:cNvPr id="14" name="Group 13"/>
            <p:cNvGrpSpPr/>
            <p:nvPr/>
          </p:nvGrpSpPr>
          <p:grpSpPr>
            <a:xfrm>
              <a:off x="7452547" y="5692658"/>
              <a:ext cx="792205" cy="544654"/>
              <a:chOff x="7452547" y="5692658"/>
              <a:chExt cx="792205" cy="544654"/>
            </a:xfrm>
          </p:grpSpPr>
          <p:sp>
            <p:nvSpPr>
              <p:cNvPr id="16" name="Action Button: Return 15">
                <a:hlinkClick r:id="rId2" action="ppaction://hlinksldjump" highlightClick="1"/>
              </p:cNvPr>
              <p:cNvSpPr/>
              <p:nvPr/>
            </p:nvSpPr>
            <p:spPr bwMode="auto">
              <a:xfrm>
                <a:off x="7655479" y="5692658"/>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7" name="TextBox 16">
                <a:hlinkClick r:id="" action="ppaction://noaction"/>
              </p:cNvPr>
              <p:cNvSpPr txBox="1"/>
              <p:nvPr/>
            </p:nvSpPr>
            <p:spPr>
              <a:xfrm>
                <a:off x="7452547" y="5983396"/>
                <a:ext cx="792205" cy="253916"/>
              </a:xfrm>
              <a:prstGeom prst="actionButtonReturn">
                <a:avLst/>
              </a:prstGeom>
              <a:noFill/>
            </p:spPr>
            <p:txBody>
              <a:bodyPr wrap="none" rtlCol="0">
                <a:spAutoFit/>
              </a:bodyPr>
              <a:lstStyle/>
              <a:p>
                <a:pPr algn="ctr"/>
                <a:r>
                  <a:rPr lang="en-US" sz="1050" i="1" dirty="0" smtClean="0"/>
                  <a:t>Objective 3</a:t>
                </a:r>
                <a:endParaRPr lang="en-US" sz="1050" i="1" dirty="0"/>
              </a:p>
            </p:txBody>
          </p:sp>
        </p:grpSp>
        <p:sp>
          <p:nvSpPr>
            <p:cNvPr id="15" name="Action Button: Home 14">
              <a:hlinkClick r:id="rId3" action="ppaction://hlinksldjump" highlightClick="1"/>
            </p:cNvPr>
            <p:cNvSpPr/>
            <p:nvPr/>
          </p:nvSpPr>
          <p:spPr bwMode="auto">
            <a:xfrm>
              <a:off x="8096698" y="5692658"/>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Tree>
    <p:extLst>
      <p:ext uri="{BB962C8B-B14F-4D97-AF65-F5344CB8AC3E}">
        <p14:creationId xmlns:p14="http://schemas.microsoft.com/office/powerpoint/2010/main" val="156040420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31</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p:txBody>
          <a:bodyPr>
            <a:normAutofit fontScale="85000" lnSpcReduction="20000"/>
          </a:bodyPr>
          <a:lstStyle/>
          <a:p>
            <a:r>
              <a:rPr lang="en-GB" dirty="0" smtClean="0"/>
              <a:t>Changing terms without scaring off investors</a:t>
            </a:r>
            <a:endParaRPr lang="en-GB" dirty="0"/>
          </a:p>
        </p:txBody>
      </p:sp>
      <p:sp>
        <p:nvSpPr>
          <p:cNvPr id="5" name="Text Placeholder 4"/>
          <p:cNvSpPr>
            <a:spLocks noGrp="1"/>
          </p:cNvSpPr>
          <p:nvPr>
            <p:ph type="body" sz="quarter" idx="11"/>
          </p:nvPr>
        </p:nvSpPr>
        <p:spPr>
          <a:xfrm>
            <a:off x="466907" y="1196752"/>
            <a:ext cx="8208143" cy="4752528"/>
          </a:xfrm>
        </p:spPr>
        <p:txBody>
          <a:bodyPr>
            <a:normAutofit fontScale="55000" lnSpcReduction="20000"/>
          </a:bodyPr>
          <a:lstStyle/>
          <a:p>
            <a:pPr marL="0" indent="0">
              <a:buNone/>
            </a:pPr>
            <a:r>
              <a:rPr lang="en-US" sz="4000" i="1" dirty="0"/>
              <a:t>Questions for further discussion</a:t>
            </a:r>
            <a:r>
              <a:rPr lang="en-US" sz="4000" i="1" dirty="0" smtClean="0"/>
              <a:t>:</a:t>
            </a:r>
          </a:p>
          <a:p>
            <a:pPr marL="0" indent="0">
              <a:buNone/>
            </a:pPr>
            <a:endParaRPr lang="en-US" sz="4000" i="1" dirty="0"/>
          </a:p>
          <a:p>
            <a:pPr lvl="0">
              <a:buFont typeface="Wingdings" charset="2"/>
              <a:buChar char="Ø"/>
            </a:pPr>
            <a:r>
              <a:rPr lang="en-US" sz="4000" dirty="0"/>
              <a:t>What threshold (e.g. economic unfairness or inappropriate environmental provisions) needs to be met to justify renegotiation? </a:t>
            </a:r>
            <a:endParaRPr lang="en-GB" sz="4000" dirty="0"/>
          </a:p>
          <a:p>
            <a:pPr lvl="0">
              <a:buFont typeface="Wingdings" charset="2"/>
              <a:buChar char="Ø"/>
            </a:pPr>
            <a:r>
              <a:rPr lang="en-US" sz="4000" dirty="0" smtClean="0"/>
              <a:t>What </a:t>
            </a:r>
            <a:r>
              <a:rPr lang="en-US" sz="4000" dirty="0"/>
              <a:t>good practice mechanisms can governments follow for renegotiation of existing contracts? </a:t>
            </a:r>
            <a:endParaRPr lang="en-US" sz="4000" dirty="0" smtClean="0"/>
          </a:p>
          <a:p>
            <a:pPr marL="0" lvl="0" indent="0">
              <a:buNone/>
            </a:pPr>
            <a:endParaRPr lang="en-US" sz="4000" dirty="0"/>
          </a:p>
          <a:p>
            <a:pPr marL="0" indent="0">
              <a:buNone/>
            </a:pPr>
            <a:r>
              <a:rPr lang="en-GB" sz="4000" dirty="0" smtClean="0"/>
              <a:t>The </a:t>
            </a:r>
            <a:r>
              <a:rPr lang="en-GB" sz="4000" dirty="0"/>
              <a:t>following recommendations will be considered: </a:t>
            </a:r>
          </a:p>
          <a:p>
            <a:pPr marL="0" indent="0">
              <a:buNone/>
            </a:pPr>
            <a:endParaRPr lang="en-GB" sz="4000" dirty="0" smtClean="0"/>
          </a:p>
          <a:p>
            <a:pPr marL="0" indent="0">
              <a:buNone/>
            </a:pPr>
            <a:r>
              <a:rPr lang="en-GB" sz="4000" dirty="0" smtClean="0"/>
              <a:t>Before </a:t>
            </a:r>
            <a:r>
              <a:rPr lang="en-GB" sz="4000" dirty="0"/>
              <a:t>opting to </a:t>
            </a:r>
            <a:r>
              <a:rPr lang="en-GB" sz="4000" dirty="0" smtClean="0"/>
              <a:t>renegotiate </a:t>
            </a:r>
            <a:r>
              <a:rPr lang="en-GB" sz="4000" dirty="0"/>
              <a:t>an existing contract, a government should:</a:t>
            </a:r>
          </a:p>
          <a:p>
            <a:r>
              <a:rPr lang="en-GB" sz="4000" dirty="0"/>
              <a:t>Carefully analyse the prospective economic </a:t>
            </a:r>
            <a:r>
              <a:rPr lang="en-GB" sz="4000" dirty="0" smtClean="0"/>
              <a:t>gains.</a:t>
            </a:r>
            <a:endParaRPr lang="en-GB" sz="4500" dirty="0"/>
          </a:p>
          <a:p>
            <a:r>
              <a:rPr lang="en-GB" sz="4000" dirty="0"/>
              <a:t>Analyse the trade-offs or </a:t>
            </a:r>
            <a:r>
              <a:rPr lang="en-GB" sz="4000" dirty="0" smtClean="0"/>
              <a:t>risks.</a:t>
            </a:r>
            <a:endParaRPr lang="en-GB" sz="4500" dirty="0"/>
          </a:p>
          <a:p>
            <a:r>
              <a:rPr lang="en-GB" sz="4000" dirty="0"/>
              <a:t>Communicate carefully and clearly with companies currently present in-country, prospective new investors, and </a:t>
            </a:r>
            <a:r>
              <a:rPr lang="en-GB" sz="4000" dirty="0" smtClean="0"/>
              <a:t>citizens.</a:t>
            </a:r>
            <a:endParaRPr lang="en-GB" sz="4500" dirty="0"/>
          </a:p>
          <a:p>
            <a:endParaRPr lang="en-GB" dirty="0"/>
          </a:p>
        </p:txBody>
      </p:sp>
      <p:grpSp>
        <p:nvGrpSpPr>
          <p:cNvPr id="6" name="Group 5"/>
          <p:cNvGrpSpPr/>
          <p:nvPr/>
        </p:nvGrpSpPr>
        <p:grpSpPr>
          <a:xfrm>
            <a:off x="7440016" y="5734800"/>
            <a:ext cx="1308144" cy="553398"/>
            <a:chOff x="7368312" y="5733256"/>
            <a:chExt cx="1308144" cy="553398"/>
          </a:xfrm>
        </p:grpSpPr>
        <p:grpSp>
          <p:nvGrpSpPr>
            <p:cNvPr id="10" name="Group 9"/>
            <p:cNvGrpSpPr/>
            <p:nvPr/>
          </p:nvGrpSpPr>
          <p:grpSpPr>
            <a:xfrm>
              <a:off x="7368312" y="5742000"/>
              <a:ext cx="872175" cy="544654"/>
              <a:chOff x="7584563" y="5692658"/>
              <a:chExt cx="872175" cy="544654"/>
            </a:xfrm>
          </p:grpSpPr>
          <p:grpSp>
            <p:nvGrpSpPr>
              <p:cNvPr id="11" name="Group 10"/>
              <p:cNvGrpSpPr/>
              <p:nvPr/>
            </p:nvGrpSpPr>
            <p:grpSpPr>
              <a:xfrm>
                <a:off x="7584563" y="5692658"/>
                <a:ext cx="444352" cy="544654"/>
                <a:chOff x="7584563" y="5692658"/>
                <a:chExt cx="444352" cy="544654"/>
              </a:xfrm>
            </p:grpSpPr>
            <p:sp>
              <p:nvSpPr>
                <p:cNvPr id="13" name="Action Button: Return 12">
                  <a:hlinkClick r:id="rId2" action="ppaction://hlinksldjump" highlightClick="1"/>
                </p:cNvPr>
                <p:cNvSpPr/>
                <p:nvPr/>
              </p:nvSpPr>
              <p:spPr bwMode="auto">
                <a:xfrm>
                  <a:off x="7655479" y="5692658"/>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4" name="TextBox 13">
                  <a:hlinkClick r:id="" action="ppaction://noaction"/>
                </p:cNvPr>
                <p:cNvSpPr txBox="1"/>
                <p:nvPr/>
              </p:nvSpPr>
              <p:spPr>
                <a:xfrm>
                  <a:off x="7584563" y="5983396"/>
                  <a:ext cx="444352" cy="253916"/>
                </a:xfrm>
                <a:prstGeom prst="actionButtonReturn">
                  <a:avLst/>
                </a:prstGeom>
                <a:noFill/>
              </p:spPr>
              <p:txBody>
                <a:bodyPr wrap="none" rtlCol="0">
                  <a:spAutoFit/>
                </a:bodyPr>
                <a:lstStyle/>
                <a:p>
                  <a:pPr algn="ctr"/>
                  <a:r>
                    <a:rPr lang="en-US" sz="1050" i="1" dirty="0" smtClean="0"/>
                    <a:t>Back</a:t>
                  </a:r>
                  <a:endParaRPr lang="en-US" sz="1050" i="1" dirty="0"/>
                </a:p>
              </p:txBody>
            </p:sp>
          </p:grpSp>
          <p:sp>
            <p:nvSpPr>
              <p:cNvPr id="12" name="Action Button: Home 11">
                <a:hlinkClick r:id="rId3" action="ppaction://hlinksldjump" highlightClick="1"/>
              </p:cNvPr>
              <p:cNvSpPr/>
              <p:nvPr/>
            </p:nvSpPr>
            <p:spPr bwMode="auto">
              <a:xfrm>
                <a:off x="8096698" y="5692658"/>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
          <p:nvSpPr>
            <p:cNvPr id="15" name="Action Button: Forward or Next 14">
              <a:hlinkClick r:id="" action="ppaction://hlinkshowjump?jump=nextslide" highlightClick="1"/>
            </p:cNvPr>
            <p:cNvSpPr/>
            <p:nvPr/>
          </p:nvSpPr>
          <p:spPr>
            <a:xfrm>
              <a:off x="8316456" y="5733256"/>
              <a:ext cx="360000" cy="298800"/>
            </a:xfrm>
            <a:prstGeom prst="actionButtonForwardNex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7672384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068089" y="188640"/>
            <a:ext cx="3007822" cy="3007822"/>
            <a:chOff x="2514051" y="0"/>
            <a:chExt cx="3007822" cy="3007822"/>
          </a:xfrm>
        </p:grpSpPr>
        <p:sp>
          <p:nvSpPr>
            <p:cNvPr id="3" name="Oval 2"/>
            <p:cNvSpPr/>
            <p:nvPr/>
          </p:nvSpPr>
          <p:spPr>
            <a:xfrm>
              <a:off x="2514051" y="0"/>
              <a:ext cx="3007822" cy="3007822"/>
            </a:xfrm>
            <a:prstGeom prst="ellipse">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4" name="Oval 4"/>
            <p:cNvSpPr/>
            <p:nvPr/>
          </p:nvSpPr>
          <p:spPr>
            <a:xfrm>
              <a:off x="2954536" y="440485"/>
              <a:ext cx="2126852" cy="21268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US" sz="2400" kern="1200" dirty="0" smtClean="0"/>
                <a:t>Objective 4: Earn and retain public trust and manage public expectations</a:t>
              </a:r>
              <a:endParaRPr lang="en-US" sz="2400" kern="1200" dirty="0"/>
            </a:p>
          </p:txBody>
        </p:sp>
      </p:grpSp>
      <p:sp>
        <p:nvSpPr>
          <p:cNvPr id="5" name="Freeform 10">
            <a:hlinkClick r:id="rId2" action="ppaction://hlinksldjump"/>
          </p:cNvPr>
          <p:cNvSpPr/>
          <p:nvPr/>
        </p:nvSpPr>
        <p:spPr>
          <a:xfrm>
            <a:off x="457200" y="3284984"/>
            <a:ext cx="8147248" cy="576063"/>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defTabSz="1555750">
              <a:lnSpc>
                <a:spcPct val="90000"/>
              </a:lnSpc>
              <a:spcAft>
                <a:spcPct val="35000"/>
              </a:spcAft>
            </a:pPr>
            <a:r>
              <a:rPr lang="en-US" sz="2000" dirty="0"/>
              <a:t>Recommendations </a:t>
            </a:r>
            <a:r>
              <a:rPr lang="fr-CA" sz="2000" dirty="0" smtClean="0"/>
              <a:t>for </a:t>
            </a:r>
            <a:r>
              <a:rPr lang="fr-CA" sz="2000" dirty="0" err="1" smtClean="0"/>
              <a:t>meaningful</a:t>
            </a:r>
            <a:r>
              <a:rPr lang="fr-CA" sz="2000" dirty="0" smtClean="0"/>
              <a:t> </a:t>
            </a:r>
            <a:r>
              <a:rPr lang="fr-CA" sz="2000" dirty="0" err="1" smtClean="0"/>
              <a:t>community</a:t>
            </a:r>
            <a:r>
              <a:rPr lang="fr-CA" sz="2000" dirty="0" smtClean="0"/>
              <a:t> engagement</a:t>
            </a:r>
            <a:endParaRPr lang="en-US" sz="2000" kern="1200" dirty="0"/>
          </a:p>
        </p:txBody>
      </p:sp>
      <p:sp>
        <p:nvSpPr>
          <p:cNvPr id="6" name="Freeform 10">
            <a:hlinkClick r:id="rId3" action="ppaction://hlinksldjump"/>
          </p:cNvPr>
          <p:cNvSpPr/>
          <p:nvPr/>
        </p:nvSpPr>
        <p:spPr>
          <a:xfrm>
            <a:off x="467544" y="3933055"/>
            <a:ext cx="8147248" cy="576064"/>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r>
              <a:rPr lang="fr-CA" sz="2000" dirty="0" err="1" smtClean="0">
                <a:cs typeface="Arial"/>
              </a:rPr>
              <a:t>Recommendations</a:t>
            </a:r>
            <a:r>
              <a:rPr lang="fr-CA" sz="2000" dirty="0" smtClean="0">
                <a:cs typeface="Arial"/>
              </a:rPr>
              <a:t> for </a:t>
            </a:r>
            <a:r>
              <a:rPr lang="fr-CA" sz="2000" dirty="0" err="1" smtClean="0">
                <a:cs typeface="Arial"/>
              </a:rPr>
              <a:t>overcoming</a:t>
            </a:r>
            <a:r>
              <a:rPr lang="fr-CA" sz="2000" dirty="0" smtClean="0">
                <a:cs typeface="Arial"/>
              </a:rPr>
              <a:t> </a:t>
            </a:r>
            <a:r>
              <a:rPr lang="fr-CA" sz="2000" dirty="0" err="1" smtClean="0">
                <a:cs typeface="Arial"/>
              </a:rPr>
              <a:t>lack</a:t>
            </a:r>
            <a:r>
              <a:rPr lang="fr-CA" sz="2000" dirty="0" smtClean="0">
                <a:cs typeface="Arial"/>
              </a:rPr>
              <a:t> of trust</a:t>
            </a:r>
            <a:endParaRPr lang="en-GB" sz="2000" dirty="0">
              <a:cs typeface="Arial"/>
            </a:endParaRPr>
          </a:p>
        </p:txBody>
      </p:sp>
      <p:sp>
        <p:nvSpPr>
          <p:cNvPr id="7" name="Freeform 10">
            <a:hlinkClick r:id="rId4" action="ppaction://hlinksldjump"/>
          </p:cNvPr>
          <p:cNvSpPr/>
          <p:nvPr/>
        </p:nvSpPr>
        <p:spPr>
          <a:xfrm>
            <a:off x="467544" y="4581128"/>
            <a:ext cx="8147248" cy="576064"/>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r>
              <a:rPr lang="en-US" sz="2000" dirty="0"/>
              <a:t>Recommendations </a:t>
            </a:r>
            <a:r>
              <a:rPr lang="en-US" sz="2000" dirty="0" smtClean="0"/>
              <a:t>for </a:t>
            </a:r>
            <a:r>
              <a:rPr lang="en-GB" sz="2000" dirty="0" smtClean="0">
                <a:cs typeface="Arial Black"/>
              </a:rPr>
              <a:t>moderating </a:t>
            </a:r>
            <a:r>
              <a:rPr lang="en-GB" sz="2000" dirty="0">
                <a:cs typeface="Arial Black"/>
              </a:rPr>
              <a:t>public expectations after discoveries</a:t>
            </a:r>
            <a:endParaRPr lang="en-US" sz="2000" dirty="0">
              <a:cs typeface="Arial"/>
            </a:endParaRPr>
          </a:p>
        </p:txBody>
      </p:sp>
      <p:sp>
        <p:nvSpPr>
          <p:cNvPr id="12" name="Freeform 10">
            <a:hlinkClick r:id="rId5" action="ppaction://hlinksldjump"/>
          </p:cNvPr>
          <p:cNvSpPr/>
          <p:nvPr/>
        </p:nvSpPr>
        <p:spPr>
          <a:xfrm>
            <a:off x="467544" y="5229199"/>
            <a:ext cx="8147248" cy="576064"/>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r>
              <a:rPr lang="en-US" sz="2000" dirty="0" smtClean="0"/>
              <a:t>Recommendations for fair </a:t>
            </a:r>
            <a:r>
              <a:rPr lang="en-GB" sz="2000" dirty="0" smtClean="0">
                <a:cs typeface="Arial Black"/>
              </a:rPr>
              <a:t>redistribution of wealth </a:t>
            </a:r>
            <a:endParaRPr lang="en-US" sz="2000" dirty="0">
              <a:cs typeface="Arial"/>
            </a:endParaRPr>
          </a:p>
        </p:txBody>
      </p:sp>
      <p:sp>
        <p:nvSpPr>
          <p:cNvPr id="13" name="Action Button: Home 12">
            <a:hlinkClick r:id="rId6" action="ppaction://hlinksldjump" highlightClick="1"/>
          </p:cNvPr>
          <p:cNvSpPr/>
          <p:nvPr/>
        </p:nvSpPr>
        <p:spPr bwMode="auto">
          <a:xfrm>
            <a:off x="8317754" y="5937346"/>
            <a:ext cx="360040" cy="288032"/>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cxnSp>
        <p:nvCxnSpPr>
          <p:cNvPr id="14" name="Straight Connector 13"/>
          <p:cNvCxnSpPr/>
          <p:nvPr/>
        </p:nvCxnSpPr>
        <p:spPr>
          <a:xfrm>
            <a:off x="468000" y="6310800"/>
            <a:ext cx="8208000" cy="0"/>
          </a:xfrm>
          <a:prstGeom prst="line">
            <a:avLst/>
          </a:prstGeom>
          <a:ln w="19050" cmpd="thickThi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Slide Number Placeholder 2"/>
          <p:cNvSpPr>
            <a:spLocks noGrp="1"/>
          </p:cNvSpPr>
          <p:nvPr>
            <p:ph type="sldNum" sz="quarter" idx="4294967295"/>
          </p:nvPr>
        </p:nvSpPr>
        <p:spPr>
          <a:xfrm>
            <a:off x="6553200" y="6356350"/>
            <a:ext cx="2133600" cy="365125"/>
          </a:xfrm>
        </p:spPr>
        <p:txBody>
          <a:bodyPr/>
          <a:lstStyle/>
          <a:p>
            <a:fld id="{418A78CD-E27B-441A-A2B1-21C1D5FFEB65}" type="slidenum">
              <a:rPr lang="en-US" sz="1200" smtClean="0">
                <a:solidFill>
                  <a:prstClr val="black"/>
                </a:solidFill>
                <a:latin typeface="Georgia" pitchFamily="18" charset="0"/>
              </a:rPr>
              <a:pPr/>
              <a:t>32</a:t>
            </a:fld>
            <a:endParaRPr lang="en-US" sz="1200" dirty="0">
              <a:solidFill>
                <a:prstClr val="black"/>
              </a:solidFill>
              <a:latin typeface="Georgia" pitchFamily="18" charset="0"/>
            </a:endParaRPr>
          </a:p>
        </p:txBody>
      </p:sp>
      <p:sp>
        <p:nvSpPr>
          <p:cNvPr id="16"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Tree>
    <p:extLst>
      <p:ext uri="{BB962C8B-B14F-4D97-AF65-F5344CB8AC3E}">
        <p14:creationId xmlns:p14="http://schemas.microsoft.com/office/powerpoint/2010/main" val="296156167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
          <p:cNvSpPr/>
          <p:nvPr/>
        </p:nvSpPr>
        <p:spPr>
          <a:xfrm>
            <a:off x="496515" y="260648"/>
            <a:ext cx="8035925" cy="792146"/>
          </a:xfrm>
          <a:prstGeom prst="roundRect">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algn="ctr"/>
            <a:r>
              <a:rPr lang="en-US" dirty="0">
                <a:latin typeface="Arial"/>
                <a:cs typeface="Arial"/>
              </a:rPr>
              <a:t>Challenge 1: </a:t>
            </a:r>
            <a:r>
              <a:rPr lang="en-GB" dirty="0" smtClean="0">
                <a:latin typeface="Arial"/>
                <a:cs typeface="Arial"/>
              </a:rPr>
              <a:t>Arriving at meaningful community engagement</a:t>
            </a:r>
            <a:endParaRPr lang="en-US" dirty="0">
              <a:solidFill>
                <a:srgbClr val="FF0000"/>
              </a:solidFill>
              <a:latin typeface="Arial"/>
              <a:cs typeface="Arial"/>
            </a:endParaRPr>
          </a:p>
        </p:txBody>
      </p:sp>
      <p:sp>
        <p:nvSpPr>
          <p:cNvPr id="3" name="Rectangle 2"/>
          <p:cNvSpPr/>
          <p:nvPr/>
        </p:nvSpPr>
        <p:spPr>
          <a:xfrm>
            <a:off x="618766" y="1412776"/>
            <a:ext cx="7477159" cy="1631216"/>
          </a:xfrm>
          <a:prstGeom prst="rect">
            <a:avLst/>
          </a:prstGeom>
        </p:spPr>
        <p:txBody>
          <a:bodyPr wrap="square">
            <a:spAutoFit/>
          </a:bodyPr>
          <a:lstStyle/>
          <a:p>
            <a:r>
              <a:rPr lang="en-US" sz="2000" dirty="0">
                <a:latin typeface="Georgia" pitchFamily="18" charset="0"/>
              </a:rPr>
              <a:t>Misunderstandings </a:t>
            </a:r>
            <a:r>
              <a:rPr lang="en-US" sz="2000" dirty="0" smtClean="0">
                <a:latin typeface="Georgia" pitchFamily="18" charset="0"/>
              </a:rPr>
              <a:t>between </a:t>
            </a:r>
            <a:r>
              <a:rPr lang="en-US" sz="2000" dirty="0">
                <a:latin typeface="Georgia" pitchFamily="18" charset="0"/>
              </a:rPr>
              <a:t>communities and </a:t>
            </a:r>
            <a:r>
              <a:rPr lang="en-US" sz="2000" dirty="0" smtClean="0">
                <a:latin typeface="Georgia" pitchFamily="18" charset="0"/>
              </a:rPr>
              <a:t>government </a:t>
            </a:r>
            <a:r>
              <a:rPr lang="en-US" sz="2000" dirty="0">
                <a:latin typeface="Georgia" pitchFamily="18" charset="0"/>
              </a:rPr>
              <a:t>or </a:t>
            </a:r>
            <a:r>
              <a:rPr lang="en-US" sz="2000" dirty="0" smtClean="0">
                <a:latin typeface="Georgia" pitchFamily="18" charset="0"/>
              </a:rPr>
              <a:t>industry </a:t>
            </a:r>
            <a:r>
              <a:rPr lang="en-US" sz="2000" dirty="0">
                <a:latin typeface="Georgia" pitchFamily="18" charset="0"/>
              </a:rPr>
              <a:t>are common. </a:t>
            </a:r>
            <a:endParaRPr lang="en-US" sz="2000" dirty="0" smtClean="0">
              <a:latin typeface="Georgia" pitchFamily="18" charset="0"/>
            </a:endParaRPr>
          </a:p>
          <a:p>
            <a:endParaRPr lang="en-US" sz="1600" dirty="0">
              <a:latin typeface="Georgia" pitchFamily="18" charset="0"/>
            </a:endParaRPr>
          </a:p>
          <a:p>
            <a:r>
              <a:rPr lang="en-US" sz="2000" dirty="0" smtClean="0">
                <a:latin typeface="Georgia" pitchFamily="18" charset="0"/>
              </a:rPr>
              <a:t>Communities want to be consulted, and influence  decision-making. </a:t>
            </a:r>
          </a:p>
        </p:txBody>
      </p:sp>
      <p:sp>
        <p:nvSpPr>
          <p:cNvPr id="4" name="Freeform 10">
            <a:hlinkClick r:id="rId2" action="ppaction://hlinksldjump"/>
          </p:cNvPr>
          <p:cNvSpPr/>
          <p:nvPr/>
        </p:nvSpPr>
        <p:spPr>
          <a:xfrm>
            <a:off x="392830" y="4905135"/>
            <a:ext cx="8229600" cy="540089"/>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algn="ctr" defTabSz="1555750">
              <a:lnSpc>
                <a:spcPct val="90000"/>
              </a:lnSpc>
              <a:spcAft>
                <a:spcPct val="35000"/>
              </a:spcAft>
            </a:pPr>
            <a:r>
              <a:rPr lang="en-US" sz="2000" dirty="0" smtClean="0"/>
              <a:t>Recommendations </a:t>
            </a:r>
            <a:r>
              <a:rPr lang="fr-CA" sz="2000" dirty="0"/>
              <a:t>for </a:t>
            </a:r>
            <a:r>
              <a:rPr lang="fr-CA" sz="2000" dirty="0" err="1"/>
              <a:t>meaningful</a:t>
            </a:r>
            <a:r>
              <a:rPr lang="fr-CA" sz="2000" dirty="0"/>
              <a:t> </a:t>
            </a:r>
            <a:r>
              <a:rPr lang="fr-CA" sz="2000" dirty="0" err="1"/>
              <a:t>community</a:t>
            </a:r>
            <a:r>
              <a:rPr lang="fr-CA" sz="2000" dirty="0"/>
              <a:t> </a:t>
            </a:r>
            <a:r>
              <a:rPr lang="fr-CA" sz="2000" dirty="0" smtClean="0"/>
              <a:t>engagement</a:t>
            </a:r>
            <a:endParaRPr lang="en-US" sz="2000" dirty="0"/>
          </a:p>
        </p:txBody>
      </p:sp>
      <p:grpSp>
        <p:nvGrpSpPr>
          <p:cNvPr id="16" name="Group 15"/>
          <p:cNvGrpSpPr/>
          <p:nvPr/>
        </p:nvGrpSpPr>
        <p:grpSpPr>
          <a:xfrm>
            <a:off x="7668000" y="5742000"/>
            <a:ext cx="966416" cy="551448"/>
            <a:chOff x="7308304" y="5655800"/>
            <a:chExt cx="966416" cy="551448"/>
          </a:xfrm>
        </p:grpSpPr>
        <p:sp>
          <p:nvSpPr>
            <p:cNvPr id="5" name="Action Button: Return 4">
              <a:hlinkClick r:id="rId3" action="ppaction://hlinksldjump" highlightClick="1"/>
            </p:cNvPr>
            <p:cNvSpPr/>
            <p:nvPr/>
          </p:nvSpPr>
          <p:spPr bwMode="auto">
            <a:xfrm>
              <a:off x="7524328" y="5655800"/>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6" name="Action Button: Home 5">
              <a:hlinkClick r:id="rId4" action="ppaction://hlinksldjump" highlightClick="1"/>
            </p:cNvPr>
            <p:cNvSpPr/>
            <p:nvPr/>
          </p:nvSpPr>
          <p:spPr bwMode="auto">
            <a:xfrm>
              <a:off x="7914680" y="5655800"/>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7" name="TextBox 6">
              <a:hlinkClick r:id="" action="ppaction://noaction"/>
            </p:cNvPr>
            <p:cNvSpPr txBox="1"/>
            <p:nvPr/>
          </p:nvSpPr>
          <p:spPr>
            <a:xfrm>
              <a:off x="7308304" y="5953332"/>
              <a:ext cx="792205" cy="253916"/>
            </a:xfrm>
            <a:prstGeom prst="actionButtonReturn">
              <a:avLst/>
            </a:prstGeom>
            <a:noFill/>
          </p:spPr>
          <p:txBody>
            <a:bodyPr wrap="none" rtlCol="0">
              <a:spAutoFit/>
            </a:bodyPr>
            <a:lstStyle/>
            <a:p>
              <a:pPr algn="ctr"/>
              <a:r>
                <a:rPr lang="en-US" sz="1050" i="1" dirty="0" smtClean="0"/>
                <a:t>Objective 4</a:t>
              </a:r>
              <a:endParaRPr lang="en-US" sz="1050" i="1" dirty="0"/>
            </a:p>
          </p:txBody>
        </p:sp>
      </p:grpSp>
      <p:grpSp>
        <p:nvGrpSpPr>
          <p:cNvPr id="11" name="Group 10"/>
          <p:cNvGrpSpPr/>
          <p:nvPr/>
        </p:nvGrpSpPr>
        <p:grpSpPr>
          <a:xfrm>
            <a:off x="6500650" y="2697391"/>
            <a:ext cx="1959782" cy="1776403"/>
            <a:chOff x="5655147" y="1161"/>
            <a:chExt cx="1617648" cy="1617648"/>
          </a:xfrm>
        </p:grpSpPr>
        <p:sp>
          <p:nvSpPr>
            <p:cNvPr id="12" name="Oval 11"/>
            <p:cNvSpPr/>
            <p:nvPr/>
          </p:nvSpPr>
          <p:spPr>
            <a:xfrm>
              <a:off x="5655147" y="1161"/>
              <a:ext cx="1617648" cy="1617648"/>
            </a:xfrm>
            <a:prstGeom prst="ellipse">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13" name="Oval 4"/>
            <p:cNvSpPr/>
            <p:nvPr/>
          </p:nvSpPr>
          <p:spPr>
            <a:xfrm>
              <a:off x="5892046" y="238060"/>
              <a:ext cx="1143850" cy="114385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lvl="0" algn="ctr" defTabSz="755650">
                <a:lnSpc>
                  <a:spcPct val="90000"/>
                </a:lnSpc>
                <a:spcBef>
                  <a:spcPct val="0"/>
                </a:spcBef>
              </a:pPr>
              <a:r>
                <a:rPr lang="en-US" sz="1700" dirty="0" smtClean="0">
                  <a:solidFill>
                    <a:schemeClr val="bg1"/>
                  </a:solidFill>
                </a:rPr>
                <a:t>One-way communication </a:t>
              </a:r>
              <a:r>
                <a:rPr lang="en-US" dirty="0" smtClean="0">
                  <a:solidFill>
                    <a:schemeClr val="bg1"/>
                  </a:solidFill>
                </a:rPr>
                <a:t>≠ </a:t>
              </a:r>
              <a:r>
                <a:rPr lang="en-US" sz="1700" dirty="0" smtClean="0">
                  <a:solidFill>
                    <a:schemeClr val="bg1"/>
                  </a:solidFill>
                </a:rPr>
                <a:t> </a:t>
              </a:r>
            </a:p>
            <a:p>
              <a:pPr lvl="0" algn="ctr" defTabSz="755650">
                <a:lnSpc>
                  <a:spcPct val="90000"/>
                </a:lnSpc>
                <a:spcBef>
                  <a:spcPct val="0"/>
                </a:spcBef>
                <a:spcAft>
                  <a:spcPct val="35000"/>
                </a:spcAft>
              </a:pPr>
              <a:r>
                <a:rPr lang="en-US" sz="1700" dirty="0">
                  <a:solidFill>
                    <a:schemeClr val="bg1"/>
                  </a:solidFill>
                </a:rPr>
                <a:t>E</a:t>
              </a:r>
              <a:r>
                <a:rPr lang="en-US" sz="1700" dirty="0" smtClean="0">
                  <a:solidFill>
                    <a:schemeClr val="bg1"/>
                  </a:solidFill>
                </a:rPr>
                <a:t>ngagement</a:t>
              </a:r>
              <a:endParaRPr lang="en-US" sz="1700" kern="1200" dirty="0">
                <a:solidFill>
                  <a:schemeClr val="bg1"/>
                </a:solidFill>
              </a:endParaRPr>
            </a:p>
          </p:txBody>
        </p:sp>
      </p:grpSp>
      <p:sp>
        <p:nvSpPr>
          <p:cNvPr id="14"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cxnSp>
        <p:nvCxnSpPr>
          <p:cNvPr id="15" name="Straight Connector 14"/>
          <p:cNvCxnSpPr/>
          <p:nvPr/>
        </p:nvCxnSpPr>
        <p:spPr>
          <a:xfrm>
            <a:off x="468000" y="6310800"/>
            <a:ext cx="8208000" cy="0"/>
          </a:xfrm>
          <a:prstGeom prst="line">
            <a:avLst/>
          </a:prstGeom>
          <a:ln w="19050" cmpd="thickThi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Slide Number Placeholder 2"/>
          <p:cNvSpPr>
            <a:spLocks noGrp="1"/>
          </p:cNvSpPr>
          <p:nvPr>
            <p:ph type="sldNum" sz="quarter" idx="4294967295"/>
          </p:nvPr>
        </p:nvSpPr>
        <p:spPr>
          <a:xfrm>
            <a:off x="6553200" y="6356350"/>
            <a:ext cx="2133600" cy="365125"/>
          </a:xfrm>
        </p:spPr>
        <p:txBody>
          <a:bodyPr/>
          <a:lstStyle/>
          <a:p>
            <a:fld id="{418A78CD-E27B-441A-A2B1-21C1D5FFEB65}" type="slidenum">
              <a:rPr lang="en-US" sz="1200" smtClean="0">
                <a:solidFill>
                  <a:prstClr val="black"/>
                </a:solidFill>
                <a:latin typeface="Georgia" pitchFamily="18" charset="0"/>
              </a:rPr>
              <a:pPr/>
              <a:t>33</a:t>
            </a:fld>
            <a:endParaRPr lang="en-US" sz="1200" dirty="0">
              <a:solidFill>
                <a:prstClr val="black"/>
              </a:solidFill>
              <a:latin typeface="Georgia" pitchFamily="18" charset="0"/>
            </a:endParaRPr>
          </a:p>
        </p:txBody>
      </p:sp>
      <p:sp>
        <p:nvSpPr>
          <p:cNvPr id="8" name="TextBox 7"/>
          <p:cNvSpPr txBox="1"/>
          <p:nvPr/>
        </p:nvSpPr>
        <p:spPr>
          <a:xfrm>
            <a:off x="618766" y="3052698"/>
            <a:ext cx="5665516" cy="1600438"/>
          </a:xfrm>
          <a:prstGeom prst="rect">
            <a:avLst/>
          </a:prstGeom>
          <a:noFill/>
        </p:spPr>
        <p:txBody>
          <a:bodyPr wrap="square" rtlCol="0">
            <a:spAutoFit/>
          </a:bodyPr>
          <a:lstStyle/>
          <a:p>
            <a:pPr algn="just"/>
            <a:r>
              <a:rPr lang="en-US" sz="2000" dirty="0">
                <a:latin typeface="Georgia" pitchFamily="18" charset="0"/>
              </a:rPr>
              <a:t>Governments face the challenge of mediating between the competing interests of communities surrounding the project site </a:t>
            </a:r>
            <a:r>
              <a:rPr lang="en-US" sz="2000" dirty="0" smtClean="0">
                <a:latin typeface="Georgia" pitchFamily="18" charset="0"/>
              </a:rPr>
              <a:t>and </a:t>
            </a:r>
            <a:r>
              <a:rPr lang="en-US" sz="2000" dirty="0">
                <a:latin typeface="Georgia" pitchFamily="18" charset="0"/>
              </a:rPr>
              <a:t>other interest groups in the country. </a:t>
            </a:r>
            <a:endParaRPr lang="en-GB" sz="2000" dirty="0">
              <a:latin typeface="Georgia" pitchFamily="18" charset="0"/>
            </a:endParaRPr>
          </a:p>
          <a:p>
            <a:pPr algn="just"/>
            <a:endParaRPr lang="en-GB" dirty="0"/>
          </a:p>
        </p:txBody>
      </p:sp>
    </p:spTree>
    <p:extLst>
      <p:ext uri="{BB962C8B-B14F-4D97-AF65-F5344CB8AC3E}">
        <p14:creationId xmlns:p14="http://schemas.microsoft.com/office/powerpoint/2010/main" val="54414579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4" name="Text Placeholder 3"/>
          <p:cNvSpPr>
            <a:spLocks noGrp="1"/>
          </p:cNvSpPr>
          <p:nvPr>
            <p:ph type="body" sz="quarter" idx="10"/>
          </p:nvPr>
        </p:nvSpPr>
        <p:spPr/>
        <p:txBody>
          <a:bodyPr>
            <a:noAutofit/>
          </a:bodyPr>
          <a:lstStyle/>
          <a:p>
            <a:r>
              <a:rPr lang="en-GB" sz="2400" dirty="0" smtClean="0"/>
              <a:t>Recommendations for meaningful community engagement</a:t>
            </a:r>
            <a:endParaRPr lang="en-GB" sz="2400" dirty="0"/>
          </a:p>
        </p:txBody>
      </p:sp>
      <p:sp>
        <p:nvSpPr>
          <p:cNvPr id="5" name="Text Placeholder 4"/>
          <p:cNvSpPr>
            <a:spLocks noGrp="1"/>
          </p:cNvSpPr>
          <p:nvPr>
            <p:ph type="body" sz="quarter" idx="11"/>
          </p:nvPr>
        </p:nvSpPr>
        <p:spPr>
          <a:xfrm>
            <a:off x="395536" y="1196752"/>
            <a:ext cx="7821951" cy="4248472"/>
          </a:xfrm>
        </p:spPr>
        <p:txBody>
          <a:bodyPr>
            <a:noAutofit/>
          </a:bodyPr>
          <a:lstStyle/>
          <a:p>
            <a:r>
              <a:rPr lang="en-GB" sz="2200" dirty="0"/>
              <a:t>Communicate early and </a:t>
            </a:r>
            <a:r>
              <a:rPr lang="en-GB" sz="2200" dirty="0" smtClean="0"/>
              <a:t>regularly</a:t>
            </a:r>
            <a:endParaRPr lang="en-US" sz="2200" dirty="0" smtClean="0"/>
          </a:p>
          <a:p>
            <a:r>
              <a:rPr lang="en-US" sz="2200" dirty="0" smtClean="0"/>
              <a:t>Have a clear sense of petroleum </a:t>
            </a:r>
            <a:r>
              <a:rPr lang="en-US" sz="2200" dirty="0"/>
              <a:t>sector’s role in </a:t>
            </a:r>
            <a:r>
              <a:rPr lang="en-US" sz="2200" dirty="0" smtClean="0"/>
              <a:t>the broader national vision so can align local and national concerns</a:t>
            </a:r>
          </a:p>
          <a:p>
            <a:r>
              <a:rPr lang="en-GB" sz="2200" dirty="0" smtClean="0"/>
              <a:t>Avoid symbolic engagement. Really listen to the core values of the community </a:t>
            </a:r>
          </a:p>
          <a:p>
            <a:r>
              <a:rPr lang="en-GB" sz="2200" dirty="0" smtClean="0"/>
              <a:t>Oil </a:t>
            </a:r>
            <a:r>
              <a:rPr lang="en-GB" sz="2200" dirty="0"/>
              <a:t>companies should employ specialized staff for community engagement and increase </a:t>
            </a:r>
            <a:r>
              <a:rPr lang="en-GB" sz="2200" dirty="0" smtClean="0"/>
              <a:t>communication with the public</a:t>
            </a:r>
          </a:p>
          <a:p>
            <a:r>
              <a:rPr lang="en-GB" sz="2200" dirty="0" smtClean="0"/>
              <a:t>Develop a strategy for community engagement, clarifying who will be heard and how competing interests will be balanced</a:t>
            </a:r>
          </a:p>
          <a:p>
            <a:r>
              <a:rPr lang="en-GB" sz="2200" dirty="0" smtClean="0"/>
              <a:t>Draw on trusted messengers</a:t>
            </a:r>
          </a:p>
          <a:p>
            <a:pPr marL="0" indent="0">
              <a:buNone/>
            </a:pPr>
            <a:endParaRPr lang="en-GB" sz="2200" dirty="0" smtClean="0"/>
          </a:p>
        </p:txBody>
      </p:sp>
      <p:grpSp>
        <p:nvGrpSpPr>
          <p:cNvPr id="8" name="Group 7"/>
          <p:cNvGrpSpPr/>
          <p:nvPr/>
        </p:nvGrpSpPr>
        <p:grpSpPr>
          <a:xfrm>
            <a:off x="7524328" y="4252234"/>
            <a:ext cx="1259387" cy="1192990"/>
            <a:chOff x="7796811" y="4180226"/>
            <a:chExt cx="986904" cy="986904"/>
          </a:xfrm>
        </p:grpSpPr>
        <p:sp>
          <p:nvSpPr>
            <p:cNvPr id="12" name="Oval 11"/>
            <p:cNvSpPr/>
            <p:nvPr/>
          </p:nvSpPr>
          <p:spPr>
            <a:xfrm>
              <a:off x="7796811" y="4180226"/>
              <a:ext cx="986904" cy="986904"/>
            </a:xfrm>
            <a:prstGeom prst="ellipse">
              <a:avLst/>
            </a:prstGeom>
            <a:noFill/>
            <a:ln w="38100" cap="flat" cmpd="dbl">
              <a:solidFill>
                <a:srgbClr val="99211D"/>
              </a:solidFill>
              <a:prstDash val="solid"/>
              <a:round/>
            </a:ln>
          </p:spPr>
          <p:style>
            <a:lnRef idx="0">
              <a:scrgbClr r="0" g="0" b="0"/>
            </a:lnRef>
            <a:fillRef idx="3">
              <a:scrgbClr r="0" g="0" b="0"/>
            </a:fillRef>
            <a:effectRef idx="2">
              <a:schemeClr val="accent2">
                <a:hueOff val="0"/>
                <a:satOff val="0"/>
                <a:lumOff val="0"/>
                <a:alphaOff val="0"/>
              </a:schemeClr>
            </a:effectRef>
            <a:fontRef idx="minor">
              <a:schemeClr val="lt1"/>
            </a:fontRef>
          </p:style>
        </p:sp>
        <p:sp>
          <p:nvSpPr>
            <p:cNvPr id="13" name="Oval 4"/>
            <p:cNvSpPr/>
            <p:nvPr/>
          </p:nvSpPr>
          <p:spPr>
            <a:xfrm>
              <a:off x="7941340" y="4426952"/>
              <a:ext cx="697846" cy="4934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6896" tIns="56896" rIns="56896" bIns="56896" numCol="1" spcCol="1270" anchor="ctr" anchorCtr="0">
              <a:noAutofit/>
            </a:bodyPr>
            <a:lstStyle/>
            <a:p>
              <a:pPr lvl="0" algn="ctr" defTabSz="355600">
                <a:lnSpc>
                  <a:spcPct val="90000"/>
                </a:lnSpc>
                <a:spcBef>
                  <a:spcPct val="0"/>
                </a:spcBef>
                <a:spcAft>
                  <a:spcPct val="35000"/>
                </a:spcAft>
              </a:pPr>
              <a:r>
                <a:rPr lang="en-US" sz="800" b="1" kern="1200" dirty="0" smtClean="0">
                  <a:solidFill>
                    <a:srgbClr val="006699"/>
                  </a:solidFill>
                </a:rPr>
                <a:t>Questions for future workshops</a:t>
              </a:r>
              <a:endParaRPr lang="en-US" sz="800" b="1" kern="1200" dirty="0">
                <a:solidFill>
                  <a:srgbClr val="006699"/>
                </a:solidFill>
              </a:endParaRPr>
            </a:p>
          </p:txBody>
        </p:sp>
      </p:grpSp>
      <p:sp>
        <p:nvSpPr>
          <p:cNvPr id="14" name="Slide Number Placeholder 2"/>
          <p:cNvSpPr>
            <a:spLocks noGrp="1"/>
          </p:cNvSpPr>
          <p:nvPr>
            <p:ph type="sldNum" sz="quarter" idx="4294967295"/>
          </p:nvPr>
        </p:nvSpPr>
        <p:spPr>
          <a:xfrm>
            <a:off x="6553200" y="6356350"/>
            <a:ext cx="2133600" cy="365125"/>
          </a:xfrm>
        </p:spPr>
        <p:txBody>
          <a:bodyPr/>
          <a:lstStyle/>
          <a:p>
            <a:fld id="{418A78CD-E27B-441A-A2B1-21C1D5FFEB65}" type="slidenum">
              <a:rPr lang="en-US" sz="1200" smtClean="0">
                <a:solidFill>
                  <a:prstClr val="black"/>
                </a:solidFill>
                <a:latin typeface="Georgia" pitchFamily="18" charset="0"/>
              </a:rPr>
              <a:pPr/>
              <a:t>34</a:t>
            </a:fld>
            <a:endParaRPr lang="en-US" sz="1200" dirty="0">
              <a:solidFill>
                <a:prstClr val="black"/>
              </a:solidFill>
              <a:latin typeface="Georgia" pitchFamily="18" charset="0"/>
            </a:endParaRPr>
          </a:p>
        </p:txBody>
      </p:sp>
      <p:grpSp>
        <p:nvGrpSpPr>
          <p:cNvPr id="15" name="Group 14"/>
          <p:cNvGrpSpPr/>
          <p:nvPr/>
        </p:nvGrpSpPr>
        <p:grpSpPr>
          <a:xfrm>
            <a:off x="7668000" y="5742000"/>
            <a:ext cx="966416" cy="551448"/>
            <a:chOff x="7308304" y="5655800"/>
            <a:chExt cx="966416" cy="551448"/>
          </a:xfrm>
        </p:grpSpPr>
        <p:sp>
          <p:nvSpPr>
            <p:cNvPr id="16" name="Action Button: Return 15">
              <a:hlinkClick r:id="rId2" action="ppaction://hlinksldjump" highlightClick="1"/>
            </p:cNvPr>
            <p:cNvSpPr/>
            <p:nvPr/>
          </p:nvSpPr>
          <p:spPr bwMode="auto">
            <a:xfrm>
              <a:off x="7524328" y="5655800"/>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7" name="Action Button: Home 16">
              <a:hlinkClick r:id="rId3" action="ppaction://hlinksldjump" highlightClick="1"/>
            </p:cNvPr>
            <p:cNvSpPr/>
            <p:nvPr/>
          </p:nvSpPr>
          <p:spPr bwMode="auto">
            <a:xfrm>
              <a:off x="7914680" y="5655800"/>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8" name="TextBox 17">
              <a:hlinkClick r:id="" action="ppaction://noaction"/>
            </p:cNvPr>
            <p:cNvSpPr txBox="1"/>
            <p:nvPr/>
          </p:nvSpPr>
          <p:spPr>
            <a:xfrm>
              <a:off x="7308304" y="5953332"/>
              <a:ext cx="792205" cy="253916"/>
            </a:xfrm>
            <a:prstGeom prst="actionButtonReturn">
              <a:avLst/>
            </a:prstGeom>
            <a:noFill/>
          </p:spPr>
          <p:txBody>
            <a:bodyPr wrap="none" rtlCol="0">
              <a:spAutoFit/>
            </a:bodyPr>
            <a:lstStyle/>
            <a:p>
              <a:pPr algn="ctr"/>
              <a:r>
                <a:rPr lang="en-US" sz="1050" i="1" dirty="0" smtClean="0"/>
                <a:t>Objective 4</a:t>
              </a:r>
              <a:endParaRPr lang="en-US" sz="1050" i="1" dirty="0"/>
            </a:p>
          </p:txBody>
        </p:sp>
      </p:grpSp>
    </p:spTree>
    <p:extLst>
      <p:ext uri="{BB962C8B-B14F-4D97-AF65-F5344CB8AC3E}">
        <p14:creationId xmlns:p14="http://schemas.microsoft.com/office/powerpoint/2010/main" val="208271294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35</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p:txBody>
          <a:bodyPr>
            <a:normAutofit fontScale="85000" lnSpcReduction="20000"/>
          </a:bodyPr>
          <a:lstStyle/>
          <a:p>
            <a:r>
              <a:rPr lang="en-GB" dirty="0" smtClean="0"/>
              <a:t>Meaningful Community Engagement</a:t>
            </a:r>
            <a:endParaRPr lang="en-GB" dirty="0"/>
          </a:p>
        </p:txBody>
      </p:sp>
      <p:sp>
        <p:nvSpPr>
          <p:cNvPr id="5" name="Text Placeholder 4"/>
          <p:cNvSpPr>
            <a:spLocks noGrp="1"/>
          </p:cNvSpPr>
          <p:nvPr>
            <p:ph type="body" sz="quarter" idx="11"/>
          </p:nvPr>
        </p:nvSpPr>
        <p:spPr>
          <a:xfrm>
            <a:off x="426273" y="1124744"/>
            <a:ext cx="8208143" cy="4752528"/>
          </a:xfrm>
        </p:spPr>
        <p:txBody>
          <a:bodyPr>
            <a:normAutofit fontScale="55000" lnSpcReduction="20000"/>
          </a:bodyPr>
          <a:lstStyle/>
          <a:p>
            <a:pPr marL="0" lvl="0" indent="0">
              <a:buNone/>
            </a:pPr>
            <a:r>
              <a:rPr lang="en-US" sz="3800" dirty="0" smtClean="0"/>
              <a:t>Community engagement </a:t>
            </a:r>
            <a:r>
              <a:rPr lang="en-US" sz="3800" dirty="0"/>
              <a:t>would have the industry </a:t>
            </a:r>
            <a:r>
              <a:rPr lang="en-US" sz="3800" dirty="0" smtClean="0"/>
              <a:t>(and government) move beyond one-way communication and community </a:t>
            </a:r>
            <a:r>
              <a:rPr lang="en-US" sz="3800" dirty="0"/>
              <a:t>consultations </a:t>
            </a:r>
            <a:r>
              <a:rPr lang="en-US" sz="3800" dirty="0" smtClean="0"/>
              <a:t>to a higher standard requiring Free, Prior and Informed Consent (FPIC). </a:t>
            </a:r>
          </a:p>
          <a:p>
            <a:pPr marL="0" lvl="0" indent="0">
              <a:buNone/>
            </a:pPr>
            <a:endParaRPr lang="en-US" sz="3800" dirty="0"/>
          </a:p>
          <a:p>
            <a:pPr marL="0" lvl="0" indent="0">
              <a:buNone/>
            </a:pPr>
            <a:r>
              <a:rPr lang="en-US" sz="3800" dirty="0" smtClean="0"/>
              <a:t>FPIC </a:t>
            </a:r>
            <a:r>
              <a:rPr lang="en-US" sz="3800" dirty="0"/>
              <a:t>is emerging </a:t>
            </a:r>
            <a:r>
              <a:rPr lang="en-US" sz="3800" dirty="0" smtClean="0"/>
              <a:t>as </a:t>
            </a:r>
            <a:r>
              <a:rPr lang="en-US" sz="3800" dirty="0"/>
              <a:t>a principle of best practice for sustainable development and a risk management tool, used to reduce social conflict and </a:t>
            </a:r>
            <a:r>
              <a:rPr lang="en-US" sz="3800" dirty="0" smtClean="0"/>
              <a:t>increase project legitimacy in </a:t>
            </a:r>
            <a:r>
              <a:rPr lang="en-US" sz="3800" dirty="0"/>
              <a:t>the eyes of all stakeholders and </a:t>
            </a:r>
            <a:r>
              <a:rPr lang="en-US" sz="3800" dirty="0" smtClean="0"/>
              <a:t>rights-holders</a:t>
            </a:r>
            <a:r>
              <a:rPr lang="en-US" sz="3800" dirty="0"/>
              <a:t>. </a:t>
            </a:r>
            <a:endParaRPr lang="en-US" sz="3800" dirty="0" smtClean="0"/>
          </a:p>
          <a:p>
            <a:pPr marL="0" lvl="0" indent="0">
              <a:buNone/>
            </a:pPr>
            <a:endParaRPr lang="en-US" sz="3800" dirty="0" smtClean="0"/>
          </a:p>
          <a:p>
            <a:pPr marL="0" lvl="0" indent="0">
              <a:buNone/>
            </a:pPr>
            <a:endParaRPr lang="en-US" sz="3800" dirty="0"/>
          </a:p>
          <a:p>
            <a:pPr marL="0" indent="0" algn="ctr">
              <a:buNone/>
            </a:pPr>
            <a:r>
              <a:rPr lang="en-US" sz="3600" i="1" dirty="0"/>
              <a:t>Questions for </a:t>
            </a:r>
            <a:r>
              <a:rPr lang="en-US" sz="3600" i="1" dirty="0" smtClean="0"/>
              <a:t>discussion</a:t>
            </a:r>
            <a:endParaRPr lang="en-US" sz="3600" i="1" dirty="0"/>
          </a:p>
          <a:p>
            <a:pPr marL="0" lvl="0" indent="0">
              <a:buNone/>
            </a:pPr>
            <a:endParaRPr lang="en-US" sz="4000" dirty="0" smtClean="0"/>
          </a:p>
          <a:p>
            <a:pPr lvl="0">
              <a:buFont typeface="Wingdings" charset="2"/>
              <a:buChar char="Ø"/>
            </a:pPr>
            <a:r>
              <a:rPr lang="en-US" sz="4000" dirty="0" smtClean="0"/>
              <a:t>What </a:t>
            </a:r>
            <a:r>
              <a:rPr lang="en-US" sz="4000" dirty="0"/>
              <a:t>are the benefits and challenges of higher standards of community consultation? Which communities would need to give FPIC? Is this applicable only for onshore projects?</a:t>
            </a:r>
          </a:p>
          <a:p>
            <a:pPr lvl="0">
              <a:buFont typeface="Wingdings" charset="2"/>
              <a:buChar char="Ø"/>
            </a:pPr>
            <a:endParaRPr lang="en-US" sz="4000" dirty="0"/>
          </a:p>
          <a:p>
            <a:pPr lvl="0">
              <a:buFont typeface="Wingdings" charset="2"/>
              <a:buChar char="Ø"/>
            </a:pPr>
            <a:endParaRPr lang="en-GB" sz="4000" dirty="0"/>
          </a:p>
          <a:p>
            <a:endParaRPr lang="en-GB" dirty="0"/>
          </a:p>
        </p:txBody>
      </p:sp>
      <p:grpSp>
        <p:nvGrpSpPr>
          <p:cNvPr id="10" name="Group 9"/>
          <p:cNvGrpSpPr/>
          <p:nvPr/>
        </p:nvGrpSpPr>
        <p:grpSpPr>
          <a:xfrm>
            <a:off x="7668000" y="5742000"/>
            <a:ext cx="966416" cy="551448"/>
            <a:chOff x="7308304" y="5655800"/>
            <a:chExt cx="966416" cy="551448"/>
          </a:xfrm>
        </p:grpSpPr>
        <p:sp>
          <p:nvSpPr>
            <p:cNvPr id="11" name="Action Button: Return 10">
              <a:hlinkClick r:id="rId2" action="ppaction://hlinksldjump" highlightClick="1"/>
            </p:cNvPr>
            <p:cNvSpPr/>
            <p:nvPr/>
          </p:nvSpPr>
          <p:spPr bwMode="auto">
            <a:xfrm>
              <a:off x="7524328" y="5655800"/>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2" name="Action Button: Home 11">
              <a:hlinkClick r:id="rId3" action="ppaction://hlinksldjump" highlightClick="1"/>
            </p:cNvPr>
            <p:cNvSpPr/>
            <p:nvPr/>
          </p:nvSpPr>
          <p:spPr bwMode="auto">
            <a:xfrm>
              <a:off x="7914680" y="5655800"/>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3" name="TextBox 12">
              <a:hlinkClick r:id="" action="ppaction://noaction"/>
            </p:cNvPr>
            <p:cNvSpPr txBox="1"/>
            <p:nvPr/>
          </p:nvSpPr>
          <p:spPr>
            <a:xfrm>
              <a:off x="7308304" y="5953332"/>
              <a:ext cx="792205" cy="253916"/>
            </a:xfrm>
            <a:prstGeom prst="actionButtonReturn">
              <a:avLst/>
            </a:prstGeom>
            <a:noFill/>
          </p:spPr>
          <p:txBody>
            <a:bodyPr wrap="none" rtlCol="0">
              <a:spAutoFit/>
            </a:bodyPr>
            <a:lstStyle/>
            <a:p>
              <a:pPr algn="ctr"/>
              <a:r>
                <a:rPr lang="en-US" sz="1050" i="1" dirty="0" smtClean="0"/>
                <a:t>Objective 4</a:t>
              </a:r>
              <a:endParaRPr lang="en-US" sz="1050" i="1" dirty="0"/>
            </a:p>
          </p:txBody>
        </p:sp>
      </p:grpSp>
    </p:spTree>
    <p:extLst>
      <p:ext uri="{BB962C8B-B14F-4D97-AF65-F5344CB8AC3E}">
        <p14:creationId xmlns:p14="http://schemas.microsoft.com/office/powerpoint/2010/main" val="101694606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
          <p:cNvSpPr/>
          <p:nvPr/>
        </p:nvSpPr>
        <p:spPr>
          <a:xfrm>
            <a:off x="496515" y="260648"/>
            <a:ext cx="8035925" cy="792146"/>
          </a:xfrm>
          <a:prstGeom prst="roundRect">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algn="ctr"/>
            <a:r>
              <a:rPr lang="fr-CA" dirty="0" smtClean="0">
                <a:latin typeface="Arial"/>
                <a:cs typeface="Arial"/>
              </a:rPr>
              <a:t>Challenge 2: </a:t>
            </a:r>
            <a:r>
              <a:rPr lang="fr-CA" dirty="0" err="1" smtClean="0">
                <a:latin typeface="Arial"/>
                <a:cs typeface="Arial"/>
              </a:rPr>
              <a:t>Overcoming</a:t>
            </a:r>
            <a:r>
              <a:rPr lang="fr-CA" dirty="0" smtClean="0">
                <a:latin typeface="Arial"/>
                <a:cs typeface="Arial"/>
              </a:rPr>
              <a:t> </a:t>
            </a:r>
            <a:r>
              <a:rPr lang="fr-CA" dirty="0" err="1" smtClean="0">
                <a:latin typeface="Arial"/>
                <a:cs typeface="Arial"/>
              </a:rPr>
              <a:t>lack</a:t>
            </a:r>
            <a:r>
              <a:rPr lang="fr-CA" dirty="0" smtClean="0">
                <a:latin typeface="Arial"/>
                <a:cs typeface="Arial"/>
              </a:rPr>
              <a:t> of trust</a:t>
            </a:r>
            <a:endParaRPr lang="en-US" dirty="0">
              <a:solidFill>
                <a:srgbClr val="FF0000"/>
              </a:solidFill>
              <a:latin typeface="Arial"/>
              <a:cs typeface="Arial"/>
            </a:endParaRPr>
          </a:p>
        </p:txBody>
      </p:sp>
      <p:sp>
        <p:nvSpPr>
          <p:cNvPr id="3" name="Rectangle 2"/>
          <p:cNvSpPr/>
          <p:nvPr/>
        </p:nvSpPr>
        <p:spPr>
          <a:xfrm>
            <a:off x="496514" y="1196752"/>
            <a:ext cx="8035925" cy="3539430"/>
          </a:xfrm>
          <a:prstGeom prst="rect">
            <a:avLst/>
          </a:prstGeom>
        </p:spPr>
        <p:txBody>
          <a:bodyPr wrap="square">
            <a:spAutoFit/>
          </a:bodyPr>
          <a:lstStyle/>
          <a:p>
            <a:r>
              <a:rPr lang="en-GB" sz="2000" dirty="0">
                <a:latin typeface="Georgia" pitchFamily="18" charset="0"/>
              </a:rPr>
              <a:t>Trust is a key ingredient in community engagement. But it is lacking in post-conflict situations and where corruption has been endemic. </a:t>
            </a:r>
            <a:r>
              <a:rPr lang="en-GB" sz="2000" dirty="0" smtClean="0">
                <a:latin typeface="Georgia" pitchFamily="18" charset="0"/>
              </a:rPr>
              <a:t>Marginalized communities may </a:t>
            </a:r>
            <a:r>
              <a:rPr lang="en-GB" sz="2000" dirty="0">
                <a:latin typeface="Georgia" pitchFamily="18" charset="0"/>
              </a:rPr>
              <a:t>not trust the messages that are being conveyed. </a:t>
            </a:r>
            <a:endParaRPr lang="en-GB" sz="2000" dirty="0" smtClean="0">
              <a:latin typeface="Georgia" pitchFamily="18" charset="0"/>
            </a:endParaRPr>
          </a:p>
          <a:p>
            <a:endParaRPr lang="en-GB" sz="2000" i="1" dirty="0">
              <a:latin typeface="Georgia" pitchFamily="18" charset="0"/>
            </a:endParaRPr>
          </a:p>
          <a:p>
            <a:pPr algn="ctr"/>
            <a:r>
              <a:rPr lang="en-US" sz="2000" i="1" dirty="0">
                <a:latin typeface="Georgia" pitchFamily="18" charset="0"/>
              </a:rPr>
              <a:t> </a:t>
            </a:r>
            <a:r>
              <a:rPr lang="en-GB" sz="2000" i="1" dirty="0" smtClean="0">
                <a:latin typeface="Georgia" pitchFamily="18" charset="0"/>
              </a:rPr>
              <a:t>‘</a:t>
            </a:r>
            <a:r>
              <a:rPr lang="en-US" sz="2000" i="1" dirty="0" smtClean="0">
                <a:latin typeface="Georgia" pitchFamily="18" charset="0"/>
              </a:rPr>
              <a:t>It </a:t>
            </a:r>
            <a:r>
              <a:rPr lang="en-US" sz="2000" i="1" dirty="0">
                <a:latin typeface="Georgia" pitchFamily="18" charset="0"/>
              </a:rPr>
              <a:t>is a difficult task to meet someone who doesn’t trust you. But you can’t escape this responsibility. And besides, it will improve, and trust will be built as you </a:t>
            </a:r>
            <a:r>
              <a:rPr lang="en-US" sz="2000" i="1" dirty="0" smtClean="0">
                <a:latin typeface="Georgia" pitchFamily="18" charset="0"/>
              </a:rPr>
              <a:t>meet’.</a:t>
            </a:r>
            <a:endParaRPr lang="en-GB" sz="2000" i="1" dirty="0">
              <a:latin typeface="Georgia" pitchFamily="18" charset="0"/>
            </a:endParaRPr>
          </a:p>
          <a:p>
            <a:pPr algn="r"/>
            <a:r>
              <a:rPr lang="en-US" sz="1200" dirty="0" smtClean="0">
                <a:latin typeface="Georgia" pitchFamily="18" charset="0"/>
              </a:rPr>
              <a:t>- Ernest </a:t>
            </a:r>
            <a:r>
              <a:rPr lang="en-US" sz="1200" dirty="0" err="1">
                <a:latin typeface="Georgia" pitchFamily="18" charset="0"/>
              </a:rPr>
              <a:t>Rubondo</a:t>
            </a:r>
            <a:r>
              <a:rPr lang="en-US" sz="1200" dirty="0">
                <a:latin typeface="Georgia" pitchFamily="18" charset="0"/>
              </a:rPr>
              <a:t>, </a:t>
            </a:r>
            <a:r>
              <a:rPr lang="en-US" sz="1200" dirty="0" smtClean="0">
                <a:latin typeface="Georgia" pitchFamily="18" charset="0"/>
              </a:rPr>
              <a:t>Ag. Director </a:t>
            </a:r>
            <a:r>
              <a:rPr lang="en-US" sz="1200" dirty="0">
                <a:latin typeface="Georgia" pitchFamily="18" charset="0"/>
              </a:rPr>
              <a:t>of </a:t>
            </a:r>
            <a:endParaRPr lang="en-US" sz="1200" dirty="0" smtClean="0">
              <a:latin typeface="Georgia" pitchFamily="18" charset="0"/>
            </a:endParaRPr>
          </a:p>
          <a:p>
            <a:pPr algn="r"/>
            <a:r>
              <a:rPr lang="en-US" sz="1200" dirty="0" smtClean="0">
                <a:latin typeface="Georgia" pitchFamily="18" charset="0"/>
              </a:rPr>
              <a:t>Uganda’s Petroleum Directorate</a:t>
            </a:r>
            <a:endParaRPr lang="en-GB" sz="1200" dirty="0" smtClean="0">
              <a:latin typeface="Georgia" pitchFamily="18" charset="0"/>
            </a:endParaRPr>
          </a:p>
          <a:p>
            <a:endParaRPr lang="en-GB" sz="2000" dirty="0"/>
          </a:p>
          <a:p>
            <a:endParaRPr lang="en-GB" sz="2000" dirty="0"/>
          </a:p>
        </p:txBody>
      </p:sp>
      <p:sp>
        <p:nvSpPr>
          <p:cNvPr id="4" name="Freeform 10">
            <a:hlinkClick r:id="rId2" action="ppaction://hlinksldjump"/>
          </p:cNvPr>
          <p:cNvSpPr/>
          <p:nvPr/>
        </p:nvSpPr>
        <p:spPr>
          <a:xfrm>
            <a:off x="374848" y="5013176"/>
            <a:ext cx="8229600" cy="540089"/>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algn="ctr" defTabSz="1555750">
              <a:lnSpc>
                <a:spcPct val="90000"/>
              </a:lnSpc>
              <a:spcAft>
                <a:spcPct val="35000"/>
              </a:spcAft>
            </a:pPr>
            <a:r>
              <a:rPr lang="en-US" sz="2000" dirty="0" smtClean="0"/>
              <a:t>Recommendations for </a:t>
            </a:r>
            <a:r>
              <a:rPr lang="fr-CA" sz="2000" dirty="0" err="1" smtClean="0">
                <a:cs typeface="Arial"/>
              </a:rPr>
              <a:t>overcoming</a:t>
            </a:r>
            <a:r>
              <a:rPr lang="fr-CA" sz="2000" dirty="0" smtClean="0">
                <a:cs typeface="Arial"/>
              </a:rPr>
              <a:t> </a:t>
            </a:r>
            <a:r>
              <a:rPr lang="fr-CA" sz="2000" dirty="0" err="1">
                <a:cs typeface="Arial"/>
              </a:rPr>
              <a:t>lack</a:t>
            </a:r>
            <a:r>
              <a:rPr lang="fr-CA" sz="2000" dirty="0">
                <a:cs typeface="Arial"/>
              </a:rPr>
              <a:t> of </a:t>
            </a:r>
            <a:r>
              <a:rPr lang="fr-CA" sz="2000" dirty="0" smtClean="0">
                <a:cs typeface="Arial"/>
              </a:rPr>
              <a:t>trust</a:t>
            </a:r>
            <a:endParaRPr lang="en-GB" sz="2000" dirty="0">
              <a:cs typeface="Arial"/>
            </a:endParaRPr>
          </a:p>
        </p:txBody>
      </p:sp>
      <p:grpSp>
        <p:nvGrpSpPr>
          <p:cNvPr id="11" name="Group 10"/>
          <p:cNvGrpSpPr/>
          <p:nvPr/>
        </p:nvGrpSpPr>
        <p:grpSpPr>
          <a:xfrm>
            <a:off x="7668000" y="5742000"/>
            <a:ext cx="966416" cy="551448"/>
            <a:chOff x="7308304" y="5655800"/>
            <a:chExt cx="966416" cy="551448"/>
          </a:xfrm>
        </p:grpSpPr>
        <p:sp>
          <p:nvSpPr>
            <p:cNvPr id="12" name="Action Button: Return 11">
              <a:hlinkClick r:id="rId3" action="ppaction://hlinksldjump" highlightClick="1"/>
            </p:cNvPr>
            <p:cNvSpPr/>
            <p:nvPr/>
          </p:nvSpPr>
          <p:spPr bwMode="auto">
            <a:xfrm>
              <a:off x="7524328" y="5655800"/>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3" name="Action Button: Home 12">
              <a:hlinkClick r:id="rId4" action="ppaction://hlinksldjump" highlightClick="1"/>
            </p:cNvPr>
            <p:cNvSpPr/>
            <p:nvPr/>
          </p:nvSpPr>
          <p:spPr bwMode="auto">
            <a:xfrm>
              <a:off x="7914680" y="5655800"/>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4" name="TextBox 13">
              <a:hlinkClick r:id="" action="ppaction://noaction"/>
            </p:cNvPr>
            <p:cNvSpPr txBox="1"/>
            <p:nvPr/>
          </p:nvSpPr>
          <p:spPr>
            <a:xfrm>
              <a:off x="7308304" y="5953332"/>
              <a:ext cx="792205" cy="253916"/>
            </a:xfrm>
            <a:prstGeom prst="actionButtonReturn">
              <a:avLst/>
            </a:prstGeom>
            <a:noFill/>
          </p:spPr>
          <p:txBody>
            <a:bodyPr wrap="none" rtlCol="0">
              <a:spAutoFit/>
            </a:bodyPr>
            <a:lstStyle/>
            <a:p>
              <a:pPr algn="ctr"/>
              <a:r>
                <a:rPr lang="en-US" sz="1050" i="1" dirty="0" smtClean="0"/>
                <a:t>Objective 4</a:t>
              </a:r>
              <a:endParaRPr lang="en-US" sz="1050" i="1" dirty="0"/>
            </a:p>
          </p:txBody>
        </p:sp>
      </p:grpSp>
      <p:sp>
        <p:nvSpPr>
          <p:cNvPr id="15" name="Slide Number Placeholder 2"/>
          <p:cNvSpPr>
            <a:spLocks noGrp="1"/>
          </p:cNvSpPr>
          <p:nvPr>
            <p:ph type="sldNum" sz="quarter" idx="4294967295"/>
          </p:nvPr>
        </p:nvSpPr>
        <p:spPr>
          <a:xfrm>
            <a:off x="6553200" y="6356350"/>
            <a:ext cx="2133600" cy="365125"/>
          </a:xfrm>
        </p:spPr>
        <p:txBody>
          <a:bodyPr/>
          <a:lstStyle/>
          <a:p>
            <a:fld id="{418A78CD-E27B-441A-A2B1-21C1D5FFEB65}" type="slidenum">
              <a:rPr lang="en-US" sz="1200" smtClean="0">
                <a:solidFill>
                  <a:prstClr val="black"/>
                </a:solidFill>
                <a:latin typeface="Georgia" pitchFamily="18" charset="0"/>
              </a:rPr>
              <a:pPr/>
              <a:t>36</a:t>
            </a:fld>
            <a:endParaRPr lang="en-US" sz="1200" dirty="0">
              <a:solidFill>
                <a:prstClr val="black"/>
              </a:solidFill>
              <a:latin typeface="Georgia" pitchFamily="18" charset="0"/>
            </a:endParaRPr>
          </a:p>
        </p:txBody>
      </p:sp>
      <p:sp>
        <p:nvSpPr>
          <p:cNvPr id="16"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cxnSp>
        <p:nvCxnSpPr>
          <p:cNvPr id="17" name="Straight Connector 16"/>
          <p:cNvCxnSpPr/>
          <p:nvPr/>
        </p:nvCxnSpPr>
        <p:spPr>
          <a:xfrm>
            <a:off x="468000" y="6310800"/>
            <a:ext cx="8208000" cy="0"/>
          </a:xfrm>
          <a:prstGeom prst="line">
            <a:avLst/>
          </a:prstGeom>
          <a:ln w="19050" cmpd="thickThi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18508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37</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p:txBody>
          <a:bodyPr>
            <a:noAutofit/>
          </a:bodyPr>
          <a:lstStyle/>
          <a:p>
            <a:r>
              <a:rPr lang="en-GB" sz="2400" dirty="0" smtClean="0"/>
              <a:t>Recommendations for overcoming lack of trust</a:t>
            </a:r>
            <a:endParaRPr lang="en-GB" sz="2400" dirty="0"/>
          </a:p>
        </p:txBody>
      </p:sp>
      <p:sp>
        <p:nvSpPr>
          <p:cNvPr id="5" name="Text Placeholder 4"/>
          <p:cNvSpPr>
            <a:spLocks noGrp="1"/>
          </p:cNvSpPr>
          <p:nvPr>
            <p:ph type="body" sz="quarter" idx="11"/>
          </p:nvPr>
        </p:nvSpPr>
        <p:spPr>
          <a:xfrm>
            <a:off x="426273" y="1412776"/>
            <a:ext cx="8208143" cy="4113200"/>
          </a:xfrm>
        </p:spPr>
        <p:txBody>
          <a:bodyPr>
            <a:noAutofit/>
          </a:bodyPr>
          <a:lstStyle/>
          <a:p>
            <a:r>
              <a:rPr lang="en-GB" sz="2200" dirty="0" smtClean="0"/>
              <a:t>Government should meet with concerned communities in person (not only speak from the capital)</a:t>
            </a:r>
            <a:br>
              <a:rPr lang="en-GB" sz="2200" dirty="0" smtClean="0"/>
            </a:br>
            <a:endParaRPr lang="en-GB" sz="2200" dirty="0" smtClean="0"/>
          </a:p>
          <a:p>
            <a:r>
              <a:rPr lang="en-GB" sz="2200" dirty="0" smtClean="0"/>
              <a:t>Be aware of potential (</a:t>
            </a:r>
            <a:r>
              <a:rPr lang="en-GB" sz="2200" dirty="0" err="1" smtClean="0"/>
              <a:t>mis</a:t>
            </a:r>
            <a:r>
              <a:rPr lang="en-GB" sz="2200" dirty="0" smtClean="0"/>
              <a:t>)perceptions by communities of interests and intentions</a:t>
            </a:r>
            <a:br>
              <a:rPr lang="en-GB" sz="2200" dirty="0" smtClean="0"/>
            </a:br>
            <a:endParaRPr lang="en-GB" sz="2200" dirty="0" smtClean="0"/>
          </a:p>
          <a:p>
            <a:r>
              <a:rPr lang="en-GB" sz="2200" dirty="0" smtClean="0"/>
              <a:t>Help communities access information about the project</a:t>
            </a:r>
            <a:br>
              <a:rPr lang="en-GB" sz="2200" dirty="0" smtClean="0"/>
            </a:br>
            <a:endParaRPr lang="en-GB" sz="2200" dirty="0" smtClean="0"/>
          </a:p>
          <a:p>
            <a:r>
              <a:rPr lang="en-GB" sz="2200" dirty="0" smtClean="0"/>
              <a:t>Communicate negative impacts and mitigation measures</a:t>
            </a:r>
            <a:br>
              <a:rPr lang="en-GB" sz="2200" dirty="0" smtClean="0"/>
            </a:br>
            <a:endParaRPr lang="en-GB" sz="2200" dirty="0" smtClean="0"/>
          </a:p>
          <a:p>
            <a:r>
              <a:rPr lang="en-GB" sz="2200" dirty="0" smtClean="0"/>
              <a:t>Disclose information related to licensing and tendering processes</a:t>
            </a:r>
            <a:endParaRPr lang="en-GB" sz="2200" dirty="0"/>
          </a:p>
        </p:txBody>
      </p:sp>
      <p:grpSp>
        <p:nvGrpSpPr>
          <p:cNvPr id="11" name="Group 10"/>
          <p:cNvGrpSpPr/>
          <p:nvPr/>
        </p:nvGrpSpPr>
        <p:grpSpPr>
          <a:xfrm>
            <a:off x="7668000" y="5742000"/>
            <a:ext cx="966416" cy="551448"/>
            <a:chOff x="7308304" y="5655800"/>
            <a:chExt cx="966416" cy="551448"/>
          </a:xfrm>
        </p:grpSpPr>
        <p:sp>
          <p:nvSpPr>
            <p:cNvPr id="12" name="Action Button: Return 11">
              <a:hlinkClick r:id="rId2" action="ppaction://hlinksldjump" highlightClick="1"/>
            </p:cNvPr>
            <p:cNvSpPr/>
            <p:nvPr/>
          </p:nvSpPr>
          <p:spPr bwMode="auto">
            <a:xfrm>
              <a:off x="7524328" y="5655800"/>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3" name="Action Button: Home 12">
              <a:hlinkClick r:id="rId3" action="ppaction://hlinksldjump" highlightClick="1"/>
            </p:cNvPr>
            <p:cNvSpPr/>
            <p:nvPr/>
          </p:nvSpPr>
          <p:spPr bwMode="auto">
            <a:xfrm>
              <a:off x="7914680" y="5655800"/>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4" name="TextBox 13">
              <a:hlinkClick r:id="" action="ppaction://noaction"/>
            </p:cNvPr>
            <p:cNvSpPr txBox="1"/>
            <p:nvPr/>
          </p:nvSpPr>
          <p:spPr>
            <a:xfrm>
              <a:off x="7308304" y="5953332"/>
              <a:ext cx="792205" cy="253916"/>
            </a:xfrm>
            <a:prstGeom prst="actionButtonReturn">
              <a:avLst/>
            </a:prstGeom>
            <a:noFill/>
          </p:spPr>
          <p:txBody>
            <a:bodyPr wrap="none" rtlCol="0">
              <a:spAutoFit/>
            </a:bodyPr>
            <a:lstStyle/>
            <a:p>
              <a:pPr algn="ctr"/>
              <a:r>
                <a:rPr lang="en-US" sz="1050" i="1" dirty="0" smtClean="0"/>
                <a:t>Objective 4</a:t>
              </a:r>
              <a:endParaRPr lang="en-US" sz="1050" i="1" dirty="0"/>
            </a:p>
          </p:txBody>
        </p:sp>
      </p:grpSp>
    </p:spTree>
    <p:extLst>
      <p:ext uri="{BB962C8B-B14F-4D97-AF65-F5344CB8AC3E}">
        <p14:creationId xmlns:p14="http://schemas.microsoft.com/office/powerpoint/2010/main" val="415359139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
          <p:cNvSpPr/>
          <p:nvPr/>
        </p:nvSpPr>
        <p:spPr>
          <a:xfrm>
            <a:off x="683568" y="260648"/>
            <a:ext cx="8035925" cy="792146"/>
          </a:xfrm>
          <a:prstGeom prst="roundRect">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algn="ctr"/>
            <a:r>
              <a:rPr lang="en-US" dirty="0">
                <a:cs typeface="Arial"/>
              </a:rPr>
              <a:t>Challenge 3: </a:t>
            </a:r>
            <a:r>
              <a:rPr lang="en-GB" dirty="0">
                <a:cs typeface="Arial"/>
              </a:rPr>
              <a:t>Moderate public expectations after discoveries</a:t>
            </a:r>
            <a:endParaRPr lang="en-US" dirty="0">
              <a:cs typeface="Arial"/>
            </a:endParaRPr>
          </a:p>
        </p:txBody>
      </p:sp>
      <p:sp>
        <p:nvSpPr>
          <p:cNvPr id="3" name="Rectangle 2"/>
          <p:cNvSpPr/>
          <p:nvPr/>
        </p:nvSpPr>
        <p:spPr>
          <a:xfrm>
            <a:off x="683567" y="1412776"/>
            <a:ext cx="8035925" cy="1107996"/>
          </a:xfrm>
          <a:prstGeom prst="rect">
            <a:avLst/>
          </a:prstGeom>
        </p:spPr>
        <p:txBody>
          <a:bodyPr wrap="square">
            <a:spAutoFit/>
          </a:bodyPr>
          <a:lstStyle/>
          <a:p>
            <a:r>
              <a:rPr lang="en-US" sz="2200" dirty="0">
                <a:latin typeface="Georgia" pitchFamily="18" charset="0"/>
              </a:rPr>
              <a:t>Promising transformational impacts </a:t>
            </a:r>
            <a:r>
              <a:rPr lang="en-US" sz="2200" dirty="0" smtClean="0">
                <a:latin typeface="Georgia" pitchFamily="18" charset="0"/>
              </a:rPr>
              <a:t>that </a:t>
            </a:r>
            <a:r>
              <a:rPr lang="en-US" sz="2200" dirty="0">
                <a:latin typeface="Georgia" pitchFamily="18" charset="0"/>
              </a:rPr>
              <a:t>cannot </a:t>
            </a:r>
            <a:r>
              <a:rPr lang="en-US" sz="2200" dirty="0" smtClean="0">
                <a:latin typeface="Georgia" pitchFamily="18" charset="0"/>
              </a:rPr>
              <a:t>be </a:t>
            </a:r>
            <a:r>
              <a:rPr lang="en-US" sz="2200" dirty="0">
                <a:latin typeface="Georgia" pitchFamily="18" charset="0"/>
              </a:rPr>
              <a:t>delivered creates public mistrust of government policies for the sector, and of the industry more broadly. </a:t>
            </a:r>
            <a:endParaRPr lang="en-GB" sz="2200" dirty="0">
              <a:latin typeface="Georgia" pitchFamily="18" charset="0"/>
            </a:endParaRPr>
          </a:p>
        </p:txBody>
      </p:sp>
      <p:sp>
        <p:nvSpPr>
          <p:cNvPr id="4" name="TextBox 3"/>
          <p:cNvSpPr txBox="1"/>
          <p:nvPr/>
        </p:nvSpPr>
        <p:spPr>
          <a:xfrm>
            <a:off x="827584" y="3140968"/>
            <a:ext cx="7776864" cy="830997"/>
          </a:xfrm>
          <a:prstGeom prst="rect">
            <a:avLst/>
          </a:prstGeom>
          <a:noFill/>
        </p:spPr>
        <p:txBody>
          <a:bodyPr wrap="square" rtlCol="0">
            <a:spAutoFit/>
          </a:bodyPr>
          <a:lstStyle/>
          <a:p>
            <a:pPr>
              <a:lnSpc>
                <a:spcPct val="150000"/>
              </a:lnSpc>
            </a:pPr>
            <a:r>
              <a:rPr lang="en-US" sz="2000" i="1" dirty="0" smtClean="0">
                <a:latin typeface="Georgia" pitchFamily="18" charset="0"/>
              </a:rPr>
              <a:t>‘People wonder: Where is the impact? Where are the results?’ </a:t>
            </a:r>
            <a:endParaRPr lang="en-US" sz="2000" i="1" dirty="0">
              <a:latin typeface="Georgia" pitchFamily="18" charset="0"/>
            </a:endParaRPr>
          </a:p>
          <a:p>
            <a:pPr algn="r">
              <a:lnSpc>
                <a:spcPct val="150000"/>
              </a:lnSpc>
            </a:pPr>
            <a:r>
              <a:rPr lang="en-US" sz="1100" dirty="0" smtClean="0">
                <a:latin typeface="Georgia" pitchFamily="18" charset="0"/>
              </a:rPr>
              <a:t>- A participant at the 2012 Discussion Group</a:t>
            </a:r>
            <a:endParaRPr lang="en-US" sz="1100" dirty="0">
              <a:latin typeface="Georgia" pitchFamily="18" charset="0"/>
            </a:endParaRPr>
          </a:p>
        </p:txBody>
      </p:sp>
      <p:sp>
        <p:nvSpPr>
          <p:cNvPr id="5" name="Freeform 10">
            <a:hlinkClick r:id="rId2" action="ppaction://hlinksldjump"/>
          </p:cNvPr>
          <p:cNvSpPr/>
          <p:nvPr/>
        </p:nvSpPr>
        <p:spPr>
          <a:xfrm>
            <a:off x="470991" y="5013176"/>
            <a:ext cx="8229600" cy="540089"/>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algn="ctr" defTabSz="1555750">
              <a:lnSpc>
                <a:spcPct val="90000"/>
              </a:lnSpc>
              <a:spcAft>
                <a:spcPct val="35000"/>
              </a:spcAft>
            </a:pPr>
            <a:r>
              <a:rPr lang="en-US" sz="2000" dirty="0" smtClean="0"/>
              <a:t>Recommendations for </a:t>
            </a:r>
            <a:r>
              <a:rPr lang="en-GB" sz="2000" dirty="0" smtClean="0">
                <a:cs typeface="Arial Black"/>
              </a:rPr>
              <a:t>moderating </a:t>
            </a:r>
            <a:r>
              <a:rPr lang="en-GB" sz="2000" dirty="0">
                <a:cs typeface="Arial Black"/>
              </a:rPr>
              <a:t>public expectations after discoveries</a:t>
            </a:r>
            <a:endParaRPr lang="en-US" sz="2000" kern="1200" dirty="0"/>
          </a:p>
        </p:txBody>
      </p:sp>
      <p:grpSp>
        <p:nvGrpSpPr>
          <p:cNvPr id="12" name="Group 11"/>
          <p:cNvGrpSpPr/>
          <p:nvPr/>
        </p:nvGrpSpPr>
        <p:grpSpPr>
          <a:xfrm>
            <a:off x="7668000" y="5742000"/>
            <a:ext cx="966416" cy="551448"/>
            <a:chOff x="7308304" y="5655800"/>
            <a:chExt cx="966416" cy="551448"/>
          </a:xfrm>
        </p:grpSpPr>
        <p:sp>
          <p:nvSpPr>
            <p:cNvPr id="13" name="Action Button: Return 12">
              <a:hlinkClick r:id="rId3" action="ppaction://hlinksldjump" highlightClick="1"/>
            </p:cNvPr>
            <p:cNvSpPr/>
            <p:nvPr/>
          </p:nvSpPr>
          <p:spPr bwMode="auto">
            <a:xfrm>
              <a:off x="7524328" y="5655800"/>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4" name="Action Button: Home 13">
              <a:hlinkClick r:id="rId4" action="ppaction://hlinksldjump" highlightClick="1"/>
            </p:cNvPr>
            <p:cNvSpPr/>
            <p:nvPr/>
          </p:nvSpPr>
          <p:spPr bwMode="auto">
            <a:xfrm>
              <a:off x="7914680" y="5655800"/>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5" name="TextBox 14">
              <a:hlinkClick r:id="" action="ppaction://noaction"/>
            </p:cNvPr>
            <p:cNvSpPr txBox="1"/>
            <p:nvPr/>
          </p:nvSpPr>
          <p:spPr>
            <a:xfrm>
              <a:off x="7308304" y="5953332"/>
              <a:ext cx="792205" cy="253916"/>
            </a:xfrm>
            <a:prstGeom prst="actionButtonReturn">
              <a:avLst/>
            </a:prstGeom>
            <a:noFill/>
          </p:spPr>
          <p:txBody>
            <a:bodyPr wrap="none" rtlCol="0">
              <a:spAutoFit/>
            </a:bodyPr>
            <a:lstStyle/>
            <a:p>
              <a:pPr algn="ctr"/>
              <a:r>
                <a:rPr lang="en-US" sz="1050" i="1" dirty="0" smtClean="0"/>
                <a:t>Objective 4</a:t>
              </a:r>
              <a:endParaRPr lang="en-US" sz="1050" i="1" dirty="0"/>
            </a:p>
          </p:txBody>
        </p:sp>
      </p:grpSp>
      <p:sp>
        <p:nvSpPr>
          <p:cNvPr id="16" name="Slide Number Placeholder 2"/>
          <p:cNvSpPr>
            <a:spLocks noGrp="1"/>
          </p:cNvSpPr>
          <p:nvPr>
            <p:ph type="sldNum" sz="quarter" idx="4294967295"/>
          </p:nvPr>
        </p:nvSpPr>
        <p:spPr>
          <a:xfrm>
            <a:off x="6553200" y="6356350"/>
            <a:ext cx="2133600" cy="365125"/>
          </a:xfrm>
        </p:spPr>
        <p:txBody>
          <a:bodyPr/>
          <a:lstStyle/>
          <a:p>
            <a:fld id="{418A78CD-E27B-441A-A2B1-21C1D5FFEB65}" type="slidenum">
              <a:rPr lang="en-US" sz="1200" smtClean="0">
                <a:solidFill>
                  <a:prstClr val="black"/>
                </a:solidFill>
                <a:latin typeface="Georgia" pitchFamily="18" charset="0"/>
              </a:rPr>
              <a:pPr/>
              <a:t>38</a:t>
            </a:fld>
            <a:endParaRPr lang="en-US" sz="1200" dirty="0">
              <a:solidFill>
                <a:prstClr val="black"/>
              </a:solidFill>
              <a:latin typeface="Georgia" pitchFamily="18" charset="0"/>
            </a:endParaRPr>
          </a:p>
        </p:txBody>
      </p:sp>
      <p:sp>
        <p:nvSpPr>
          <p:cNvPr id="17"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cxnSp>
        <p:nvCxnSpPr>
          <p:cNvPr id="18" name="Straight Connector 17"/>
          <p:cNvCxnSpPr/>
          <p:nvPr/>
        </p:nvCxnSpPr>
        <p:spPr>
          <a:xfrm>
            <a:off x="468000" y="6310800"/>
            <a:ext cx="8208000" cy="0"/>
          </a:xfrm>
          <a:prstGeom prst="line">
            <a:avLst/>
          </a:prstGeom>
          <a:ln w="19050" cmpd="thickThi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622927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39</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a:xfrm>
            <a:off x="468313" y="116632"/>
            <a:ext cx="8208143" cy="432048"/>
          </a:xfrm>
        </p:spPr>
        <p:txBody>
          <a:bodyPr>
            <a:noAutofit/>
          </a:bodyPr>
          <a:lstStyle/>
          <a:p>
            <a:r>
              <a:rPr lang="en-GB" sz="2400" dirty="0" smtClean="0"/>
              <a:t>Recommendations for moderating public expectations after discoveries</a:t>
            </a:r>
            <a:endParaRPr lang="en-GB" sz="2400" dirty="0"/>
          </a:p>
        </p:txBody>
      </p:sp>
      <p:sp>
        <p:nvSpPr>
          <p:cNvPr id="5" name="Text Placeholder 4"/>
          <p:cNvSpPr>
            <a:spLocks noGrp="1"/>
          </p:cNvSpPr>
          <p:nvPr>
            <p:ph type="body" sz="quarter" idx="11"/>
          </p:nvPr>
        </p:nvSpPr>
        <p:spPr>
          <a:xfrm>
            <a:off x="426273" y="1124744"/>
            <a:ext cx="8208143" cy="4536504"/>
          </a:xfrm>
        </p:spPr>
        <p:txBody>
          <a:bodyPr>
            <a:noAutofit/>
          </a:bodyPr>
          <a:lstStyle/>
          <a:p>
            <a:pPr algn="just"/>
            <a:r>
              <a:rPr lang="en-US" sz="1800" dirty="0" smtClean="0"/>
              <a:t>Governments and industry should manage </a:t>
            </a:r>
            <a:r>
              <a:rPr lang="en-US" sz="1800" dirty="0"/>
              <a:t>expectations before </a:t>
            </a:r>
            <a:r>
              <a:rPr lang="en-US" sz="1800" dirty="0" smtClean="0"/>
              <a:t>and after discoveries </a:t>
            </a:r>
            <a:r>
              <a:rPr lang="en-US" sz="1800" dirty="0"/>
              <a:t> </a:t>
            </a:r>
            <a:r>
              <a:rPr lang="en-US" sz="1800" dirty="0" smtClean="0"/>
              <a:t>by providing realistic information concerning: </a:t>
            </a:r>
          </a:p>
          <a:p>
            <a:pPr algn="just"/>
            <a:endParaRPr lang="en-US" sz="1600" dirty="0" smtClean="0"/>
          </a:p>
          <a:p>
            <a:pPr lvl="1" algn="just"/>
            <a:r>
              <a:rPr lang="en-US" sz="1800" dirty="0" smtClean="0"/>
              <a:t>The scale and speed of </a:t>
            </a:r>
            <a:r>
              <a:rPr lang="en-US" sz="1800" dirty="0" err="1" smtClean="0"/>
              <a:t>monetising</a:t>
            </a:r>
            <a:r>
              <a:rPr lang="en-US" sz="1800" dirty="0" smtClean="0"/>
              <a:t> new discoveries</a:t>
            </a:r>
          </a:p>
          <a:p>
            <a:pPr lvl="1" algn="just"/>
            <a:r>
              <a:rPr lang="en-US" sz="1800" dirty="0" smtClean="0"/>
              <a:t>The potential job creation </a:t>
            </a:r>
          </a:p>
          <a:p>
            <a:pPr lvl="1" algn="just"/>
            <a:r>
              <a:rPr lang="en-US" sz="1800" dirty="0" smtClean="0"/>
              <a:t>Both drywells and successes </a:t>
            </a:r>
          </a:p>
          <a:p>
            <a:pPr lvl="1" algn="just"/>
            <a:r>
              <a:rPr lang="en-US" sz="1800" dirty="0" smtClean="0"/>
              <a:t>Explaining the difference </a:t>
            </a:r>
            <a:r>
              <a:rPr lang="en-US" sz="1800" dirty="0"/>
              <a:t>between a discovery/ commercially proven </a:t>
            </a:r>
            <a:r>
              <a:rPr lang="en-US" sz="1800" dirty="0" smtClean="0"/>
              <a:t>discovery</a:t>
            </a:r>
          </a:p>
          <a:p>
            <a:pPr lvl="1" algn="just"/>
            <a:r>
              <a:rPr lang="en-US" sz="1800" dirty="0" smtClean="0"/>
              <a:t>General petroleum project cycles</a:t>
            </a:r>
            <a:endParaRPr lang="en-US" sz="1800" dirty="0"/>
          </a:p>
          <a:p>
            <a:pPr lvl="1" algn="just"/>
            <a:r>
              <a:rPr lang="en-US" sz="1800" dirty="0" smtClean="0"/>
              <a:t>Up-to-date </a:t>
            </a:r>
            <a:r>
              <a:rPr lang="en-US" sz="1800" dirty="0"/>
              <a:t>information and assumptions about project development and potential revenue </a:t>
            </a:r>
            <a:r>
              <a:rPr lang="en-US" sz="1800" dirty="0" smtClean="0"/>
              <a:t>generation</a:t>
            </a:r>
            <a:endParaRPr lang="en-US" sz="1800" dirty="0"/>
          </a:p>
          <a:p>
            <a:pPr lvl="1" algn="just"/>
            <a:r>
              <a:rPr lang="en-US" sz="1800" dirty="0"/>
              <a:t>Changes to IOC and NOC plans and government </a:t>
            </a:r>
            <a:r>
              <a:rPr lang="en-US" sz="1800" dirty="0" smtClean="0"/>
              <a:t>expenditure</a:t>
            </a:r>
          </a:p>
          <a:p>
            <a:pPr lvl="1" algn="just"/>
            <a:endParaRPr lang="en-US" sz="1400" dirty="0" smtClean="0"/>
          </a:p>
          <a:p>
            <a:pPr lvl="1" algn="just"/>
            <a:endParaRPr lang="en-US" sz="1200" dirty="0"/>
          </a:p>
          <a:p>
            <a:pPr algn="just"/>
            <a:r>
              <a:rPr lang="en-US" sz="1800" dirty="0" smtClean="0"/>
              <a:t>Governments </a:t>
            </a:r>
            <a:r>
              <a:rPr lang="en-US" sz="1800" dirty="0"/>
              <a:t>and politicians should ground </a:t>
            </a:r>
            <a:r>
              <a:rPr lang="en-US" sz="1800" dirty="0" smtClean="0"/>
              <a:t>the communication </a:t>
            </a:r>
            <a:r>
              <a:rPr lang="en-US" sz="1800" dirty="0"/>
              <a:t>about discoveries in the strategic national vision </a:t>
            </a:r>
          </a:p>
          <a:p>
            <a:pPr algn="just"/>
            <a:r>
              <a:rPr lang="en-US" sz="1800" dirty="0" smtClean="0"/>
              <a:t>Government NOC websites should be used to provide this information</a:t>
            </a:r>
            <a:endParaRPr lang="en-US" sz="1800" dirty="0"/>
          </a:p>
        </p:txBody>
      </p:sp>
      <p:grpSp>
        <p:nvGrpSpPr>
          <p:cNvPr id="11" name="Group 10"/>
          <p:cNvGrpSpPr/>
          <p:nvPr/>
        </p:nvGrpSpPr>
        <p:grpSpPr>
          <a:xfrm>
            <a:off x="7668000" y="5742000"/>
            <a:ext cx="966416" cy="551448"/>
            <a:chOff x="7308304" y="5655800"/>
            <a:chExt cx="966416" cy="551448"/>
          </a:xfrm>
        </p:grpSpPr>
        <p:sp>
          <p:nvSpPr>
            <p:cNvPr id="12" name="Action Button: Return 11">
              <a:hlinkClick r:id="rId2" action="ppaction://hlinksldjump" highlightClick="1"/>
            </p:cNvPr>
            <p:cNvSpPr/>
            <p:nvPr/>
          </p:nvSpPr>
          <p:spPr bwMode="auto">
            <a:xfrm>
              <a:off x="7524328" y="5655800"/>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3" name="Action Button: Home 12">
              <a:hlinkClick r:id="rId3" action="ppaction://hlinksldjump" highlightClick="1"/>
            </p:cNvPr>
            <p:cNvSpPr/>
            <p:nvPr/>
          </p:nvSpPr>
          <p:spPr bwMode="auto">
            <a:xfrm>
              <a:off x="7914680" y="5655800"/>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4" name="TextBox 13">
              <a:hlinkClick r:id="" action="ppaction://noaction"/>
            </p:cNvPr>
            <p:cNvSpPr txBox="1"/>
            <p:nvPr/>
          </p:nvSpPr>
          <p:spPr>
            <a:xfrm>
              <a:off x="7308304" y="5953332"/>
              <a:ext cx="792205" cy="253916"/>
            </a:xfrm>
            <a:prstGeom prst="actionButtonReturn">
              <a:avLst/>
            </a:prstGeom>
            <a:noFill/>
          </p:spPr>
          <p:txBody>
            <a:bodyPr wrap="none" rtlCol="0">
              <a:spAutoFit/>
            </a:bodyPr>
            <a:lstStyle/>
            <a:p>
              <a:pPr algn="ctr"/>
              <a:r>
                <a:rPr lang="en-US" sz="1050" i="1" dirty="0" smtClean="0"/>
                <a:t>Objective 4</a:t>
              </a:r>
              <a:endParaRPr lang="en-US" sz="1050" i="1" dirty="0"/>
            </a:p>
          </p:txBody>
        </p:sp>
      </p:grpSp>
    </p:spTree>
    <p:extLst>
      <p:ext uri="{BB962C8B-B14F-4D97-AF65-F5344CB8AC3E}">
        <p14:creationId xmlns:p14="http://schemas.microsoft.com/office/powerpoint/2010/main" val="21317421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4294967295"/>
          </p:nvPr>
        </p:nvSpPr>
        <p:spPr>
          <a:xfrm>
            <a:off x="523967" y="1916832"/>
            <a:ext cx="8207375" cy="2376264"/>
          </a:xfrm>
        </p:spPr>
        <p:txBody>
          <a:bodyPr>
            <a:normAutofit lnSpcReduction="10000"/>
          </a:bodyPr>
          <a:lstStyle/>
          <a:p>
            <a:r>
              <a:rPr lang="en-GB" sz="2000" dirty="0"/>
              <a:t>At stake are issues of fairness, a sense of ownership, and compensation for local negative impacts from the development of the </a:t>
            </a:r>
            <a:r>
              <a:rPr lang="en-GB" sz="2000" dirty="0" smtClean="0"/>
              <a:t>resource</a:t>
            </a:r>
          </a:p>
          <a:p>
            <a:r>
              <a:rPr lang="en-GB" sz="2000" dirty="0"/>
              <a:t>But </a:t>
            </a:r>
            <a:r>
              <a:rPr lang="en-GB" sz="2000" dirty="0" smtClean="0"/>
              <a:t>instituting</a:t>
            </a:r>
            <a:r>
              <a:rPr lang="en-GB" sz="2000" u="sng" dirty="0"/>
              <a:t> </a:t>
            </a:r>
            <a:r>
              <a:rPr lang="en-GB" sz="2000" dirty="0" smtClean="0"/>
              <a:t>a revenue</a:t>
            </a:r>
            <a:r>
              <a:rPr lang="en-GB" sz="2000" dirty="0"/>
              <a:t>-sharing system is no guarantee of effective or accountable management of natural resources. </a:t>
            </a:r>
            <a:r>
              <a:rPr lang="en-GB" sz="2000" dirty="0" smtClean="0"/>
              <a:t>It can become </a:t>
            </a:r>
            <a:r>
              <a:rPr lang="en-GB" sz="2000" dirty="0"/>
              <a:t>a flash point for additional conflict. </a:t>
            </a:r>
            <a:r>
              <a:rPr lang="en-GB" sz="2000" dirty="0" smtClean="0"/>
              <a:t>In some places it has </a:t>
            </a:r>
            <a:r>
              <a:rPr lang="en-GB" sz="2000" dirty="0"/>
              <a:t>made public financial management </a:t>
            </a:r>
            <a:r>
              <a:rPr lang="en-GB" sz="2000" i="1" dirty="0" smtClean="0"/>
              <a:t>worse</a:t>
            </a:r>
            <a:r>
              <a:rPr lang="en-GB" sz="2000" dirty="0" smtClean="0"/>
              <a:t>, via </a:t>
            </a:r>
            <a:r>
              <a:rPr lang="en-GB" sz="2000" dirty="0"/>
              <a:t>white elephant </a:t>
            </a:r>
            <a:r>
              <a:rPr lang="en-GB" sz="2000" dirty="0" smtClean="0"/>
              <a:t>projects, </a:t>
            </a:r>
            <a:r>
              <a:rPr lang="en-GB" sz="2000" dirty="0"/>
              <a:t>localized corruption, or local wage inflation and disruption of other </a:t>
            </a:r>
            <a:r>
              <a:rPr lang="en-GB" sz="2000" dirty="0" smtClean="0"/>
              <a:t>sectors</a:t>
            </a:r>
            <a:endParaRPr lang="en-GB" sz="2000" dirty="0"/>
          </a:p>
          <a:p>
            <a:endParaRPr lang="en-US" dirty="0"/>
          </a:p>
        </p:txBody>
      </p:sp>
      <p:sp>
        <p:nvSpPr>
          <p:cNvPr id="6" name="Freeform 9"/>
          <p:cNvSpPr/>
          <p:nvPr/>
        </p:nvSpPr>
        <p:spPr>
          <a:xfrm>
            <a:off x="568523" y="332656"/>
            <a:ext cx="8035925" cy="792146"/>
          </a:xfrm>
          <a:prstGeom prst="roundRect">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algn="ctr"/>
            <a:r>
              <a:rPr lang="en-US" dirty="0">
                <a:cs typeface="Arial"/>
              </a:rPr>
              <a:t>Challenge 3: </a:t>
            </a:r>
            <a:r>
              <a:rPr lang="en-GB" dirty="0" smtClean="0">
                <a:cs typeface="Arial"/>
              </a:rPr>
              <a:t>Fair distribution of wealth among producing and non-producing regions</a:t>
            </a:r>
            <a:endParaRPr lang="en-US" dirty="0">
              <a:cs typeface="Arial"/>
            </a:endParaRPr>
          </a:p>
        </p:txBody>
      </p:sp>
      <p:sp>
        <p:nvSpPr>
          <p:cNvPr id="7" name="Freeform 10">
            <a:hlinkClick r:id="rId2" action="ppaction://hlinksldjump"/>
          </p:cNvPr>
          <p:cNvSpPr/>
          <p:nvPr/>
        </p:nvSpPr>
        <p:spPr>
          <a:xfrm>
            <a:off x="470991" y="5103171"/>
            <a:ext cx="8229600" cy="540089"/>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algn="ctr" defTabSz="1555750">
              <a:lnSpc>
                <a:spcPct val="90000"/>
              </a:lnSpc>
              <a:spcAft>
                <a:spcPct val="35000"/>
              </a:spcAft>
            </a:pPr>
            <a:r>
              <a:rPr lang="fr-CA" sz="2000" dirty="0" err="1" smtClean="0"/>
              <a:t>Recommendations</a:t>
            </a:r>
            <a:r>
              <a:rPr lang="fr-CA" sz="2000" dirty="0" smtClean="0"/>
              <a:t> for a </a:t>
            </a:r>
            <a:r>
              <a:rPr lang="fr-CA" sz="2000" dirty="0" err="1" smtClean="0"/>
              <a:t>fair</a:t>
            </a:r>
            <a:r>
              <a:rPr lang="fr-CA" sz="2000" dirty="0" smtClean="0"/>
              <a:t> distribution of </a:t>
            </a:r>
            <a:r>
              <a:rPr lang="fr-CA" sz="2000" dirty="0" err="1" smtClean="0"/>
              <a:t>wealth</a:t>
            </a:r>
            <a:endParaRPr lang="en-US" sz="2000" kern="1200" dirty="0"/>
          </a:p>
        </p:txBody>
      </p:sp>
      <p:sp>
        <p:nvSpPr>
          <p:cNvPr id="10" name="TextBox 9"/>
          <p:cNvSpPr txBox="1"/>
          <p:nvPr/>
        </p:nvSpPr>
        <p:spPr>
          <a:xfrm>
            <a:off x="500796" y="894425"/>
            <a:ext cx="184666" cy="369332"/>
          </a:xfrm>
          <a:prstGeom prst="rect">
            <a:avLst/>
          </a:prstGeom>
          <a:noFill/>
        </p:spPr>
        <p:txBody>
          <a:bodyPr wrap="none" rtlCol="0">
            <a:spAutoFit/>
          </a:bodyPr>
          <a:lstStyle/>
          <a:p>
            <a:endParaRPr lang="en-US" dirty="0"/>
          </a:p>
        </p:txBody>
      </p:sp>
      <p:grpSp>
        <p:nvGrpSpPr>
          <p:cNvPr id="12" name="Group 11"/>
          <p:cNvGrpSpPr/>
          <p:nvPr/>
        </p:nvGrpSpPr>
        <p:grpSpPr>
          <a:xfrm>
            <a:off x="7668000" y="5742000"/>
            <a:ext cx="966416" cy="551448"/>
            <a:chOff x="7308304" y="5655800"/>
            <a:chExt cx="966416" cy="551448"/>
          </a:xfrm>
        </p:grpSpPr>
        <p:sp>
          <p:nvSpPr>
            <p:cNvPr id="13" name="Action Button: Return 12">
              <a:hlinkClick r:id="rId3" action="ppaction://hlinksldjump" highlightClick="1"/>
            </p:cNvPr>
            <p:cNvSpPr/>
            <p:nvPr/>
          </p:nvSpPr>
          <p:spPr bwMode="auto">
            <a:xfrm>
              <a:off x="7524328" y="5655800"/>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4" name="Action Button: Home 13">
              <a:hlinkClick r:id="rId4" action="ppaction://hlinksldjump" highlightClick="1"/>
            </p:cNvPr>
            <p:cNvSpPr/>
            <p:nvPr/>
          </p:nvSpPr>
          <p:spPr bwMode="auto">
            <a:xfrm>
              <a:off x="7914680" y="5655800"/>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5" name="TextBox 14">
              <a:hlinkClick r:id="" action="ppaction://noaction"/>
            </p:cNvPr>
            <p:cNvSpPr txBox="1"/>
            <p:nvPr/>
          </p:nvSpPr>
          <p:spPr>
            <a:xfrm>
              <a:off x="7308304" y="5953332"/>
              <a:ext cx="792205" cy="253916"/>
            </a:xfrm>
            <a:prstGeom prst="actionButtonReturn">
              <a:avLst/>
            </a:prstGeom>
            <a:noFill/>
          </p:spPr>
          <p:txBody>
            <a:bodyPr wrap="none" rtlCol="0">
              <a:spAutoFit/>
            </a:bodyPr>
            <a:lstStyle/>
            <a:p>
              <a:pPr algn="ctr"/>
              <a:r>
                <a:rPr lang="en-US" sz="1050" i="1" dirty="0" smtClean="0"/>
                <a:t>Objective 4</a:t>
              </a:r>
              <a:endParaRPr lang="en-US" sz="1050" i="1" dirty="0"/>
            </a:p>
          </p:txBody>
        </p:sp>
      </p:grpSp>
      <p:cxnSp>
        <p:nvCxnSpPr>
          <p:cNvPr id="16" name="Straight Connector 15"/>
          <p:cNvCxnSpPr/>
          <p:nvPr/>
        </p:nvCxnSpPr>
        <p:spPr>
          <a:xfrm>
            <a:off x="468000" y="6310800"/>
            <a:ext cx="8208000" cy="0"/>
          </a:xfrm>
          <a:prstGeom prst="line">
            <a:avLst/>
          </a:prstGeom>
          <a:ln w="19050" cmpd="thickThi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Footer Placeholder 1"/>
          <p:cNvSpPr>
            <a:spLocks noGrp="1"/>
          </p:cNvSpPr>
          <p:nvPr>
            <p:ph type="ftr" sz="quarter" idx="4294967295"/>
          </p:nvPr>
        </p:nvSpPr>
        <p:spPr>
          <a:xfrm>
            <a:off x="467544" y="6356350"/>
            <a:ext cx="5552256" cy="365125"/>
          </a:xfrm>
        </p:spPr>
        <p:txBody>
          <a:bodyPr/>
          <a:lstStyle/>
          <a:p>
            <a:pPr algn="l"/>
            <a:r>
              <a:rPr lang="en-US"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18" name="Slide Number Placeholder 2"/>
          <p:cNvSpPr>
            <a:spLocks noGrp="1"/>
          </p:cNvSpPr>
          <p:nvPr>
            <p:ph type="sldNum" sz="quarter" idx="4294967295"/>
          </p:nvPr>
        </p:nvSpPr>
        <p:spPr>
          <a:xfrm>
            <a:off x="6553200" y="6356350"/>
            <a:ext cx="2133600" cy="365125"/>
          </a:xfrm>
        </p:spPr>
        <p:txBody>
          <a:bodyPr/>
          <a:lstStyle/>
          <a:p>
            <a:fld id="{418A78CD-E27B-441A-A2B1-21C1D5FFEB65}" type="slidenum">
              <a:rPr lang="en-US" sz="1200" smtClean="0">
                <a:solidFill>
                  <a:prstClr val="black"/>
                </a:solidFill>
                <a:latin typeface="Georgia" pitchFamily="18" charset="0"/>
              </a:rPr>
              <a:pPr/>
              <a:t>40</a:t>
            </a:fld>
            <a:endParaRPr lang="en-US" sz="1200" dirty="0">
              <a:solidFill>
                <a:prstClr val="black"/>
              </a:solidFill>
              <a:latin typeface="Georgia" pitchFamily="18" charset="0"/>
            </a:endParaRPr>
          </a:p>
        </p:txBody>
      </p:sp>
    </p:spTree>
    <p:extLst>
      <p:ext uri="{BB962C8B-B14F-4D97-AF65-F5344CB8AC3E}">
        <p14:creationId xmlns:p14="http://schemas.microsoft.com/office/powerpoint/2010/main" val="291556017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41</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a:xfrm>
            <a:off x="468313" y="188640"/>
            <a:ext cx="8208143" cy="648072"/>
          </a:xfrm>
        </p:spPr>
        <p:txBody>
          <a:bodyPr>
            <a:normAutofit fontScale="70000" lnSpcReduction="20000"/>
          </a:bodyPr>
          <a:lstStyle/>
          <a:p>
            <a:r>
              <a:rPr lang="en-GB" dirty="0" smtClean="0"/>
              <a:t>Recommendations for fair redistribution of wealth to producing and non-producing regions</a:t>
            </a:r>
            <a:endParaRPr lang="en-GB" dirty="0"/>
          </a:p>
        </p:txBody>
      </p:sp>
      <p:sp>
        <p:nvSpPr>
          <p:cNvPr id="5" name="Text Placeholder 4"/>
          <p:cNvSpPr>
            <a:spLocks noGrp="1"/>
          </p:cNvSpPr>
          <p:nvPr>
            <p:ph type="body" sz="quarter" idx="11"/>
          </p:nvPr>
        </p:nvSpPr>
        <p:spPr>
          <a:xfrm>
            <a:off x="429646" y="1628800"/>
            <a:ext cx="8208143" cy="3600400"/>
          </a:xfrm>
        </p:spPr>
        <p:txBody>
          <a:bodyPr>
            <a:noAutofit/>
          </a:bodyPr>
          <a:lstStyle/>
          <a:p>
            <a:r>
              <a:rPr lang="en-GB" sz="2400" dirty="0" smtClean="0"/>
              <a:t>Governments should manage expectations – especially of communities near the projects, including on revenue-sharing systems, benefits and risks</a:t>
            </a:r>
          </a:p>
          <a:p>
            <a:r>
              <a:rPr lang="en-GB" sz="2400" dirty="0" smtClean="0"/>
              <a:t>Be clear about the goals the decentralisation system is meant to address (and how to prioritize these goals)</a:t>
            </a:r>
          </a:p>
          <a:p>
            <a:r>
              <a:rPr lang="en-GB" sz="2400" dirty="0" smtClean="0"/>
              <a:t>Assess the capacity for expenditure of levels of government before allocating revenues to them</a:t>
            </a:r>
          </a:p>
          <a:p>
            <a:r>
              <a:rPr lang="en-GB" sz="2400" dirty="0" smtClean="0"/>
              <a:t>Ensure accountability mechanisms are in place at all levels of governments</a:t>
            </a:r>
            <a:endParaRPr lang="en-GB" sz="2400" dirty="0"/>
          </a:p>
        </p:txBody>
      </p:sp>
      <p:grpSp>
        <p:nvGrpSpPr>
          <p:cNvPr id="10" name="Group 9"/>
          <p:cNvGrpSpPr/>
          <p:nvPr/>
        </p:nvGrpSpPr>
        <p:grpSpPr>
          <a:xfrm>
            <a:off x="7668000" y="5742000"/>
            <a:ext cx="966416" cy="551448"/>
            <a:chOff x="7308304" y="5655800"/>
            <a:chExt cx="966416" cy="551448"/>
          </a:xfrm>
        </p:grpSpPr>
        <p:sp>
          <p:nvSpPr>
            <p:cNvPr id="11" name="Action Button: Return 10">
              <a:hlinkClick r:id="rId2" action="ppaction://hlinksldjump" highlightClick="1"/>
            </p:cNvPr>
            <p:cNvSpPr/>
            <p:nvPr/>
          </p:nvSpPr>
          <p:spPr bwMode="auto">
            <a:xfrm>
              <a:off x="7524328" y="5655800"/>
              <a:ext cx="360040" cy="297532"/>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2" name="Action Button: Home 11">
              <a:hlinkClick r:id="rId3" action="ppaction://hlinksldjump" highlightClick="1"/>
            </p:cNvPr>
            <p:cNvSpPr/>
            <p:nvPr/>
          </p:nvSpPr>
          <p:spPr bwMode="auto">
            <a:xfrm>
              <a:off x="7914680" y="5655800"/>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3" name="TextBox 12">
              <a:hlinkClick r:id="" action="ppaction://noaction"/>
            </p:cNvPr>
            <p:cNvSpPr txBox="1"/>
            <p:nvPr/>
          </p:nvSpPr>
          <p:spPr>
            <a:xfrm>
              <a:off x="7308304" y="5953332"/>
              <a:ext cx="792205" cy="253916"/>
            </a:xfrm>
            <a:prstGeom prst="actionButtonReturn">
              <a:avLst/>
            </a:prstGeom>
            <a:noFill/>
          </p:spPr>
          <p:txBody>
            <a:bodyPr wrap="none" rtlCol="0">
              <a:spAutoFit/>
            </a:bodyPr>
            <a:lstStyle/>
            <a:p>
              <a:pPr algn="ctr"/>
              <a:r>
                <a:rPr lang="en-US" sz="1050" i="1" dirty="0" smtClean="0"/>
                <a:t>Objective 4</a:t>
              </a:r>
              <a:endParaRPr lang="en-US" sz="1050" i="1" dirty="0"/>
            </a:p>
          </p:txBody>
        </p:sp>
      </p:grpSp>
    </p:spTree>
    <p:extLst>
      <p:ext uri="{BB962C8B-B14F-4D97-AF65-F5344CB8AC3E}">
        <p14:creationId xmlns:p14="http://schemas.microsoft.com/office/powerpoint/2010/main" val="3547990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4"/>
          <p:cNvGraphicFramePr>
            <a:graphicFrameLocks/>
          </p:cNvGraphicFramePr>
          <p:nvPr>
            <p:extLst>
              <p:ext uri="{D42A27DB-BD31-4B8C-83A1-F6EECF244321}">
                <p14:modId xmlns:p14="http://schemas.microsoft.com/office/powerpoint/2010/main" val="1227513282"/>
              </p:ext>
            </p:extLst>
          </p:nvPr>
        </p:nvGraphicFramePr>
        <p:xfrm>
          <a:off x="457200" y="116632"/>
          <a:ext cx="8035925" cy="5760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Freeform 10">
            <a:hlinkClick r:id="rId7" action="ppaction://hlinksldjump"/>
          </p:cNvPr>
          <p:cNvSpPr/>
          <p:nvPr/>
        </p:nvSpPr>
        <p:spPr>
          <a:xfrm>
            <a:off x="457200" y="3248951"/>
            <a:ext cx="8147248" cy="684105"/>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defTabSz="1555750">
              <a:lnSpc>
                <a:spcPct val="90000"/>
              </a:lnSpc>
              <a:spcAft>
                <a:spcPct val="35000"/>
              </a:spcAft>
            </a:pPr>
            <a:r>
              <a:rPr lang="en-US" sz="2000" dirty="0"/>
              <a:t>Recommendations </a:t>
            </a:r>
            <a:r>
              <a:rPr lang="en-US" sz="2000" dirty="0" smtClean="0"/>
              <a:t>for designing high impact local content policies</a:t>
            </a:r>
            <a:endParaRPr lang="en-US" sz="2000" kern="1200" dirty="0"/>
          </a:p>
        </p:txBody>
      </p:sp>
      <p:sp>
        <p:nvSpPr>
          <p:cNvPr id="4" name="Freeform 10">
            <a:hlinkClick r:id="rId8" action="ppaction://hlinksldjump"/>
          </p:cNvPr>
          <p:cNvSpPr/>
          <p:nvPr/>
        </p:nvSpPr>
        <p:spPr>
          <a:xfrm>
            <a:off x="467544" y="4077072"/>
            <a:ext cx="8147248" cy="684105"/>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r>
              <a:rPr lang="en-US" sz="2000" dirty="0" smtClean="0"/>
              <a:t>Recommendations for setting realistic local content targets </a:t>
            </a:r>
            <a:endParaRPr lang="en-GB" sz="2000" dirty="0">
              <a:cs typeface="Arial"/>
            </a:endParaRPr>
          </a:p>
        </p:txBody>
      </p:sp>
      <p:sp>
        <p:nvSpPr>
          <p:cNvPr id="5" name="Freeform 10">
            <a:hlinkClick r:id="rId9" action="ppaction://hlinksldjump"/>
          </p:cNvPr>
          <p:cNvSpPr/>
          <p:nvPr/>
        </p:nvSpPr>
        <p:spPr>
          <a:xfrm>
            <a:off x="467544" y="4905135"/>
            <a:ext cx="8147248" cy="684105"/>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r>
              <a:rPr lang="en-US" sz="2000" dirty="0"/>
              <a:t>Recommendations </a:t>
            </a:r>
            <a:r>
              <a:rPr lang="en-US" sz="2000" dirty="0" smtClean="0"/>
              <a:t>for </a:t>
            </a:r>
            <a:r>
              <a:rPr lang="en-GB" sz="2000" dirty="0" smtClean="0"/>
              <a:t>g</a:t>
            </a:r>
            <a:r>
              <a:rPr lang="en-GB" sz="2000" dirty="0" smtClean="0">
                <a:cs typeface="Arial Black"/>
              </a:rPr>
              <a:t>etting </a:t>
            </a:r>
            <a:r>
              <a:rPr lang="en-GB" sz="2000" dirty="0">
                <a:cs typeface="Arial Black"/>
              </a:rPr>
              <a:t>foreign oil companies to invest in local content and national </a:t>
            </a:r>
            <a:r>
              <a:rPr lang="en-GB" sz="2000" dirty="0" smtClean="0">
                <a:cs typeface="Arial Black"/>
              </a:rPr>
              <a:t>development when resources are uncertain</a:t>
            </a:r>
            <a:endParaRPr lang="en-US" sz="2000" dirty="0">
              <a:cs typeface="Arial"/>
            </a:endParaRPr>
          </a:p>
        </p:txBody>
      </p:sp>
      <p:sp>
        <p:nvSpPr>
          <p:cNvPr id="10" name="Action Button: Home 9">
            <a:hlinkClick r:id="rId10" action="ppaction://hlinksldjump" highlightClick="1"/>
          </p:cNvPr>
          <p:cNvSpPr/>
          <p:nvPr/>
        </p:nvSpPr>
        <p:spPr bwMode="auto">
          <a:xfrm>
            <a:off x="8317754" y="5937346"/>
            <a:ext cx="360040" cy="288032"/>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1" name="Slide Number Placeholder 2"/>
          <p:cNvSpPr>
            <a:spLocks noGrp="1"/>
          </p:cNvSpPr>
          <p:nvPr>
            <p:ph type="sldNum" sz="quarter" idx="4294967295"/>
          </p:nvPr>
        </p:nvSpPr>
        <p:spPr>
          <a:xfrm>
            <a:off x="6553200" y="6356350"/>
            <a:ext cx="2133600" cy="365125"/>
          </a:xfrm>
        </p:spPr>
        <p:txBody>
          <a:bodyPr/>
          <a:lstStyle/>
          <a:p>
            <a:fld id="{418A78CD-E27B-441A-A2B1-21C1D5FFEB65}" type="slidenum">
              <a:rPr lang="en-US" sz="1200" smtClean="0">
                <a:solidFill>
                  <a:prstClr val="black"/>
                </a:solidFill>
                <a:latin typeface="Georgia" pitchFamily="18" charset="0"/>
              </a:rPr>
              <a:pPr/>
              <a:t>42</a:t>
            </a:fld>
            <a:endParaRPr lang="en-US" sz="1200" dirty="0">
              <a:solidFill>
                <a:prstClr val="black"/>
              </a:solidFill>
              <a:latin typeface="Georgia" pitchFamily="18" charset="0"/>
            </a:endParaRPr>
          </a:p>
        </p:txBody>
      </p:sp>
      <p:sp>
        <p:nvSpPr>
          <p:cNvPr id="1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cxnSp>
        <p:nvCxnSpPr>
          <p:cNvPr id="13" name="Straight Connector 12"/>
          <p:cNvCxnSpPr/>
          <p:nvPr/>
        </p:nvCxnSpPr>
        <p:spPr>
          <a:xfrm>
            <a:off x="468000" y="6310800"/>
            <a:ext cx="8208000" cy="0"/>
          </a:xfrm>
          <a:prstGeom prst="line">
            <a:avLst/>
          </a:prstGeom>
          <a:ln w="19050" cmpd="thickThi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496055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
          <p:cNvSpPr/>
          <p:nvPr/>
        </p:nvSpPr>
        <p:spPr>
          <a:xfrm>
            <a:off x="496515" y="260648"/>
            <a:ext cx="8035925" cy="792146"/>
          </a:xfrm>
          <a:prstGeom prst="roundRect">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a:endParaRPr lang="en-US" dirty="0" smtClean="0">
              <a:cs typeface="Arial"/>
            </a:endParaRPr>
          </a:p>
          <a:p>
            <a:pPr lvl="0" algn="ctr"/>
            <a:r>
              <a:rPr lang="en-US" dirty="0" smtClean="0">
                <a:cs typeface="Arial"/>
              </a:rPr>
              <a:t>Challenge </a:t>
            </a:r>
            <a:r>
              <a:rPr lang="en-US" dirty="0">
                <a:cs typeface="Arial"/>
              </a:rPr>
              <a:t>1: </a:t>
            </a:r>
            <a:r>
              <a:rPr lang="en-US" dirty="0"/>
              <a:t>D</a:t>
            </a:r>
            <a:r>
              <a:rPr lang="en-US" dirty="0" smtClean="0"/>
              <a:t>esigning </a:t>
            </a:r>
            <a:r>
              <a:rPr lang="en-US" dirty="0"/>
              <a:t>high impact local content policies</a:t>
            </a:r>
          </a:p>
          <a:p>
            <a:endParaRPr lang="en-US" dirty="0">
              <a:cs typeface="Arial"/>
            </a:endParaRPr>
          </a:p>
        </p:txBody>
      </p:sp>
      <p:sp>
        <p:nvSpPr>
          <p:cNvPr id="3" name="Rectangle 2"/>
          <p:cNvSpPr/>
          <p:nvPr/>
        </p:nvSpPr>
        <p:spPr>
          <a:xfrm>
            <a:off x="496514" y="1196752"/>
            <a:ext cx="8319026" cy="1369606"/>
          </a:xfrm>
          <a:prstGeom prst="rect">
            <a:avLst/>
          </a:prstGeom>
        </p:spPr>
        <p:txBody>
          <a:bodyPr wrap="square">
            <a:spAutoFit/>
          </a:bodyPr>
          <a:lstStyle/>
          <a:p>
            <a:pPr lvl="0"/>
            <a:r>
              <a:rPr lang="en-US" dirty="0" smtClean="0">
                <a:latin typeface="Georgia" pitchFamily="18" charset="0"/>
              </a:rPr>
              <a:t>Fostering </a:t>
            </a:r>
            <a:r>
              <a:rPr lang="en-US" dirty="0">
                <a:latin typeface="Georgia" pitchFamily="18" charset="0"/>
              </a:rPr>
              <a:t>linkages to the petroleum sector in an economy with low levels of industrialization </a:t>
            </a:r>
            <a:r>
              <a:rPr lang="en-US" dirty="0" smtClean="0">
                <a:latin typeface="Georgia" pitchFamily="18" charset="0"/>
              </a:rPr>
              <a:t>is a challenge – especially with reserves lifespan of 10-20 years </a:t>
            </a:r>
          </a:p>
          <a:p>
            <a:pPr lvl="0"/>
            <a:endParaRPr lang="en-US" sz="1100" dirty="0" smtClean="0">
              <a:latin typeface="Georgia" pitchFamily="18" charset="0"/>
            </a:endParaRPr>
          </a:p>
          <a:p>
            <a:pPr lvl="0"/>
            <a:r>
              <a:rPr lang="en-US" dirty="0" smtClean="0">
                <a:latin typeface="Georgia" pitchFamily="18" charset="0"/>
              </a:rPr>
              <a:t>Low </a:t>
            </a:r>
            <a:r>
              <a:rPr lang="en-US" dirty="0">
                <a:latin typeface="Georgia" pitchFamily="18" charset="0"/>
              </a:rPr>
              <a:t>oil </a:t>
            </a:r>
            <a:r>
              <a:rPr lang="en-US" dirty="0" smtClean="0">
                <a:latin typeface="Georgia" pitchFamily="18" charset="0"/>
              </a:rPr>
              <a:t>prices means foreign </a:t>
            </a:r>
            <a:r>
              <a:rPr lang="en-US" dirty="0">
                <a:latin typeface="Georgia" pitchFamily="18" charset="0"/>
              </a:rPr>
              <a:t>oil companies are focused on cost </a:t>
            </a:r>
            <a:r>
              <a:rPr lang="en-US" dirty="0" smtClean="0">
                <a:latin typeface="Georgia" pitchFamily="18" charset="0"/>
              </a:rPr>
              <a:t>reductions, and will be reluctant to make </a:t>
            </a:r>
            <a:r>
              <a:rPr lang="en-US" dirty="0">
                <a:latin typeface="Georgia" pitchFamily="18" charset="0"/>
              </a:rPr>
              <a:t>significant commitments to local content development</a:t>
            </a:r>
            <a:endParaRPr lang="en-GB" dirty="0">
              <a:latin typeface="Georgia" pitchFamily="18" charset="0"/>
            </a:endParaRPr>
          </a:p>
        </p:txBody>
      </p:sp>
      <p:graphicFrame>
        <p:nvGraphicFramePr>
          <p:cNvPr id="4" name="Content Placeholder 4"/>
          <p:cNvGraphicFramePr>
            <a:graphicFrameLocks/>
          </p:cNvGraphicFramePr>
          <p:nvPr>
            <p:extLst>
              <p:ext uri="{D42A27DB-BD31-4B8C-83A1-F6EECF244321}">
                <p14:modId xmlns:p14="http://schemas.microsoft.com/office/powerpoint/2010/main" val="1555490471"/>
              </p:ext>
            </p:extLst>
          </p:nvPr>
        </p:nvGraphicFramePr>
        <p:xfrm>
          <a:off x="1343475" y="2708920"/>
          <a:ext cx="6342004" cy="22322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reeform 10">
            <a:hlinkClick r:id="rId7" action="ppaction://hlinksldjump"/>
          </p:cNvPr>
          <p:cNvSpPr/>
          <p:nvPr/>
        </p:nvSpPr>
        <p:spPr>
          <a:xfrm>
            <a:off x="457200" y="5085184"/>
            <a:ext cx="8229600" cy="540089"/>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algn="ctr" defTabSz="1555750">
              <a:lnSpc>
                <a:spcPct val="90000"/>
              </a:lnSpc>
              <a:spcAft>
                <a:spcPct val="35000"/>
              </a:spcAft>
            </a:pPr>
            <a:r>
              <a:rPr lang="en-US" sz="2000" dirty="0"/>
              <a:t>Recommendations for designing high impact local content </a:t>
            </a:r>
            <a:r>
              <a:rPr lang="en-US" sz="2000" dirty="0" smtClean="0"/>
              <a:t>policies</a:t>
            </a:r>
            <a:endParaRPr lang="en-US" sz="2000" dirty="0"/>
          </a:p>
        </p:txBody>
      </p:sp>
      <p:grpSp>
        <p:nvGrpSpPr>
          <p:cNvPr id="15" name="Group 14"/>
          <p:cNvGrpSpPr/>
          <p:nvPr/>
        </p:nvGrpSpPr>
        <p:grpSpPr>
          <a:xfrm>
            <a:off x="7668000" y="5742000"/>
            <a:ext cx="1008112" cy="533028"/>
            <a:chOff x="7668344" y="5747436"/>
            <a:chExt cx="1008112" cy="533028"/>
          </a:xfrm>
        </p:grpSpPr>
        <p:sp>
          <p:nvSpPr>
            <p:cNvPr id="6" name="Action Button: Return 5">
              <a:hlinkClick r:id="rId8" action="ppaction://hlinksldjump" highlightClick="1"/>
            </p:cNvPr>
            <p:cNvSpPr/>
            <p:nvPr/>
          </p:nvSpPr>
          <p:spPr bwMode="auto">
            <a:xfrm>
              <a:off x="7881619" y="5747436"/>
              <a:ext cx="360040" cy="298800"/>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8" name="TextBox 7">
              <a:hlinkClick r:id="" action="ppaction://noaction"/>
            </p:cNvPr>
            <p:cNvSpPr txBox="1"/>
            <p:nvPr/>
          </p:nvSpPr>
          <p:spPr>
            <a:xfrm>
              <a:off x="7668344" y="6026548"/>
              <a:ext cx="792205" cy="253916"/>
            </a:xfrm>
            <a:prstGeom prst="actionButtonReturn">
              <a:avLst/>
            </a:prstGeom>
            <a:noFill/>
          </p:spPr>
          <p:txBody>
            <a:bodyPr wrap="none" rtlCol="0">
              <a:spAutoFit/>
            </a:bodyPr>
            <a:lstStyle/>
            <a:p>
              <a:pPr algn="ctr"/>
              <a:r>
                <a:rPr lang="en-US" sz="1050" i="1" dirty="0" smtClean="0"/>
                <a:t>Objective 5</a:t>
              </a:r>
              <a:endParaRPr lang="en-US" sz="1050" i="1" dirty="0"/>
            </a:p>
          </p:txBody>
        </p:sp>
        <p:sp>
          <p:nvSpPr>
            <p:cNvPr id="9" name="Action Button: Home 8">
              <a:hlinkClick r:id="rId9" action="ppaction://hlinksldjump" highlightClick="1"/>
            </p:cNvPr>
            <p:cNvSpPr/>
            <p:nvPr/>
          </p:nvSpPr>
          <p:spPr bwMode="auto">
            <a:xfrm>
              <a:off x="8316416" y="5747436"/>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cxnSp>
        <p:nvCxnSpPr>
          <p:cNvPr id="12" name="Straight Connector 11"/>
          <p:cNvCxnSpPr/>
          <p:nvPr/>
        </p:nvCxnSpPr>
        <p:spPr>
          <a:xfrm>
            <a:off x="468000" y="6310800"/>
            <a:ext cx="8208000" cy="0"/>
          </a:xfrm>
          <a:prstGeom prst="line">
            <a:avLst/>
          </a:prstGeom>
          <a:ln w="19050" cmpd="thickThi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Slide Number Placeholder 2"/>
          <p:cNvSpPr>
            <a:spLocks noGrp="1"/>
          </p:cNvSpPr>
          <p:nvPr>
            <p:ph type="sldNum" sz="quarter" idx="4294967295"/>
          </p:nvPr>
        </p:nvSpPr>
        <p:spPr>
          <a:xfrm>
            <a:off x="6553200" y="6356350"/>
            <a:ext cx="2133600" cy="365125"/>
          </a:xfrm>
        </p:spPr>
        <p:txBody>
          <a:bodyPr/>
          <a:lstStyle/>
          <a:p>
            <a:fld id="{418A78CD-E27B-441A-A2B1-21C1D5FFEB65}" type="slidenum">
              <a:rPr lang="en-US" sz="1200" smtClean="0">
                <a:solidFill>
                  <a:prstClr val="black"/>
                </a:solidFill>
                <a:latin typeface="Georgia" pitchFamily="18" charset="0"/>
              </a:rPr>
              <a:pPr/>
              <a:t>43</a:t>
            </a:fld>
            <a:endParaRPr lang="en-US" sz="1200" dirty="0">
              <a:solidFill>
                <a:prstClr val="black"/>
              </a:solidFill>
              <a:latin typeface="Georgia" pitchFamily="18" charset="0"/>
            </a:endParaRPr>
          </a:p>
        </p:txBody>
      </p:sp>
      <p:sp>
        <p:nvSpPr>
          <p:cNvPr id="14"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Tree>
    <p:extLst>
      <p:ext uri="{BB962C8B-B14F-4D97-AF65-F5344CB8AC3E}">
        <p14:creationId xmlns:p14="http://schemas.microsoft.com/office/powerpoint/2010/main" val="308313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44</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a:xfrm>
            <a:off x="468313" y="188640"/>
            <a:ext cx="8208143" cy="792088"/>
          </a:xfrm>
        </p:spPr>
        <p:txBody>
          <a:bodyPr>
            <a:normAutofit fontScale="92500" lnSpcReduction="10000"/>
          </a:bodyPr>
          <a:lstStyle/>
          <a:p>
            <a:pPr lvl="0"/>
            <a:r>
              <a:rPr lang="en-GB" sz="2600" dirty="0" smtClean="0"/>
              <a:t>Recommendations for </a:t>
            </a:r>
            <a:r>
              <a:rPr lang="en-US" sz="2600" dirty="0"/>
              <a:t>d</a:t>
            </a:r>
            <a:r>
              <a:rPr lang="en-US" sz="2600" dirty="0" smtClean="0"/>
              <a:t>esigning </a:t>
            </a:r>
            <a:r>
              <a:rPr lang="en-US" sz="2600" dirty="0"/>
              <a:t>high impact local content policies</a:t>
            </a:r>
          </a:p>
          <a:p>
            <a:endParaRPr lang="en-GB" dirty="0"/>
          </a:p>
        </p:txBody>
      </p:sp>
      <p:sp>
        <p:nvSpPr>
          <p:cNvPr id="5" name="Text Placeholder 4"/>
          <p:cNvSpPr>
            <a:spLocks noGrp="1"/>
          </p:cNvSpPr>
          <p:nvPr>
            <p:ph type="body" sz="quarter" idx="11"/>
          </p:nvPr>
        </p:nvSpPr>
        <p:spPr>
          <a:xfrm>
            <a:off x="467544" y="1124744"/>
            <a:ext cx="8208143" cy="4834036"/>
          </a:xfrm>
        </p:spPr>
        <p:txBody>
          <a:bodyPr>
            <a:normAutofit fontScale="25000" lnSpcReduction="20000"/>
          </a:bodyPr>
          <a:lstStyle/>
          <a:p>
            <a:pPr marL="0" indent="0">
              <a:buNone/>
            </a:pPr>
            <a:r>
              <a:rPr lang="en-US" sz="8400" dirty="0" smtClean="0"/>
              <a:t>Governments should:</a:t>
            </a:r>
          </a:p>
          <a:p>
            <a:pPr marL="0" indent="0">
              <a:buNone/>
            </a:pPr>
            <a:r>
              <a:rPr lang="en-US" sz="8400" dirty="0" smtClean="0"/>
              <a:t> </a:t>
            </a:r>
          </a:p>
          <a:p>
            <a:r>
              <a:rPr lang="en-US" sz="8400" dirty="0" smtClean="0"/>
              <a:t>Develop </a:t>
            </a:r>
            <a:r>
              <a:rPr lang="en-US" sz="8400" dirty="0"/>
              <a:t>local content objectives </a:t>
            </a:r>
            <a:r>
              <a:rPr lang="en-US" sz="8400" dirty="0" smtClean="0"/>
              <a:t>consistent with priority </a:t>
            </a:r>
            <a:r>
              <a:rPr lang="en-US" sz="8400" dirty="0"/>
              <a:t>sectors for </a:t>
            </a:r>
            <a:r>
              <a:rPr lang="en-US" sz="8400" dirty="0" smtClean="0"/>
              <a:t>development (as per national vision)</a:t>
            </a:r>
          </a:p>
          <a:p>
            <a:r>
              <a:rPr lang="en-US" sz="8400" dirty="0" smtClean="0"/>
              <a:t>Identify which parties are involved in achieving those objectives</a:t>
            </a:r>
          </a:p>
          <a:p>
            <a:r>
              <a:rPr lang="en-US" sz="8400" dirty="0" smtClean="0"/>
              <a:t>Identify the sector’s expected needs, beginning with a careful analysis of the resource base</a:t>
            </a:r>
          </a:p>
          <a:p>
            <a:r>
              <a:rPr lang="en-US" sz="8400" dirty="0" smtClean="0"/>
              <a:t>Enlist foreign </a:t>
            </a:r>
            <a:r>
              <a:rPr lang="en-US" sz="8400" dirty="0"/>
              <a:t>oil company operators to provide early data on their needs </a:t>
            </a:r>
            <a:r>
              <a:rPr lang="en-US" sz="8400" dirty="0" smtClean="0"/>
              <a:t>and </a:t>
            </a:r>
            <a:r>
              <a:rPr lang="en-US" sz="8400" dirty="0"/>
              <a:t>share </a:t>
            </a:r>
            <a:r>
              <a:rPr lang="en-US" sz="8400" dirty="0" smtClean="0"/>
              <a:t>data </a:t>
            </a:r>
            <a:r>
              <a:rPr lang="en-US" sz="8400" dirty="0"/>
              <a:t>with learning institutions </a:t>
            </a:r>
            <a:r>
              <a:rPr lang="en-US" sz="8400" dirty="0" smtClean="0"/>
              <a:t>and </a:t>
            </a:r>
            <a:r>
              <a:rPr lang="en-US" sz="8400" dirty="0"/>
              <a:t>local </a:t>
            </a:r>
            <a:r>
              <a:rPr lang="en-US" sz="8400" dirty="0" smtClean="0"/>
              <a:t>suppliers</a:t>
            </a:r>
          </a:p>
          <a:p>
            <a:r>
              <a:rPr lang="en-US" sz="8400" dirty="0"/>
              <a:t>A</a:t>
            </a:r>
            <a:r>
              <a:rPr lang="en-US" sz="8400" dirty="0" smtClean="0"/>
              <a:t>ssess local capabilities</a:t>
            </a:r>
            <a:r>
              <a:rPr lang="en-US" sz="8400" dirty="0"/>
              <a:t>, supplies, infrastructure, and financial </a:t>
            </a:r>
            <a:r>
              <a:rPr lang="en-US" sz="8400" dirty="0" smtClean="0"/>
              <a:t>services, and apply specific targets for each</a:t>
            </a:r>
          </a:p>
          <a:p>
            <a:r>
              <a:rPr lang="en-US" sz="8400" dirty="0" smtClean="0"/>
              <a:t>Create </a:t>
            </a:r>
            <a:r>
              <a:rPr lang="en-US" sz="8400" dirty="0"/>
              <a:t>value beyond a specific </a:t>
            </a:r>
            <a:r>
              <a:rPr lang="en-US" sz="8400" dirty="0" smtClean="0"/>
              <a:t>project (e.g. transferable skills)</a:t>
            </a:r>
          </a:p>
          <a:p>
            <a:r>
              <a:rPr lang="en-US" sz="8400" dirty="0" smtClean="0"/>
              <a:t>Map out a skills development plan based on forward needs assessment</a:t>
            </a:r>
          </a:p>
          <a:p>
            <a:r>
              <a:rPr lang="en-US" sz="8400" dirty="0" smtClean="0"/>
              <a:t>Include national </a:t>
            </a:r>
            <a:r>
              <a:rPr lang="en-US" sz="8400" dirty="0"/>
              <a:t>content requirement for the goods and services that the NOC buys </a:t>
            </a:r>
            <a:r>
              <a:rPr lang="en-US" sz="8400" dirty="0" smtClean="0"/>
              <a:t>(in line with national capacity)</a:t>
            </a:r>
            <a:endParaRPr lang="en-US" sz="8400" dirty="0"/>
          </a:p>
          <a:p>
            <a:r>
              <a:rPr lang="en-US" sz="8400" dirty="0" smtClean="0"/>
              <a:t>Adopt </a:t>
            </a:r>
            <a:r>
              <a:rPr lang="en-US" sz="8400" dirty="0"/>
              <a:t>a simple measurement and reporting </a:t>
            </a:r>
            <a:r>
              <a:rPr lang="en-US" sz="8400" dirty="0" smtClean="0"/>
              <a:t>system </a:t>
            </a:r>
          </a:p>
          <a:p>
            <a:endParaRPr lang="en-US" sz="7200" dirty="0"/>
          </a:p>
        </p:txBody>
      </p:sp>
      <p:grpSp>
        <p:nvGrpSpPr>
          <p:cNvPr id="10" name="Group 9"/>
          <p:cNvGrpSpPr/>
          <p:nvPr/>
        </p:nvGrpSpPr>
        <p:grpSpPr>
          <a:xfrm>
            <a:off x="7668000" y="5742000"/>
            <a:ext cx="1008112" cy="533028"/>
            <a:chOff x="7668344" y="5747436"/>
            <a:chExt cx="1008112" cy="533028"/>
          </a:xfrm>
        </p:grpSpPr>
        <p:sp>
          <p:nvSpPr>
            <p:cNvPr id="11" name="Action Button: Return 10">
              <a:hlinkClick r:id="rId2" action="ppaction://hlinksldjump" highlightClick="1"/>
            </p:cNvPr>
            <p:cNvSpPr/>
            <p:nvPr/>
          </p:nvSpPr>
          <p:spPr bwMode="auto">
            <a:xfrm>
              <a:off x="7881619" y="5747436"/>
              <a:ext cx="360040" cy="298800"/>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2" name="TextBox 11">
              <a:hlinkClick r:id="" action="ppaction://noaction"/>
            </p:cNvPr>
            <p:cNvSpPr txBox="1"/>
            <p:nvPr/>
          </p:nvSpPr>
          <p:spPr>
            <a:xfrm>
              <a:off x="7668344" y="6026548"/>
              <a:ext cx="792205" cy="253916"/>
            </a:xfrm>
            <a:prstGeom prst="actionButtonReturn">
              <a:avLst/>
            </a:prstGeom>
            <a:noFill/>
          </p:spPr>
          <p:txBody>
            <a:bodyPr wrap="none" rtlCol="0">
              <a:spAutoFit/>
            </a:bodyPr>
            <a:lstStyle/>
            <a:p>
              <a:pPr algn="ctr"/>
              <a:r>
                <a:rPr lang="en-US" sz="1050" i="1" dirty="0" smtClean="0"/>
                <a:t>Objective 5</a:t>
              </a:r>
              <a:endParaRPr lang="en-US" sz="1050" i="1" dirty="0"/>
            </a:p>
          </p:txBody>
        </p:sp>
        <p:sp>
          <p:nvSpPr>
            <p:cNvPr id="13" name="Action Button: Home 12">
              <a:hlinkClick r:id="rId3" action="ppaction://hlinksldjump" highlightClick="1"/>
            </p:cNvPr>
            <p:cNvSpPr/>
            <p:nvPr/>
          </p:nvSpPr>
          <p:spPr bwMode="auto">
            <a:xfrm>
              <a:off x="8316416" y="5747436"/>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
        <p:nvSpPr>
          <p:cNvPr id="14"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Tree>
    <p:extLst>
      <p:ext uri="{BB962C8B-B14F-4D97-AF65-F5344CB8AC3E}">
        <p14:creationId xmlns:p14="http://schemas.microsoft.com/office/powerpoint/2010/main" val="426191699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
          <p:cNvSpPr/>
          <p:nvPr/>
        </p:nvSpPr>
        <p:spPr>
          <a:xfrm>
            <a:off x="496515" y="260648"/>
            <a:ext cx="8035925" cy="792146"/>
          </a:xfrm>
          <a:prstGeom prst="roundRect">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algn="ctr"/>
            <a:r>
              <a:rPr lang="en-US" sz="2000" dirty="0">
                <a:cs typeface="Arial"/>
              </a:rPr>
              <a:t>Challenge 2: </a:t>
            </a:r>
            <a:r>
              <a:rPr lang="en-US" sz="2000" dirty="0"/>
              <a:t>S</a:t>
            </a:r>
            <a:r>
              <a:rPr lang="en-US" sz="2000" dirty="0" smtClean="0"/>
              <a:t>etting </a:t>
            </a:r>
            <a:r>
              <a:rPr lang="en-US" sz="2000" dirty="0"/>
              <a:t>realistic local content targets </a:t>
            </a:r>
            <a:r>
              <a:rPr lang="en-US" sz="2000" dirty="0" smtClean="0"/>
              <a:t>when domestic industrial or human capacity is low </a:t>
            </a:r>
            <a:endParaRPr lang="en-GB" sz="2000" dirty="0">
              <a:cs typeface="Arial"/>
            </a:endParaRPr>
          </a:p>
        </p:txBody>
      </p:sp>
      <p:sp>
        <p:nvSpPr>
          <p:cNvPr id="3" name="Rectangle 2"/>
          <p:cNvSpPr/>
          <p:nvPr/>
        </p:nvSpPr>
        <p:spPr>
          <a:xfrm>
            <a:off x="618902" y="2636912"/>
            <a:ext cx="8035925" cy="1077218"/>
          </a:xfrm>
          <a:prstGeom prst="rect">
            <a:avLst/>
          </a:prstGeom>
        </p:spPr>
        <p:txBody>
          <a:bodyPr wrap="square">
            <a:spAutoFit/>
          </a:bodyPr>
          <a:lstStyle/>
          <a:p>
            <a:pPr algn="just"/>
            <a:r>
              <a:rPr lang="en-US" sz="2400" dirty="0">
                <a:latin typeface="Georgia" panose="02040502050405020303" pitchFamily="18" charset="0"/>
              </a:rPr>
              <a:t>Governments often struggle to set realistic local content targets when domestic industrial or human capacity is </a:t>
            </a:r>
            <a:r>
              <a:rPr lang="en-US" sz="2400" dirty="0" smtClean="0">
                <a:latin typeface="Georgia" panose="02040502050405020303" pitchFamily="18" charset="0"/>
              </a:rPr>
              <a:t>low</a:t>
            </a:r>
          </a:p>
          <a:p>
            <a:pPr algn="just"/>
            <a:endParaRPr lang="en-US" sz="1600" dirty="0">
              <a:latin typeface="Georgia" panose="02040502050405020303" pitchFamily="18" charset="0"/>
            </a:endParaRPr>
          </a:p>
        </p:txBody>
      </p:sp>
      <p:sp>
        <p:nvSpPr>
          <p:cNvPr id="4" name="Freeform 10">
            <a:hlinkClick r:id="rId2" action="ppaction://hlinksldjump"/>
          </p:cNvPr>
          <p:cNvSpPr/>
          <p:nvPr/>
        </p:nvSpPr>
        <p:spPr>
          <a:xfrm>
            <a:off x="457200" y="5031163"/>
            <a:ext cx="8229600" cy="540089"/>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algn="ctr" defTabSz="1555750">
              <a:lnSpc>
                <a:spcPct val="90000"/>
              </a:lnSpc>
              <a:spcAft>
                <a:spcPct val="35000"/>
              </a:spcAft>
            </a:pPr>
            <a:r>
              <a:rPr lang="en-US" sz="2000" dirty="0"/>
              <a:t>Recommendations </a:t>
            </a:r>
            <a:r>
              <a:rPr lang="en-US" sz="2000" dirty="0" smtClean="0"/>
              <a:t>on setting </a:t>
            </a:r>
            <a:r>
              <a:rPr lang="en-US" sz="2000" dirty="0"/>
              <a:t>realistic local content targets </a:t>
            </a:r>
            <a:endParaRPr lang="en-US" sz="2000" kern="1200" dirty="0"/>
          </a:p>
        </p:txBody>
      </p:sp>
      <p:sp>
        <p:nvSpPr>
          <p:cNvPr id="11"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cxnSp>
        <p:nvCxnSpPr>
          <p:cNvPr id="12" name="Straight Connector 11"/>
          <p:cNvCxnSpPr/>
          <p:nvPr/>
        </p:nvCxnSpPr>
        <p:spPr>
          <a:xfrm>
            <a:off x="468000" y="6310800"/>
            <a:ext cx="8208000" cy="0"/>
          </a:xfrm>
          <a:prstGeom prst="line">
            <a:avLst/>
          </a:prstGeom>
          <a:ln w="19050" cmpd="thickThi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Slide Number Placeholder 2"/>
          <p:cNvSpPr>
            <a:spLocks noGrp="1"/>
          </p:cNvSpPr>
          <p:nvPr>
            <p:ph type="sldNum" sz="quarter" idx="4294967295"/>
          </p:nvPr>
        </p:nvSpPr>
        <p:spPr>
          <a:xfrm>
            <a:off x="6553200" y="6356350"/>
            <a:ext cx="2133600" cy="365125"/>
          </a:xfrm>
        </p:spPr>
        <p:txBody>
          <a:bodyPr/>
          <a:lstStyle/>
          <a:p>
            <a:fld id="{418A78CD-E27B-441A-A2B1-21C1D5FFEB65}" type="slidenum">
              <a:rPr lang="en-US" sz="1200" smtClean="0">
                <a:solidFill>
                  <a:prstClr val="black"/>
                </a:solidFill>
                <a:latin typeface="Georgia" pitchFamily="18" charset="0"/>
              </a:rPr>
              <a:pPr/>
              <a:t>45</a:t>
            </a:fld>
            <a:endParaRPr lang="en-US" sz="1200" dirty="0">
              <a:solidFill>
                <a:prstClr val="black"/>
              </a:solidFill>
              <a:latin typeface="Georgia" pitchFamily="18" charset="0"/>
            </a:endParaRPr>
          </a:p>
        </p:txBody>
      </p:sp>
      <p:grpSp>
        <p:nvGrpSpPr>
          <p:cNvPr id="14" name="Group 13"/>
          <p:cNvGrpSpPr/>
          <p:nvPr/>
        </p:nvGrpSpPr>
        <p:grpSpPr>
          <a:xfrm>
            <a:off x="7668000" y="5742000"/>
            <a:ext cx="1008112" cy="533028"/>
            <a:chOff x="7668344" y="5747436"/>
            <a:chExt cx="1008112" cy="533028"/>
          </a:xfrm>
        </p:grpSpPr>
        <p:sp>
          <p:nvSpPr>
            <p:cNvPr id="15" name="Action Button: Return 14">
              <a:hlinkClick r:id="rId3" action="ppaction://hlinksldjump" highlightClick="1"/>
            </p:cNvPr>
            <p:cNvSpPr/>
            <p:nvPr/>
          </p:nvSpPr>
          <p:spPr bwMode="auto">
            <a:xfrm>
              <a:off x="7881619" y="5747436"/>
              <a:ext cx="360040" cy="298800"/>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6" name="TextBox 15">
              <a:hlinkClick r:id="" action="ppaction://noaction"/>
            </p:cNvPr>
            <p:cNvSpPr txBox="1"/>
            <p:nvPr/>
          </p:nvSpPr>
          <p:spPr>
            <a:xfrm>
              <a:off x="7668344" y="6026548"/>
              <a:ext cx="792205" cy="253916"/>
            </a:xfrm>
            <a:prstGeom prst="actionButtonReturn">
              <a:avLst/>
            </a:prstGeom>
            <a:noFill/>
          </p:spPr>
          <p:txBody>
            <a:bodyPr wrap="none" rtlCol="0">
              <a:spAutoFit/>
            </a:bodyPr>
            <a:lstStyle/>
            <a:p>
              <a:pPr algn="ctr"/>
              <a:r>
                <a:rPr lang="en-US" sz="1050" i="1" dirty="0" smtClean="0"/>
                <a:t>Objective 5</a:t>
              </a:r>
              <a:endParaRPr lang="en-US" sz="1050" i="1" dirty="0"/>
            </a:p>
          </p:txBody>
        </p:sp>
        <p:sp>
          <p:nvSpPr>
            <p:cNvPr id="17" name="Action Button: Home 16">
              <a:hlinkClick r:id="rId4" action="ppaction://hlinksldjump" highlightClick="1"/>
            </p:cNvPr>
            <p:cNvSpPr/>
            <p:nvPr/>
          </p:nvSpPr>
          <p:spPr bwMode="auto">
            <a:xfrm>
              <a:off x="8316416" y="5747436"/>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Tree>
    <p:extLst>
      <p:ext uri="{BB962C8B-B14F-4D97-AF65-F5344CB8AC3E}">
        <p14:creationId xmlns:p14="http://schemas.microsoft.com/office/powerpoint/2010/main" val="70580298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46</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p:txBody>
          <a:bodyPr>
            <a:noAutofit/>
          </a:bodyPr>
          <a:lstStyle/>
          <a:p>
            <a:r>
              <a:rPr lang="en-GB" sz="2400" dirty="0" smtClean="0"/>
              <a:t>Recommendations for setting realistic local content targets</a:t>
            </a:r>
            <a:endParaRPr lang="en-GB" sz="2400" dirty="0"/>
          </a:p>
        </p:txBody>
      </p:sp>
      <p:sp>
        <p:nvSpPr>
          <p:cNvPr id="5" name="Text Placeholder 4"/>
          <p:cNvSpPr>
            <a:spLocks noGrp="1"/>
          </p:cNvSpPr>
          <p:nvPr>
            <p:ph type="body" sz="quarter" idx="11"/>
          </p:nvPr>
        </p:nvSpPr>
        <p:spPr/>
        <p:txBody>
          <a:bodyPr>
            <a:noAutofit/>
          </a:bodyPr>
          <a:lstStyle/>
          <a:p>
            <a:pPr algn="just"/>
            <a:r>
              <a:rPr lang="en-US" sz="2200" dirty="0"/>
              <a:t>Governments should avoid </a:t>
            </a:r>
            <a:r>
              <a:rPr lang="en-US" sz="2200" dirty="0" smtClean="0"/>
              <a:t>mimicking </a:t>
            </a:r>
            <a:r>
              <a:rPr lang="en-US" sz="2200" dirty="0"/>
              <a:t>other countries’ local content </a:t>
            </a:r>
            <a:r>
              <a:rPr lang="en-US" sz="2200" dirty="0" smtClean="0"/>
              <a:t>policies; develop </a:t>
            </a:r>
            <a:r>
              <a:rPr lang="en-US" sz="2200" dirty="0"/>
              <a:t>thorough understanding of the local context in order to define realistic and achievable targets</a:t>
            </a:r>
          </a:p>
          <a:p>
            <a:pPr algn="just"/>
            <a:r>
              <a:rPr lang="en-US" sz="2200" dirty="0"/>
              <a:t>Governments should </a:t>
            </a:r>
            <a:r>
              <a:rPr lang="en-US" sz="2200" dirty="0" smtClean="0"/>
              <a:t>require investors to develop capacity. Starting point is local sourcing of simple on-site services.</a:t>
            </a:r>
            <a:endParaRPr lang="en-US" sz="2200" dirty="0"/>
          </a:p>
          <a:p>
            <a:pPr algn="just"/>
            <a:r>
              <a:rPr lang="en-US" sz="2200" dirty="0"/>
              <a:t>Governments </a:t>
            </a:r>
            <a:r>
              <a:rPr lang="en-US" sz="2200" dirty="0" smtClean="0"/>
              <a:t>should avoid turnkey projects </a:t>
            </a:r>
            <a:r>
              <a:rPr lang="en-US" sz="2200" dirty="0"/>
              <a:t>run by foreign staff</a:t>
            </a:r>
          </a:p>
          <a:p>
            <a:pPr algn="just"/>
            <a:r>
              <a:rPr lang="en-US" sz="2200" dirty="0"/>
              <a:t>Governments should </a:t>
            </a:r>
            <a:r>
              <a:rPr lang="en-US" sz="2200" dirty="0" smtClean="0"/>
              <a:t>support the foreign oil companies’ efforts by </a:t>
            </a:r>
            <a:r>
              <a:rPr lang="en-GB" sz="2200" dirty="0" smtClean="0"/>
              <a:t>linking </a:t>
            </a:r>
            <a:r>
              <a:rPr lang="en-GB" sz="2200" dirty="0"/>
              <a:t>local content policy in the oil sector to </a:t>
            </a:r>
            <a:r>
              <a:rPr lang="en-GB" sz="2200" dirty="0" smtClean="0"/>
              <a:t>the education </a:t>
            </a:r>
            <a:r>
              <a:rPr lang="en-GB" sz="2200" dirty="0"/>
              <a:t>strategy and </a:t>
            </a:r>
            <a:r>
              <a:rPr lang="en-GB" sz="2200" dirty="0" smtClean="0"/>
              <a:t>building </a:t>
            </a:r>
            <a:r>
              <a:rPr lang="en-GB" sz="2200" dirty="0"/>
              <a:t>the kind of workforce that is able to respond to the country’s future needs. </a:t>
            </a:r>
          </a:p>
        </p:txBody>
      </p:sp>
      <p:graphicFrame>
        <p:nvGraphicFramePr>
          <p:cNvPr id="6" name="Diagram 5">
            <a:hlinkClick r:id="rId2" action="ppaction://hlinksldjump"/>
          </p:cNvPr>
          <p:cNvGraphicFramePr/>
          <p:nvPr>
            <p:extLst>
              <p:ext uri="{D42A27DB-BD31-4B8C-83A1-F6EECF244321}">
                <p14:modId xmlns:p14="http://schemas.microsoft.com/office/powerpoint/2010/main" val="2588566715"/>
              </p:ext>
            </p:extLst>
          </p:nvPr>
        </p:nvGraphicFramePr>
        <p:xfrm>
          <a:off x="7308305" y="4509120"/>
          <a:ext cx="1411948" cy="10801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1" name="Group 10"/>
          <p:cNvGrpSpPr/>
          <p:nvPr/>
        </p:nvGrpSpPr>
        <p:grpSpPr>
          <a:xfrm>
            <a:off x="7668000" y="5742000"/>
            <a:ext cx="1008112" cy="533028"/>
            <a:chOff x="7668344" y="5747436"/>
            <a:chExt cx="1008112" cy="533028"/>
          </a:xfrm>
        </p:grpSpPr>
        <p:sp>
          <p:nvSpPr>
            <p:cNvPr id="12" name="Action Button: Return 11">
              <a:hlinkClick r:id="rId8" action="ppaction://hlinksldjump" highlightClick="1"/>
            </p:cNvPr>
            <p:cNvSpPr/>
            <p:nvPr/>
          </p:nvSpPr>
          <p:spPr bwMode="auto">
            <a:xfrm>
              <a:off x="7881619" y="5747436"/>
              <a:ext cx="360040" cy="298800"/>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3" name="TextBox 12">
              <a:hlinkClick r:id="" action="ppaction://noaction"/>
            </p:cNvPr>
            <p:cNvSpPr txBox="1"/>
            <p:nvPr/>
          </p:nvSpPr>
          <p:spPr>
            <a:xfrm>
              <a:off x="7668344" y="6026548"/>
              <a:ext cx="792205" cy="253916"/>
            </a:xfrm>
            <a:prstGeom prst="actionButtonReturn">
              <a:avLst/>
            </a:prstGeom>
            <a:noFill/>
          </p:spPr>
          <p:txBody>
            <a:bodyPr wrap="none" rtlCol="0">
              <a:spAutoFit/>
            </a:bodyPr>
            <a:lstStyle/>
            <a:p>
              <a:pPr algn="ctr"/>
              <a:r>
                <a:rPr lang="en-US" sz="1050" i="1" dirty="0" smtClean="0"/>
                <a:t>Objective 5</a:t>
              </a:r>
              <a:endParaRPr lang="en-US" sz="1050" i="1" dirty="0"/>
            </a:p>
          </p:txBody>
        </p:sp>
        <p:sp>
          <p:nvSpPr>
            <p:cNvPr id="14" name="Action Button: Home 13">
              <a:hlinkClick r:id="rId9" action="ppaction://hlinksldjump" highlightClick="1"/>
            </p:cNvPr>
            <p:cNvSpPr/>
            <p:nvPr/>
          </p:nvSpPr>
          <p:spPr bwMode="auto">
            <a:xfrm>
              <a:off x="8316416" y="5747436"/>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Tree>
    <p:extLst>
      <p:ext uri="{BB962C8B-B14F-4D97-AF65-F5344CB8AC3E}">
        <p14:creationId xmlns:p14="http://schemas.microsoft.com/office/powerpoint/2010/main" val="135952803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47</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p:txBody>
          <a:bodyPr>
            <a:normAutofit fontScale="85000" lnSpcReduction="20000"/>
          </a:bodyPr>
          <a:lstStyle/>
          <a:p>
            <a:r>
              <a:rPr lang="en-GB" dirty="0" smtClean="0"/>
              <a:t>Setting realistic local content targets</a:t>
            </a:r>
            <a:endParaRPr lang="en-GB" dirty="0"/>
          </a:p>
        </p:txBody>
      </p:sp>
      <p:sp>
        <p:nvSpPr>
          <p:cNvPr id="5" name="Text Placeholder 4"/>
          <p:cNvSpPr>
            <a:spLocks noGrp="1"/>
          </p:cNvSpPr>
          <p:nvPr>
            <p:ph type="body" sz="quarter" idx="11"/>
          </p:nvPr>
        </p:nvSpPr>
        <p:spPr>
          <a:xfrm>
            <a:off x="468312" y="1268760"/>
            <a:ext cx="8208143" cy="3960440"/>
          </a:xfrm>
        </p:spPr>
        <p:txBody>
          <a:bodyPr>
            <a:normAutofit fontScale="77500" lnSpcReduction="20000"/>
          </a:bodyPr>
          <a:lstStyle/>
          <a:p>
            <a:pPr marL="0" indent="0">
              <a:buNone/>
            </a:pPr>
            <a:r>
              <a:rPr lang="en-GB" sz="3100" dirty="0" smtClean="0"/>
              <a:t>Some </a:t>
            </a:r>
            <a:r>
              <a:rPr lang="en-GB" sz="3100" dirty="0"/>
              <a:t>governments require foreign companies to partner with or contract to companies that are domestically based. </a:t>
            </a:r>
            <a:endParaRPr lang="en-GB" sz="3100" dirty="0" smtClean="0"/>
          </a:p>
          <a:p>
            <a:pPr marL="0" indent="0">
              <a:buNone/>
            </a:pPr>
            <a:endParaRPr lang="en-GB" sz="3100" dirty="0" smtClean="0"/>
          </a:p>
          <a:p>
            <a:pPr marL="0" indent="0">
              <a:buNone/>
            </a:pPr>
            <a:r>
              <a:rPr lang="en-GB" sz="3100" dirty="0" smtClean="0"/>
              <a:t>In </a:t>
            </a:r>
            <a:r>
              <a:rPr lang="en-GB" sz="3100" dirty="0"/>
              <a:t>countries where local capacity is low, such rules can facilitate the creation of shell companies that benefit financially without actually contributing to or learning from the project operations. </a:t>
            </a:r>
            <a:endParaRPr lang="en-GB" sz="3100" dirty="0" smtClean="0"/>
          </a:p>
          <a:p>
            <a:pPr marL="0" indent="0" algn="ctr">
              <a:buNone/>
            </a:pPr>
            <a:endParaRPr lang="en-GB" sz="3100" dirty="0"/>
          </a:p>
          <a:p>
            <a:pPr marL="0" indent="0" algn="ctr">
              <a:buNone/>
            </a:pPr>
            <a:r>
              <a:rPr lang="en-US" sz="3100" i="1" dirty="0"/>
              <a:t>Questions for further discussion:</a:t>
            </a:r>
          </a:p>
          <a:p>
            <a:pPr marL="0" indent="0">
              <a:buNone/>
            </a:pPr>
            <a:endParaRPr lang="en-US" sz="3100" dirty="0"/>
          </a:p>
          <a:p>
            <a:pPr marL="0" indent="0">
              <a:buNone/>
            </a:pPr>
            <a:endParaRPr lang="en-US" sz="3100" dirty="0"/>
          </a:p>
          <a:p>
            <a:pPr>
              <a:buFont typeface="Wingdings" pitchFamily="2" charset="2"/>
              <a:buChar char="Ø"/>
            </a:pPr>
            <a:r>
              <a:rPr lang="en-GB" sz="3100" dirty="0" smtClean="0"/>
              <a:t>What </a:t>
            </a:r>
            <a:r>
              <a:rPr lang="en-GB" sz="3100" dirty="0"/>
              <a:t>can governments do to remedy this? </a:t>
            </a:r>
            <a:endParaRPr lang="en-US" sz="3100" dirty="0"/>
          </a:p>
          <a:p>
            <a:pPr lvl="1">
              <a:buFont typeface="Wingdings" charset="2"/>
              <a:buChar char="Ø"/>
            </a:pPr>
            <a:endParaRPr lang="en-GB" dirty="0"/>
          </a:p>
        </p:txBody>
      </p:sp>
      <p:grpSp>
        <p:nvGrpSpPr>
          <p:cNvPr id="6" name="Group 5"/>
          <p:cNvGrpSpPr/>
          <p:nvPr/>
        </p:nvGrpSpPr>
        <p:grpSpPr>
          <a:xfrm>
            <a:off x="7452320" y="5733256"/>
            <a:ext cx="1295840" cy="541772"/>
            <a:chOff x="7308608" y="5733256"/>
            <a:chExt cx="1295840" cy="541772"/>
          </a:xfrm>
        </p:grpSpPr>
        <p:grpSp>
          <p:nvGrpSpPr>
            <p:cNvPr id="10" name="Group 9"/>
            <p:cNvGrpSpPr/>
            <p:nvPr/>
          </p:nvGrpSpPr>
          <p:grpSpPr>
            <a:xfrm>
              <a:off x="7308608" y="5742000"/>
              <a:ext cx="863792" cy="533028"/>
              <a:chOff x="7812664" y="5747436"/>
              <a:chExt cx="863792" cy="533028"/>
            </a:xfrm>
          </p:grpSpPr>
          <p:sp>
            <p:nvSpPr>
              <p:cNvPr id="11" name="Action Button: Return 10">
                <a:hlinkClick r:id="rId2" action="ppaction://hlinksldjump" highlightClick="1"/>
              </p:cNvPr>
              <p:cNvSpPr/>
              <p:nvPr/>
            </p:nvSpPr>
            <p:spPr bwMode="auto">
              <a:xfrm>
                <a:off x="7881619" y="5747436"/>
                <a:ext cx="360040" cy="298800"/>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2" name="TextBox 11">
                <a:hlinkClick r:id="" action="ppaction://noaction"/>
              </p:cNvPr>
              <p:cNvSpPr txBox="1"/>
              <p:nvPr/>
            </p:nvSpPr>
            <p:spPr>
              <a:xfrm>
                <a:off x="7812664" y="6026548"/>
                <a:ext cx="444352" cy="253916"/>
              </a:xfrm>
              <a:prstGeom prst="actionButtonReturn">
                <a:avLst/>
              </a:prstGeom>
              <a:noFill/>
            </p:spPr>
            <p:txBody>
              <a:bodyPr wrap="none" rtlCol="0">
                <a:spAutoFit/>
              </a:bodyPr>
              <a:lstStyle/>
              <a:p>
                <a:pPr algn="ctr"/>
                <a:r>
                  <a:rPr lang="en-US" sz="1050" i="1" dirty="0" smtClean="0"/>
                  <a:t>Back</a:t>
                </a:r>
                <a:endParaRPr lang="en-US" sz="1050" i="1" dirty="0"/>
              </a:p>
            </p:txBody>
          </p:sp>
          <p:sp>
            <p:nvSpPr>
              <p:cNvPr id="13" name="Action Button: Home 12">
                <a:hlinkClick r:id="rId3" action="ppaction://hlinksldjump" highlightClick="1"/>
              </p:cNvPr>
              <p:cNvSpPr/>
              <p:nvPr/>
            </p:nvSpPr>
            <p:spPr bwMode="auto">
              <a:xfrm>
                <a:off x="8316416" y="5747436"/>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
          <p:nvSpPr>
            <p:cNvPr id="14" name="Action Button: Forward or Next 13">
              <a:hlinkClick r:id="" action="ppaction://hlinkshowjump?jump=nextslide" highlightClick="1"/>
            </p:cNvPr>
            <p:cNvSpPr/>
            <p:nvPr/>
          </p:nvSpPr>
          <p:spPr>
            <a:xfrm>
              <a:off x="8244448" y="5733256"/>
              <a:ext cx="360000" cy="298800"/>
            </a:xfrm>
            <a:prstGeom prst="actionButtonForwardNex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5852272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
          <p:cNvSpPr/>
          <p:nvPr/>
        </p:nvSpPr>
        <p:spPr>
          <a:xfrm>
            <a:off x="496515" y="260648"/>
            <a:ext cx="8035925" cy="792146"/>
          </a:xfrm>
          <a:prstGeom prst="roundRect">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algn="ctr"/>
            <a:r>
              <a:rPr lang="en-US" dirty="0">
                <a:cs typeface="Arial"/>
              </a:rPr>
              <a:t>Challenge 3: </a:t>
            </a:r>
            <a:r>
              <a:rPr lang="en-GB" dirty="0">
                <a:cs typeface="Arial"/>
              </a:rPr>
              <a:t>Getting foreign oil companies to invest in </a:t>
            </a:r>
            <a:r>
              <a:rPr lang="en-GB" dirty="0" smtClean="0">
                <a:cs typeface="Arial"/>
              </a:rPr>
              <a:t>national development when </a:t>
            </a:r>
            <a:r>
              <a:rPr lang="en-GB" dirty="0">
                <a:cs typeface="Arial"/>
              </a:rPr>
              <a:t>resources are uncertain</a:t>
            </a:r>
          </a:p>
        </p:txBody>
      </p:sp>
      <p:sp>
        <p:nvSpPr>
          <p:cNvPr id="3" name="Rectangle 2"/>
          <p:cNvSpPr/>
          <p:nvPr/>
        </p:nvSpPr>
        <p:spPr>
          <a:xfrm>
            <a:off x="496515" y="1543432"/>
            <a:ext cx="8035925" cy="2677656"/>
          </a:xfrm>
          <a:prstGeom prst="rect">
            <a:avLst/>
          </a:prstGeom>
        </p:spPr>
        <p:txBody>
          <a:bodyPr wrap="square">
            <a:spAutoFit/>
          </a:bodyPr>
          <a:lstStyle/>
          <a:p>
            <a:pPr marL="342900" indent="-342900">
              <a:buFont typeface="Arial" pitchFamily="34" charset="0"/>
              <a:buChar char="•"/>
            </a:pPr>
            <a:r>
              <a:rPr lang="en-US" sz="2100" dirty="0">
                <a:latin typeface="Georgia" panose="02040502050405020303" pitchFamily="18" charset="0"/>
              </a:rPr>
              <a:t>Local content is often more expensive </a:t>
            </a:r>
          </a:p>
          <a:p>
            <a:pPr marL="342900" indent="-342900">
              <a:buFont typeface="Arial" pitchFamily="34" charset="0"/>
              <a:buChar char="•"/>
            </a:pPr>
            <a:r>
              <a:rPr lang="en-US" sz="2100" dirty="0">
                <a:latin typeface="Georgia" panose="02040502050405020303" pitchFamily="18" charset="0"/>
              </a:rPr>
              <a:t>Companies may be reluctant to invest substantially in capacity-building if the resource is small or uncertain</a:t>
            </a:r>
          </a:p>
          <a:p>
            <a:pPr marL="342900" indent="-342900">
              <a:buFont typeface="Arial" pitchFamily="34" charset="0"/>
              <a:buChar char="•"/>
            </a:pPr>
            <a:r>
              <a:rPr lang="en-US" sz="2100" dirty="0">
                <a:latin typeface="Georgia" panose="02040502050405020303" pitchFamily="18" charset="0"/>
              </a:rPr>
              <a:t>Government’s capacity-building can be recovered indirectly, because the capacity built will be available to other sectors of the local economy</a:t>
            </a:r>
          </a:p>
          <a:p>
            <a:pPr marL="342900" indent="-342900">
              <a:buFont typeface="Arial" pitchFamily="34" charset="0"/>
              <a:buChar char="•"/>
            </a:pPr>
            <a:r>
              <a:rPr lang="en-US" sz="2100" dirty="0">
                <a:latin typeface="Georgia" panose="02040502050405020303" pitchFamily="18" charset="0"/>
              </a:rPr>
              <a:t>Companies </a:t>
            </a:r>
            <a:r>
              <a:rPr lang="en-US" sz="2100" dirty="0" smtClean="0">
                <a:latin typeface="Georgia" panose="02040502050405020303" pitchFamily="18" charset="0"/>
              </a:rPr>
              <a:t>will expect </a:t>
            </a:r>
            <a:r>
              <a:rPr lang="en-US" sz="2100" dirty="0">
                <a:latin typeface="Georgia" panose="02040502050405020303" pitchFamily="18" charset="0"/>
              </a:rPr>
              <a:t>to be compensated for the higher costs of hiring or sourcing locally</a:t>
            </a:r>
          </a:p>
        </p:txBody>
      </p:sp>
      <p:sp>
        <p:nvSpPr>
          <p:cNvPr id="4" name="Freeform 10">
            <a:hlinkClick r:id="rId2" action="ppaction://hlinksldjump"/>
          </p:cNvPr>
          <p:cNvSpPr/>
          <p:nvPr/>
        </p:nvSpPr>
        <p:spPr>
          <a:xfrm>
            <a:off x="399676" y="5049713"/>
            <a:ext cx="8229600" cy="540089"/>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algn="ctr" defTabSz="1555750">
              <a:lnSpc>
                <a:spcPct val="90000"/>
              </a:lnSpc>
              <a:spcAft>
                <a:spcPct val="35000"/>
              </a:spcAft>
            </a:pPr>
            <a:r>
              <a:rPr lang="en-US" sz="2000" dirty="0" smtClean="0"/>
              <a:t>Recommendations for </a:t>
            </a:r>
            <a:r>
              <a:rPr lang="en-GB" sz="2000" dirty="0" smtClean="0"/>
              <a:t>g</a:t>
            </a:r>
            <a:r>
              <a:rPr lang="en-GB" sz="2000" dirty="0" smtClean="0">
                <a:cs typeface="Arial Black"/>
              </a:rPr>
              <a:t>etting </a:t>
            </a:r>
            <a:r>
              <a:rPr lang="en-GB" sz="2000" dirty="0">
                <a:cs typeface="Arial Black"/>
              </a:rPr>
              <a:t>foreign oil </a:t>
            </a:r>
            <a:r>
              <a:rPr lang="en-GB" sz="2000" dirty="0" smtClean="0">
                <a:cs typeface="Arial Black"/>
              </a:rPr>
              <a:t>companies to invest</a:t>
            </a:r>
            <a:endParaRPr lang="en-US" sz="2000" kern="1200" dirty="0"/>
          </a:p>
        </p:txBody>
      </p:sp>
      <p:grpSp>
        <p:nvGrpSpPr>
          <p:cNvPr id="11" name="Group 10"/>
          <p:cNvGrpSpPr/>
          <p:nvPr/>
        </p:nvGrpSpPr>
        <p:grpSpPr>
          <a:xfrm>
            <a:off x="7668000" y="5742000"/>
            <a:ext cx="1008112" cy="533028"/>
            <a:chOff x="7668344" y="5747436"/>
            <a:chExt cx="1008112" cy="533028"/>
          </a:xfrm>
        </p:grpSpPr>
        <p:sp>
          <p:nvSpPr>
            <p:cNvPr id="12" name="Action Button: Return 11">
              <a:hlinkClick r:id="rId3" action="ppaction://hlinksldjump" highlightClick="1"/>
            </p:cNvPr>
            <p:cNvSpPr/>
            <p:nvPr/>
          </p:nvSpPr>
          <p:spPr bwMode="auto">
            <a:xfrm>
              <a:off x="7881619" y="5747436"/>
              <a:ext cx="360040" cy="298800"/>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3" name="TextBox 12">
              <a:hlinkClick r:id="" action="ppaction://noaction"/>
            </p:cNvPr>
            <p:cNvSpPr txBox="1"/>
            <p:nvPr/>
          </p:nvSpPr>
          <p:spPr>
            <a:xfrm>
              <a:off x="7668344" y="6026548"/>
              <a:ext cx="792205" cy="253916"/>
            </a:xfrm>
            <a:prstGeom prst="actionButtonReturn">
              <a:avLst/>
            </a:prstGeom>
            <a:noFill/>
          </p:spPr>
          <p:txBody>
            <a:bodyPr wrap="none" rtlCol="0">
              <a:spAutoFit/>
            </a:bodyPr>
            <a:lstStyle/>
            <a:p>
              <a:pPr algn="ctr"/>
              <a:r>
                <a:rPr lang="en-US" sz="1050" i="1" dirty="0" smtClean="0"/>
                <a:t>Objective 5</a:t>
              </a:r>
              <a:endParaRPr lang="en-US" sz="1050" i="1" dirty="0"/>
            </a:p>
          </p:txBody>
        </p:sp>
        <p:sp>
          <p:nvSpPr>
            <p:cNvPr id="14" name="Action Button: Home 13">
              <a:hlinkClick r:id="rId4" action="ppaction://hlinksldjump" highlightClick="1"/>
            </p:cNvPr>
            <p:cNvSpPr/>
            <p:nvPr/>
          </p:nvSpPr>
          <p:spPr bwMode="auto">
            <a:xfrm>
              <a:off x="8316416" y="5747436"/>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
        <p:nvSpPr>
          <p:cNvPr id="15" name="Slide Number Placeholder 2"/>
          <p:cNvSpPr>
            <a:spLocks noGrp="1"/>
          </p:cNvSpPr>
          <p:nvPr>
            <p:ph type="sldNum" sz="quarter" idx="4294967295"/>
          </p:nvPr>
        </p:nvSpPr>
        <p:spPr>
          <a:xfrm>
            <a:off x="6553200" y="6356350"/>
            <a:ext cx="2133600" cy="365125"/>
          </a:xfrm>
        </p:spPr>
        <p:txBody>
          <a:bodyPr/>
          <a:lstStyle/>
          <a:p>
            <a:fld id="{418A78CD-E27B-441A-A2B1-21C1D5FFEB65}" type="slidenum">
              <a:rPr lang="en-US" sz="1200" smtClean="0">
                <a:solidFill>
                  <a:prstClr val="black"/>
                </a:solidFill>
                <a:latin typeface="Georgia" pitchFamily="18" charset="0"/>
              </a:rPr>
              <a:pPr/>
              <a:t>48</a:t>
            </a:fld>
            <a:endParaRPr lang="en-US" sz="1200" dirty="0">
              <a:solidFill>
                <a:prstClr val="black"/>
              </a:solidFill>
              <a:latin typeface="Georgia" pitchFamily="18" charset="0"/>
            </a:endParaRPr>
          </a:p>
        </p:txBody>
      </p:sp>
      <p:cxnSp>
        <p:nvCxnSpPr>
          <p:cNvPr id="16" name="Straight Connector 15"/>
          <p:cNvCxnSpPr/>
          <p:nvPr/>
        </p:nvCxnSpPr>
        <p:spPr>
          <a:xfrm>
            <a:off x="468000" y="6310800"/>
            <a:ext cx="8208000" cy="0"/>
          </a:xfrm>
          <a:prstGeom prst="line">
            <a:avLst/>
          </a:prstGeom>
          <a:ln w="19050" cmpd="thickThi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Tree>
    <p:extLst>
      <p:ext uri="{BB962C8B-B14F-4D97-AF65-F5344CB8AC3E}">
        <p14:creationId xmlns:p14="http://schemas.microsoft.com/office/powerpoint/2010/main" val="149759742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49</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a:xfrm>
            <a:off x="468313" y="188640"/>
            <a:ext cx="8208143" cy="432048"/>
          </a:xfrm>
        </p:spPr>
        <p:txBody>
          <a:bodyPr>
            <a:noAutofit/>
          </a:bodyPr>
          <a:lstStyle/>
          <a:p>
            <a:r>
              <a:rPr lang="en-GB" sz="2200" dirty="0" smtClean="0"/>
              <a:t>Recommendations for getting foreign oil companies to invest in national development when resources are uncertain </a:t>
            </a:r>
            <a:endParaRPr lang="en-GB" sz="2200" dirty="0"/>
          </a:p>
        </p:txBody>
      </p:sp>
      <p:sp>
        <p:nvSpPr>
          <p:cNvPr id="5" name="Text Placeholder 4"/>
          <p:cNvSpPr>
            <a:spLocks noGrp="1"/>
          </p:cNvSpPr>
          <p:nvPr>
            <p:ph type="body" sz="quarter" idx="11"/>
          </p:nvPr>
        </p:nvSpPr>
        <p:spPr>
          <a:xfrm>
            <a:off x="467969" y="1340768"/>
            <a:ext cx="8208143" cy="3960440"/>
          </a:xfrm>
        </p:spPr>
        <p:txBody>
          <a:bodyPr>
            <a:normAutofit/>
          </a:bodyPr>
          <a:lstStyle/>
          <a:p>
            <a:r>
              <a:rPr lang="en-US" sz="2200" dirty="0"/>
              <a:t>Focus on building local capacity in goods and services for which the petroleum sector has an immediate </a:t>
            </a:r>
            <a:r>
              <a:rPr lang="en-US" sz="2200" dirty="0" smtClean="0"/>
              <a:t>need</a:t>
            </a:r>
            <a:br>
              <a:rPr lang="en-US" sz="2200" dirty="0" smtClean="0"/>
            </a:br>
            <a:endParaRPr lang="en-US" sz="2200" dirty="0"/>
          </a:p>
          <a:p>
            <a:r>
              <a:rPr lang="en-US" sz="2200" dirty="0" smtClean="0"/>
              <a:t>Prioritize ‘</a:t>
            </a:r>
            <a:r>
              <a:rPr lang="en-US" sz="2200" b="1" dirty="0" smtClean="0"/>
              <a:t>dual use</a:t>
            </a:r>
            <a:r>
              <a:rPr lang="en-US" sz="2200" dirty="0" smtClean="0"/>
              <a:t>’ goods </a:t>
            </a:r>
            <a:r>
              <a:rPr lang="en-US" sz="2200" dirty="0"/>
              <a:t>and services that can be utilized by other sectors in the long </a:t>
            </a:r>
            <a:r>
              <a:rPr lang="en-US" sz="2200" dirty="0" smtClean="0"/>
              <a:t>term</a:t>
            </a:r>
            <a:br>
              <a:rPr lang="en-US" sz="2200" dirty="0" smtClean="0"/>
            </a:br>
            <a:endParaRPr lang="en-US" sz="2200" dirty="0"/>
          </a:p>
          <a:p>
            <a:r>
              <a:rPr lang="en-US" sz="2200" dirty="0"/>
              <a:t>Governments should collaborate with companies to develop training and hiring </a:t>
            </a:r>
            <a:r>
              <a:rPr lang="en-US" sz="2200" dirty="0" smtClean="0"/>
              <a:t>programs (at licensing phase)</a:t>
            </a:r>
            <a:br>
              <a:rPr lang="en-US" sz="2200" dirty="0" smtClean="0"/>
            </a:br>
            <a:endParaRPr lang="en-US" sz="2200" dirty="0" smtClean="0"/>
          </a:p>
          <a:p>
            <a:r>
              <a:rPr lang="en-US" sz="2200" dirty="0" smtClean="0"/>
              <a:t>Local </a:t>
            </a:r>
            <a:r>
              <a:rPr lang="en-US" sz="2200" dirty="0"/>
              <a:t>capacity development commitments should be part </a:t>
            </a:r>
            <a:r>
              <a:rPr lang="en-US" sz="2200" dirty="0" smtClean="0"/>
              <a:t>of </a:t>
            </a:r>
            <a:r>
              <a:rPr lang="en-US" sz="2200" dirty="0"/>
              <a:t>companies’ development plan</a:t>
            </a:r>
            <a:endParaRPr lang="en-GB" sz="2200" dirty="0"/>
          </a:p>
        </p:txBody>
      </p:sp>
      <p:grpSp>
        <p:nvGrpSpPr>
          <p:cNvPr id="10" name="Group 9"/>
          <p:cNvGrpSpPr/>
          <p:nvPr/>
        </p:nvGrpSpPr>
        <p:grpSpPr>
          <a:xfrm>
            <a:off x="7668000" y="5742000"/>
            <a:ext cx="1008112" cy="533028"/>
            <a:chOff x="7668344" y="5747436"/>
            <a:chExt cx="1008112" cy="533028"/>
          </a:xfrm>
        </p:grpSpPr>
        <p:sp>
          <p:nvSpPr>
            <p:cNvPr id="11" name="Action Button: Return 10">
              <a:hlinkClick r:id="rId2" action="ppaction://hlinksldjump" highlightClick="1"/>
            </p:cNvPr>
            <p:cNvSpPr/>
            <p:nvPr/>
          </p:nvSpPr>
          <p:spPr bwMode="auto">
            <a:xfrm>
              <a:off x="7881619" y="5747436"/>
              <a:ext cx="360040" cy="298800"/>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2" name="TextBox 11">
              <a:hlinkClick r:id="" action="ppaction://noaction"/>
            </p:cNvPr>
            <p:cNvSpPr txBox="1"/>
            <p:nvPr/>
          </p:nvSpPr>
          <p:spPr>
            <a:xfrm>
              <a:off x="7668344" y="6026548"/>
              <a:ext cx="792205" cy="253916"/>
            </a:xfrm>
            <a:prstGeom prst="actionButtonReturn">
              <a:avLst/>
            </a:prstGeom>
            <a:noFill/>
          </p:spPr>
          <p:txBody>
            <a:bodyPr wrap="none" rtlCol="0">
              <a:spAutoFit/>
            </a:bodyPr>
            <a:lstStyle/>
            <a:p>
              <a:pPr algn="ctr"/>
              <a:r>
                <a:rPr lang="en-US" sz="1050" i="1" dirty="0" smtClean="0"/>
                <a:t>Objective 5</a:t>
              </a:r>
              <a:endParaRPr lang="en-US" sz="1050" i="1" dirty="0"/>
            </a:p>
          </p:txBody>
        </p:sp>
        <p:sp>
          <p:nvSpPr>
            <p:cNvPr id="13" name="Action Button: Home 12">
              <a:hlinkClick r:id="rId3" action="ppaction://hlinksldjump" highlightClick="1"/>
            </p:cNvPr>
            <p:cNvSpPr/>
            <p:nvPr/>
          </p:nvSpPr>
          <p:spPr bwMode="auto">
            <a:xfrm>
              <a:off x="8316416" y="5747436"/>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Tree>
    <p:extLst>
      <p:ext uri="{BB962C8B-B14F-4D97-AF65-F5344CB8AC3E}">
        <p14:creationId xmlns:p14="http://schemas.microsoft.com/office/powerpoint/2010/main" val="99528125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987824" y="188640"/>
            <a:ext cx="3073998" cy="3023443"/>
            <a:chOff x="2480963" y="311208"/>
            <a:chExt cx="3073998" cy="3023443"/>
          </a:xfrm>
        </p:grpSpPr>
        <p:sp>
          <p:nvSpPr>
            <p:cNvPr id="3" name="Oval 2"/>
            <p:cNvSpPr/>
            <p:nvPr/>
          </p:nvSpPr>
          <p:spPr>
            <a:xfrm>
              <a:off x="2480963" y="311208"/>
              <a:ext cx="3073998" cy="3023443"/>
            </a:xfrm>
            <a:prstGeom prst="ellipse">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4" name="Oval 4"/>
            <p:cNvSpPr/>
            <p:nvPr/>
          </p:nvSpPr>
          <p:spPr>
            <a:xfrm>
              <a:off x="2931140" y="753981"/>
              <a:ext cx="2173644" cy="21378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3020" tIns="33020" rIns="33020" bIns="33020" numCol="1" spcCol="1270" anchor="ctr" anchorCtr="0">
              <a:noAutofit/>
            </a:bodyPr>
            <a:lstStyle/>
            <a:p>
              <a:pPr lvl="0" algn="ctr" defTabSz="1155700">
                <a:lnSpc>
                  <a:spcPct val="90000"/>
                </a:lnSpc>
                <a:spcBef>
                  <a:spcPct val="0"/>
                </a:spcBef>
                <a:spcAft>
                  <a:spcPct val="35000"/>
                </a:spcAft>
              </a:pPr>
              <a:r>
                <a:rPr lang="en-US" sz="2600" kern="1200" dirty="0" smtClean="0"/>
                <a:t>Objective 6: Build capable national organizations</a:t>
              </a:r>
              <a:endParaRPr lang="en-US" sz="2600" kern="1200" dirty="0"/>
            </a:p>
          </p:txBody>
        </p:sp>
      </p:grpSp>
      <p:sp>
        <p:nvSpPr>
          <p:cNvPr id="5" name="Freeform 10">
            <a:hlinkClick r:id="rId2" action="ppaction://hlinksldjump"/>
          </p:cNvPr>
          <p:cNvSpPr/>
          <p:nvPr/>
        </p:nvSpPr>
        <p:spPr>
          <a:xfrm>
            <a:off x="451199" y="3356992"/>
            <a:ext cx="8147248" cy="576064"/>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defTabSz="1555750">
              <a:lnSpc>
                <a:spcPct val="90000"/>
              </a:lnSpc>
              <a:spcAft>
                <a:spcPct val="35000"/>
              </a:spcAft>
            </a:pPr>
            <a:r>
              <a:rPr lang="en-US" sz="2000" dirty="0"/>
              <a:t>Recommendations </a:t>
            </a:r>
            <a:r>
              <a:rPr lang="en-US" sz="2000" dirty="0" smtClean="0"/>
              <a:t>for</a:t>
            </a:r>
            <a:r>
              <a:rPr lang="en-GB" sz="2000" dirty="0">
                <a:cs typeface="Arial Black"/>
              </a:rPr>
              <a:t> </a:t>
            </a:r>
            <a:r>
              <a:rPr lang="en-GB" sz="2000" dirty="0" smtClean="0">
                <a:cs typeface="Arial Black"/>
              </a:rPr>
              <a:t>coordinating foreign advisory services </a:t>
            </a:r>
            <a:endParaRPr lang="en-US" sz="2000" kern="1200" dirty="0"/>
          </a:p>
        </p:txBody>
      </p:sp>
      <p:sp>
        <p:nvSpPr>
          <p:cNvPr id="6" name="Freeform 10">
            <a:hlinkClick r:id="rId3" action="ppaction://hlinksldjump"/>
          </p:cNvPr>
          <p:cNvSpPr/>
          <p:nvPr/>
        </p:nvSpPr>
        <p:spPr>
          <a:xfrm>
            <a:off x="467544" y="4005064"/>
            <a:ext cx="8147248" cy="576064"/>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r>
              <a:rPr lang="en-US" sz="2000" dirty="0" smtClean="0"/>
              <a:t>Recommendations for speeding up capacity in oversight</a:t>
            </a:r>
            <a:endParaRPr lang="en-GB" sz="2000" dirty="0">
              <a:cs typeface="Arial"/>
            </a:endParaRPr>
          </a:p>
        </p:txBody>
      </p:sp>
      <p:sp>
        <p:nvSpPr>
          <p:cNvPr id="11" name="Freeform 10">
            <a:hlinkClick r:id="rId4" action="ppaction://hlinksldjump"/>
          </p:cNvPr>
          <p:cNvSpPr/>
          <p:nvPr/>
        </p:nvSpPr>
        <p:spPr>
          <a:xfrm>
            <a:off x="467544" y="4653136"/>
            <a:ext cx="8147248" cy="576064"/>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r>
              <a:rPr lang="en-US" sz="2000" dirty="0"/>
              <a:t>Recommendations for </a:t>
            </a:r>
            <a:r>
              <a:rPr lang="en-US" sz="2000" dirty="0" smtClean="0"/>
              <a:t>building operator capabilities in the NOC</a:t>
            </a:r>
            <a:endParaRPr lang="en-GB" sz="2000" dirty="0">
              <a:cs typeface="Arial"/>
            </a:endParaRPr>
          </a:p>
        </p:txBody>
      </p:sp>
      <p:sp>
        <p:nvSpPr>
          <p:cNvPr id="12" name="Action Button: Home 11">
            <a:hlinkClick r:id="rId5" action="ppaction://hlinksldjump" highlightClick="1"/>
          </p:cNvPr>
          <p:cNvSpPr/>
          <p:nvPr/>
        </p:nvSpPr>
        <p:spPr bwMode="auto">
          <a:xfrm>
            <a:off x="8317754" y="5937346"/>
            <a:ext cx="360040" cy="288032"/>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3"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14" name="Slide Number Placeholder 2"/>
          <p:cNvSpPr>
            <a:spLocks noGrp="1"/>
          </p:cNvSpPr>
          <p:nvPr>
            <p:ph type="sldNum" sz="quarter" idx="4294967295"/>
          </p:nvPr>
        </p:nvSpPr>
        <p:spPr>
          <a:xfrm>
            <a:off x="6553200" y="6356350"/>
            <a:ext cx="2133600" cy="365125"/>
          </a:xfrm>
        </p:spPr>
        <p:txBody>
          <a:bodyPr/>
          <a:lstStyle/>
          <a:p>
            <a:fld id="{418A78CD-E27B-441A-A2B1-21C1D5FFEB65}" type="slidenum">
              <a:rPr lang="en-US" sz="1200" smtClean="0">
                <a:solidFill>
                  <a:prstClr val="black"/>
                </a:solidFill>
                <a:latin typeface="Georgia" pitchFamily="18" charset="0"/>
              </a:rPr>
              <a:pPr/>
              <a:t>50</a:t>
            </a:fld>
            <a:endParaRPr lang="en-US" sz="1200" dirty="0">
              <a:solidFill>
                <a:prstClr val="black"/>
              </a:solidFill>
              <a:latin typeface="Georgia" pitchFamily="18" charset="0"/>
            </a:endParaRPr>
          </a:p>
        </p:txBody>
      </p:sp>
      <p:cxnSp>
        <p:nvCxnSpPr>
          <p:cNvPr id="15" name="Straight Connector 14"/>
          <p:cNvCxnSpPr/>
          <p:nvPr/>
        </p:nvCxnSpPr>
        <p:spPr>
          <a:xfrm>
            <a:off x="468000" y="6310800"/>
            <a:ext cx="8208000" cy="0"/>
          </a:xfrm>
          <a:prstGeom prst="line">
            <a:avLst/>
          </a:prstGeom>
          <a:ln w="19050" cmpd="thickThi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70399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
          <p:cNvSpPr/>
          <p:nvPr/>
        </p:nvSpPr>
        <p:spPr>
          <a:xfrm>
            <a:off x="496515" y="260648"/>
            <a:ext cx="8035925" cy="792146"/>
          </a:xfrm>
          <a:prstGeom prst="roundRect">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algn="ctr"/>
            <a:r>
              <a:rPr lang="en-US" dirty="0" smtClean="0"/>
              <a:t>Challenge 1: Coordinating </a:t>
            </a:r>
            <a:r>
              <a:rPr lang="en-US" dirty="0"/>
              <a:t>(and getting the most out of) foreign technical advisory services</a:t>
            </a:r>
            <a:endParaRPr lang="en-US" dirty="0">
              <a:solidFill>
                <a:srgbClr val="FF0000"/>
              </a:solidFill>
              <a:latin typeface="Arial"/>
              <a:cs typeface="Arial"/>
            </a:endParaRPr>
          </a:p>
        </p:txBody>
      </p:sp>
      <p:sp>
        <p:nvSpPr>
          <p:cNvPr id="3" name="Rectangle 2"/>
          <p:cNvSpPr/>
          <p:nvPr/>
        </p:nvSpPr>
        <p:spPr>
          <a:xfrm>
            <a:off x="497050" y="1340768"/>
            <a:ext cx="8035390" cy="3477875"/>
          </a:xfrm>
          <a:prstGeom prst="rect">
            <a:avLst/>
          </a:prstGeom>
        </p:spPr>
        <p:txBody>
          <a:bodyPr wrap="square">
            <a:spAutoFit/>
          </a:bodyPr>
          <a:lstStyle/>
          <a:p>
            <a:pPr algn="just"/>
            <a:r>
              <a:rPr lang="en-US" sz="2000" dirty="0">
                <a:latin typeface="Georgia" panose="02040502050405020303" pitchFamily="18" charset="0"/>
              </a:rPr>
              <a:t>Oil and gas hotspots attract foreign donors, technical advisers and consultants that offer guidance and capacity building to help prepare the country for </a:t>
            </a:r>
            <a:r>
              <a:rPr lang="en-US" sz="2000" dirty="0" smtClean="0">
                <a:latin typeface="Georgia" panose="02040502050405020303" pitchFamily="18" charset="0"/>
              </a:rPr>
              <a:t>production.</a:t>
            </a:r>
          </a:p>
          <a:p>
            <a:pPr algn="just"/>
            <a:endParaRPr lang="en-US" sz="2000" dirty="0" smtClean="0">
              <a:latin typeface="Georgia" panose="02040502050405020303" pitchFamily="18" charset="0"/>
            </a:endParaRPr>
          </a:p>
          <a:p>
            <a:pPr algn="just"/>
            <a:r>
              <a:rPr lang="en-US" sz="2000" dirty="0" smtClean="0">
                <a:latin typeface="Georgia" panose="02040502050405020303" pitchFamily="18" charset="0"/>
              </a:rPr>
              <a:t>But some governments receive too much unsolicited advice. These problems were highlighted:</a:t>
            </a:r>
          </a:p>
          <a:p>
            <a:pPr marL="342900" indent="-342900" algn="just">
              <a:buFont typeface="Arial"/>
              <a:buChar char="•"/>
            </a:pPr>
            <a:r>
              <a:rPr lang="en-US" sz="2000" dirty="0" smtClean="0">
                <a:latin typeface="Georgia" panose="02040502050405020303" pitchFamily="18" charset="0"/>
              </a:rPr>
              <a:t>A burden on the senior officials’ time</a:t>
            </a:r>
          </a:p>
          <a:p>
            <a:pPr marL="342900" indent="-342900" algn="just">
              <a:buFont typeface="Arial"/>
              <a:buChar char="•"/>
            </a:pPr>
            <a:r>
              <a:rPr lang="en-US" sz="2000" dirty="0" smtClean="0">
                <a:latin typeface="Georgia" panose="02040502050405020303" pitchFamily="18" charset="0"/>
              </a:rPr>
              <a:t>Lack of coordination of advice between national institutions and between advisors</a:t>
            </a:r>
          </a:p>
          <a:p>
            <a:pPr marL="342900" indent="-342900" algn="just">
              <a:buFont typeface="Arial"/>
              <a:buChar char="•"/>
            </a:pPr>
            <a:r>
              <a:rPr lang="en-US" sz="2000" dirty="0" smtClean="0">
                <a:latin typeface="Georgia" panose="02040502050405020303" pitchFamily="18" charset="0"/>
              </a:rPr>
              <a:t>Lack of incentives for advisors to coordinate</a:t>
            </a:r>
          </a:p>
          <a:p>
            <a:pPr marL="342900" indent="-342900" algn="just">
              <a:buFont typeface="Arial"/>
              <a:buChar char="•"/>
            </a:pPr>
            <a:r>
              <a:rPr lang="en-US" sz="2000" dirty="0" smtClean="0">
                <a:latin typeface="Georgia" panose="02040502050405020303" pitchFamily="18" charset="0"/>
              </a:rPr>
              <a:t>Governments may not be getting the advice they need</a:t>
            </a:r>
            <a:endParaRPr lang="en-US" sz="2000" dirty="0">
              <a:latin typeface="Georgia" panose="02040502050405020303" pitchFamily="18" charset="0"/>
            </a:endParaRPr>
          </a:p>
        </p:txBody>
      </p:sp>
      <p:sp>
        <p:nvSpPr>
          <p:cNvPr id="10" name="Freeform 10">
            <a:hlinkClick r:id="rId2" action="ppaction://hlinksldjump"/>
          </p:cNvPr>
          <p:cNvSpPr/>
          <p:nvPr/>
        </p:nvSpPr>
        <p:spPr>
          <a:xfrm>
            <a:off x="457200" y="5121159"/>
            <a:ext cx="8229600" cy="540089"/>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algn="ctr" defTabSz="1555750">
              <a:lnSpc>
                <a:spcPct val="90000"/>
              </a:lnSpc>
              <a:spcAft>
                <a:spcPct val="35000"/>
              </a:spcAft>
            </a:pPr>
            <a:r>
              <a:rPr lang="en-US" sz="2000" dirty="0" smtClean="0"/>
              <a:t>Recommendations </a:t>
            </a:r>
            <a:r>
              <a:rPr lang="en-GB" sz="2000" dirty="0">
                <a:cs typeface="Arial Black"/>
              </a:rPr>
              <a:t>coordinating foreign advisory services </a:t>
            </a:r>
            <a:endParaRPr lang="en-US" sz="2000" dirty="0"/>
          </a:p>
        </p:txBody>
      </p:sp>
      <p:grpSp>
        <p:nvGrpSpPr>
          <p:cNvPr id="4" name="Group 3"/>
          <p:cNvGrpSpPr/>
          <p:nvPr/>
        </p:nvGrpSpPr>
        <p:grpSpPr>
          <a:xfrm>
            <a:off x="7668000" y="5742000"/>
            <a:ext cx="1007451" cy="580847"/>
            <a:chOff x="7596219" y="5733058"/>
            <a:chExt cx="1007451" cy="580847"/>
          </a:xfrm>
        </p:grpSpPr>
        <p:sp>
          <p:nvSpPr>
            <p:cNvPr id="5" name="Action Button: Return 4">
              <a:hlinkClick r:id="rId3" action="ppaction://hlinksldjump" highlightClick="1"/>
            </p:cNvPr>
            <p:cNvSpPr/>
            <p:nvPr/>
          </p:nvSpPr>
          <p:spPr bwMode="auto">
            <a:xfrm>
              <a:off x="7787504" y="5733256"/>
              <a:ext cx="360040" cy="298800"/>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7" name="Action Button: Home 6">
              <a:hlinkClick r:id="rId4" action="ppaction://hlinksldjump" highlightClick="1"/>
            </p:cNvPr>
            <p:cNvSpPr/>
            <p:nvPr/>
          </p:nvSpPr>
          <p:spPr bwMode="auto">
            <a:xfrm>
              <a:off x="8243630" y="5733058"/>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1" name="TextBox 10">
              <a:hlinkClick r:id="" action="ppaction://noaction"/>
            </p:cNvPr>
            <p:cNvSpPr txBox="1"/>
            <p:nvPr/>
          </p:nvSpPr>
          <p:spPr>
            <a:xfrm>
              <a:off x="7596219" y="6059989"/>
              <a:ext cx="792205" cy="253916"/>
            </a:xfrm>
            <a:prstGeom prst="actionButtonReturn">
              <a:avLst/>
            </a:prstGeom>
            <a:noFill/>
          </p:spPr>
          <p:txBody>
            <a:bodyPr wrap="none" rtlCol="0">
              <a:spAutoFit/>
            </a:bodyPr>
            <a:lstStyle/>
            <a:p>
              <a:pPr algn="ctr"/>
              <a:r>
                <a:rPr lang="en-US" sz="1050" i="1" dirty="0" smtClean="0"/>
                <a:t>Objective 6</a:t>
              </a:r>
              <a:endParaRPr lang="en-US" sz="1050" i="1" dirty="0"/>
            </a:p>
          </p:txBody>
        </p:sp>
      </p:grpSp>
      <p:cxnSp>
        <p:nvCxnSpPr>
          <p:cNvPr id="12" name="Straight Connector 11"/>
          <p:cNvCxnSpPr/>
          <p:nvPr/>
        </p:nvCxnSpPr>
        <p:spPr>
          <a:xfrm>
            <a:off x="468000" y="6310800"/>
            <a:ext cx="8208000" cy="0"/>
          </a:xfrm>
          <a:prstGeom prst="line">
            <a:avLst/>
          </a:prstGeom>
          <a:ln w="19050" cmpd="thickThi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Slide Number Placeholder 2"/>
          <p:cNvSpPr>
            <a:spLocks noGrp="1"/>
          </p:cNvSpPr>
          <p:nvPr>
            <p:ph type="sldNum" sz="quarter" idx="4294967295"/>
          </p:nvPr>
        </p:nvSpPr>
        <p:spPr>
          <a:xfrm>
            <a:off x="6553200" y="6356350"/>
            <a:ext cx="2133600" cy="365125"/>
          </a:xfrm>
        </p:spPr>
        <p:txBody>
          <a:bodyPr/>
          <a:lstStyle/>
          <a:p>
            <a:fld id="{418A78CD-E27B-441A-A2B1-21C1D5FFEB65}" type="slidenum">
              <a:rPr lang="en-US" sz="1200" smtClean="0">
                <a:solidFill>
                  <a:prstClr val="black"/>
                </a:solidFill>
                <a:latin typeface="Georgia" pitchFamily="18" charset="0"/>
              </a:rPr>
              <a:pPr/>
              <a:t>51</a:t>
            </a:fld>
            <a:endParaRPr lang="en-US" sz="1200" dirty="0">
              <a:solidFill>
                <a:prstClr val="black"/>
              </a:solidFill>
              <a:latin typeface="Georgia" pitchFamily="18" charset="0"/>
            </a:endParaRPr>
          </a:p>
        </p:txBody>
      </p:sp>
      <p:sp>
        <p:nvSpPr>
          <p:cNvPr id="14"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Tree>
    <p:extLst>
      <p:ext uri="{BB962C8B-B14F-4D97-AF65-F5344CB8AC3E}">
        <p14:creationId xmlns:p14="http://schemas.microsoft.com/office/powerpoint/2010/main" val="45993244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52</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a:xfrm>
            <a:off x="467544" y="116632"/>
            <a:ext cx="8208143" cy="432048"/>
          </a:xfrm>
        </p:spPr>
        <p:txBody>
          <a:bodyPr>
            <a:noAutofit/>
          </a:bodyPr>
          <a:lstStyle/>
          <a:p>
            <a:r>
              <a:rPr lang="en-GB" sz="2400" dirty="0" smtClean="0"/>
              <a:t>Recommendations for coordinating (and getting the most out of it) foreign technical advisory services </a:t>
            </a:r>
            <a:endParaRPr lang="en-GB" sz="2400" dirty="0"/>
          </a:p>
        </p:txBody>
      </p:sp>
      <p:sp>
        <p:nvSpPr>
          <p:cNvPr id="5" name="Text Placeholder 4"/>
          <p:cNvSpPr>
            <a:spLocks noGrp="1"/>
          </p:cNvSpPr>
          <p:nvPr>
            <p:ph type="body" sz="quarter" idx="11"/>
          </p:nvPr>
        </p:nvSpPr>
        <p:spPr>
          <a:xfrm>
            <a:off x="467308" y="1556792"/>
            <a:ext cx="8208143" cy="3600400"/>
          </a:xfrm>
        </p:spPr>
        <p:txBody>
          <a:bodyPr>
            <a:normAutofit fontScale="77500" lnSpcReduction="20000"/>
          </a:bodyPr>
          <a:lstStyle/>
          <a:p>
            <a:pPr>
              <a:buFont typeface="Arial"/>
              <a:buChar char="•"/>
            </a:pPr>
            <a:r>
              <a:rPr lang="en-US" sz="2800" dirty="0" smtClean="0"/>
              <a:t>Advisers should give governments the space and time to think through their vision for the sector and formulate needs </a:t>
            </a:r>
            <a:endParaRPr lang="en-US" sz="2800" dirty="0"/>
          </a:p>
          <a:p>
            <a:pPr>
              <a:buFont typeface="Arial"/>
              <a:buChar char="•"/>
            </a:pPr>
            <a:endParaRPr lang="en-US" sz="2800" dirty="0" smtClean="0"/>
          </a:p>
          <a:p>
            <a:pPr>
              <a:buFont typeface="Arial"/>
              <a:buChar char="•"/>
            </a:pPr>
            <a:r>
              <a:rPr lang="en-US" sz="2800" dirty="0" smtClean="0"/>
              <a:t>Governments should outline needs in a Terms of Reference, or a roadmap strategy, and require advisers to submit bids outlining their capacity</a:t>
            </a:r>
          </a:p>
          <a:p>
            <a:pPr>
              <a:buFont typeface="Arial"/>
              <a:buChar char="•"/>
            </a:pPr>
            <a:endParaRPr lang="en-US" sz="2800" dirty="0" smtClean="0"/>
          </a:p>
          <a:p>
            <a:pPr>
              <a:buFont typeface="Arial"/>
              <a:buChar char="•"/>
            </a:pPr>
            <a:r>
              <a:rPr lang="en-US" sz="2800" dirty="0" smtClean="0"/>
              <a:t>Government should speak with one voice and coordinate assistance nationally</a:t>
            </a:r>
          </a:p>
          <a:p>
            <a:pPr>
              <a:buFont typeface="Arial"/>
              <a:buChar char="•"/>
            </a:pPr>
            <a:endParaRPr lang="en-US" sz="2800" dirty="0" smtClean="0"/>
          </a:p>
          <a:p>
            <a:pPr>
              <a:buFont typeface="Arial"/>
              <a:buChar char="•"/>
            </a:pPr>
            <a:r>
              <a:rPr lang="en-US" sz="2800" dirty="0" smtClean="0"/>
              <a:t>Advisers should adapt recommendations to national context (as per Guidelines)</a:t>
            </a:r>
            <a:endParaRPr lang="en-GB" dirty="0"/>
          </a:p>
        </p:txBody>
      </p:sp>
      <p:grpSp>
        <p:nvGrpSpPr>
          <p:cNvPr id="11" name="Group 10"/>
          <p:cNvGrpSpPr/>
          <p:nvPr/>
        </p:nvGrpSpPr>
        <p:grpSpPr>
          <a:xfrm>
            <a:off x="7668000" y="5742000"/>
            <a:ext cx="1007451" cy="580847"/>
            <a:chOff x="7596219" y="5733058"/>
            <a:chExt cx="1007451" cy="580847"/>
          </a:xfrm>
        </p:grpSpPr>
        <p:sp>
          <p:nvSpPr>
            <p:cNvPr id="12" name="Action Button: Return 11">
              <a:hlinkClick r:id="rId2" action="ppaction://hlinksldjump" highlightClick="1"/>
            </p:cNvPr>
            <p:cNvSpPr/>
            <p:nvPr/>
          </p:nvSpPr>
          <p:spPr bwMode="auto">
            <a:xfrm>
              <a:off x="7787504" y="5733256"/>
              <a:ext cx="360040" cy="298800"/>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3" name="Action Button: Home 12">
              <a:hlinkClick r:id="rId3" action="ppaction://hlinksldjump" highlightClick="1"/>
            </p:cNvPr>
            <p:cNvSpPr/>
            <p:nvPr/>
          </p:nvSpPr>
          <p:spPr bwMode="auto">
            <a:xfrm>
              <a:off x="8243630" y="5733058"/>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4" name="TextBox 13">
              <a:hlinkClick r:id="" action="ppaction://noaction"/>
            </p:cNvPr>
            <p:cNvSpPr txBox="1"/>
            <p:nvPr/>
          </p:nvSpPr>
          <p:spPr>
            <a:xfrm>
              <a:off x="7596219" y="6059989"/>
              <a:ext cx="792205" cy="253916"/>
            </a:xfrm>
            <a:prstGeom prst="actionButtonReturn">
              <a:avLst/>
            </a:prstGeom>
            <a:noFill/>
          </p:spPr>
          <p:txBody>
            <a:bodyPr wrap="none" rtlCol="0">
              <a:spAutoFit/>
            </a:bodyPr>
            <a:lstStyle/>
            <a:p>
              <a:pPr algn="ctr"/>
              <a:r>
                <a:rPr lang="en-US" sz="1050" i="1" dirty="0" smtClean="0"/>
                <a:t>Objective 6</a:t>
              </a:r>
              <a:endParaRPr lang="en-US" sz="1050" i="1" dirty="0"/>
            </a:p>
          </p:txBody>
        </p:sp>
      </p:grpSp>
    </p:spTree>
    <p:extLst>
      <p:ext uri="{BB962C8B-B14F-4D97-AF65-F5344CB8AC3E}">
        <p14:creationId xmlns:p14="http://schemas.microsoft.com/office/powerpoint/2010/main" val="195892665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
          <p:cNvSpPr/>
          <p:nvPr/>
        </p:nvSpPr>
        <p:spPr>
          <a:xfrm>
            <a:off x="496515" y="260648"/>
            <a:ext cx="8035925" cy="792146"/>
          </a:xfrm>
          <a:prstGeom prst="roundRect">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algn="ctr"/>
            <a:r>
              <a:rPr lang="en-US" sz="2000" dirty="0" smtClean="0"/>
              <a:t>Challenge 2: Speeding up capacity-building in oversight functions</a:t>
            </a:r>
            <a:endParaRPr lang="en-US" sz="2000" dirty="0"/>
          </a:p>
        </p:txBody>
      </p:sp>
      <p:sp>
        <p:nvSpPr>
          <p:cNvPr id="3" name="Rectangle 2"/>
          <p:cNvSpPr/>
          <p:nvPr/>
        </p:nvSpPr>
        <p:spPr>
          <a:xfrm>
            <a:off x="611560" y="1324506"/>
            <a:ext cx="7920880" cy="1600438"/>
          </a:xfrm>
          <a:prstGeom prst="rect">
            <a:avLst/>
          </a:prstGeom>
        </p:spPr>
        <p:txBody>
          <a:bodyPr wrap="square">
            <a:spAutoFit/>
          </a:bodyPr>
          <a:lstStyle/>
          <a:p>
            <a:r>
              <a:rPr lang="en-US" sz="2000" dirty="0">
                <a:latin typeface="Georgia" panose="02040502050405020303" pitchFamily="18" charset="0"/>
              </a:rPr>
              <a:t>Bodies with responsibility for governing the sector require financial resources, information, human capacity, and supporting processes</a:t>
            </a:r>
          </a:p>
          <a:p>
            <a:r>
              <a:rPr lang="en-US" sz="2000" dirty="0">
                <a:latin typeface="Georgia" panose="02040502050405020303" pitchFamily="18" charset="0"/>
              </a:rPr>
              <a:t>Government with limited resources must determine which functions and which actors to prioritize in capacity building efforts</a:t>
            </a:r>
          </a:p>
          <a:p>
            <a:endParaRPr lang="en-US" dirty="0"/>
          </a:p>
        </p:txBody>
      </p:sp>
      <p:sp>
        <p:nvSpPr>
          <p:cNvPr id="4" name="Content Placeholder 2"/>
          <p:cNvSpPr txBox="1">
            <a:spLocks/>
          </p:cNvSpPr>
          <p:nvPr/>
        </p:nvSpPr>
        <p:spPr bwMode="auto">
          <a:xfrm>
            <a:off x="512484" y="3140968"/>
            <a:ext cx="8035925"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Times" charset="0"/>
              <a:buChar char="•"/>
              <a:defRPr sz="2400">
                <a:solidFill>
                  <a:srgbClr val="006699"/>
                </a:solidFill>
                <a:latin typeface="+mn-lt"/>
                <a:ea typeface="ＭＳ Ｐゴシック" charset="0"/>
                <a:cs typeface="Geneva" charset="0"/>
              </a:defRPr>
            </a:lvl1pPr>
            <a:lvl2pPr marL="742950" indent="-285750" algn="l" rtl="0" eaLnBrk="0" fontAlgn="base" hangingPunct="0">
              <a:spcBef>
                <a:spcPct val="20000"/>
              </a:spcBef>
              <a:spcAft>
                <a:spcPct val="0"/>
              </a:spcAft>
              <a:buChar char="–"/>
              <a:defRPr sz="2000">
                <a:solidFill>
                  <a:srgbClr val="006699"/>
                </a:solidFill>
                <a:latin typeface="+mn-lt"/>
                <a:ea typeface="Geneva" charset="-128"/>
                <a:cs typeface="Geneva" charset="0"/>
              </a:defRPr>
            </a:lvl2pPr>
            <a:lvl3pPr marL="1143000" indent="-228600" algn="l" rtl="0" eaLnBrk="0" fontAlgn="base" hangingPunct="0">
              <a:spcBef>
                <a:spcPct val="20000"/>
              </a:spcBef>
              <a:spcAft>
                <a:spcPct val="0"/>
              </a:spcAft>
              <a:buChar char="•"/>
              <a:defRPr sz="2400">
                <a:solidFill>
                  <a:schemeClr val="tx1"/>
                </a:solidFill>
                <a:latin typeface="+mn-lt"/>
                <a:ea typeface="Geneva" charset="-128"/>
                <a:cs typeface="Geneva" charset="0"/>
              </a:defRPr>
            </a:lvl3pPr>
            <a:lvl4pPr marL="1600200" indent="-228600" algn="l" rtl="0" eaLnBrk="0" fontAlgn="base" hangingPunct="0">
              <a:spcBef>
                <a:spcPct val="20000"/>
              </a:spcBef>
              <a:spcAft>
                <a:spcPct val="0"/>
              </a:spcAft>
              <a:buChar char="–"/>
              <a:defRPr sz="2000">
                <a:solidFill>
                  <a:schemeClr val="tx1"/>
                </a:solidFill>
                <a:latin typeface="+mn-lt"/>
                <a:ea typeface="Geneva" charset="-128"/>
                <a:cs typeface="Geneva" charset="0"/>
              </a:defRPr>
            </a:lvl4pPr>
            <a:lvl5pPr marL="2057400" indent="-228600" algn="l" rtl="0" eaLnBrk="0" fontAlgn="base" hangingPunct="0">
              <a:spcBef>
                <a:spcPct val="20000"/>
              </a:spcBef>
              <a:spcAft>
                <a:spcPct val="0"/>
              </a:spcAft>
              <a:buChar char="»"/>
              <a:defRPr sz="2000">
                <a:solidFill>
                  <a:schemeClr val="tx1"/>
                </a:solidFill>
                <a:latin typeface="+mn-lt"/>
                <a:ea typeface="Geneva" charset="-128"/>
                <a:cs typeface="Geneva" charset="0"/>
              </a:defRPr>
            </a:lvl5pPr>
            <a:lvl6pPr marL="2514600" indent="-228600" algn="l" rtl="0" fontAlgn="base">
              <a:spcBef>
                <a:spcPct val="20000"/>
              </a:spcBef>
              <a:spcAft>
                <a:spcPct val="0"/>
              </a:spcAft>
              <a:buChar char="»"/>
              <a:defRPr sz="2000">
                <a:solidFill>
                  <a:schemeClr val="tx1"/>
                </a:solidFill>
                <a:latin typeface="+mn-lt"/>
                <a:ea typeface="Geneva" charset="-128"/>
              </a:defRPr>
            </a:lvl6pPr>
            <a:lvl7pPr marL="2971800" indent="-228600" algn="l" rtl="0" fontAlgn="base">
              <a:spcBef>
                <a:spcPct val="20000"/>
              </a:spcBef>
              <a:spcAft>
                <a:spcPct val="0"/>
              </a:spcAft>
              <a:buChar char="»"/>
              <a:defRPr sz="2000">
                <a:solidFill>
                  <a:schemeClr val="tx1"/>
                </a:solidFill>
                <a:latin typeface="+mn-lt"/>
                <a:ea typeface="Geneva" charset="-128"/>
              </a:defRPr>
            </a:lvl7pPr>
            <a:lvl8pPr marL="3429000" indent="-228600" algn="l" rtl="0" fontAlgn="base">
              <a:spcBef>
                <a:spcPct val="20000"/>
              </a:spcBef>
              <a:spcAft>
                <a:spcPct val="0"/>
              </a:spcAft>
              <a:buChar char="»"/>
              <a:defRPr sz="2000">
                <a:solidFill>
                  <a:schemeClr val="tx1"/>
                </a:solidFill>
                <a:latin typeface="+mn-lt"/>
                <a:ea typeface="Geneva" charset="-128"/>
              </a:defRPr>
            </a:lvl8pPr>
            <a:lvl9pPr marL="3886200" indent="-228600" algn="l" rtl="0" fontAlgn="base">
              <a:spcBef>
                <a:spcPct val="20000"/>
              </a:spcBef>
              <a:spcAft>
                <a:spcPct val="0"/>
              </a:spcAft>
              <a:buChar char="»"/>
              <a:defRPr sz="2000">
                <a:solidFill>
                  <a:schemeClr val="tx1"/>
                </a:solidFill>
                <a:latin typeface="+mn-lt"/>
                <a:ea typeface="Geneva" charset="-128"/>
              </a:defRPr>
            </a:lvl9pPr>
          </a:lstStyle>
          <a:p>
            <a:pPr marL="0" indent="0" algn="ctr">
              <a:buFont typeface="Times" charset="0"/>
              <a:buNone/>
            </a:pPr>
            <a:r>
              <a:rPr lang="en-US" sz="2000" i="1" dirty="0" smtClean="0">
                <a:solidFill>
                  <a:schemeClr val="tx1"/>
                </a:solidFill>
                <a:latin typeface="Georgia" pitchFamily="18" charset="0"/>
              </a:rPr>
              <a:t>“In a small island developing country with relatively limited resources, it would be a mistake to duplicate tasks”</a:t>
            </a:r>
          </a:p>
          <a:p>
            <a:pPr marL="0" indent="0" algn="r">
              <a:buFont typeface="Times" charset="0"/>
              <a:buNone/>
            </a:pPr>
            <a:r>
              <a:rPr lang="en-US" sz="1100" i="1" dirty="0" smtClean="0">
                <a:solidFill>
                  <a:schemeClr val="tx1"/>
                </a:solidFill>
                <a:latin typeface="Georgia" pitchFamily="18" charset="0"/>
              </a:rPr>
              <a:t>–Eddie Belle, </a:t>
            </a:r>
            <a:br>
              <a:rPr lang="en-US" sz="1100" i="1" dirty="0" smtClean="0">
                <a:solidFill>
                  <a:schemeClr val="tx1"/>
                </a:solidFill>
                <a:latin typeface="Georgia" pitchFamily="18" charset="0"/>
              </a:rPr>
            </a:br>
            <a:r>
              <a:rPr lang="en-US" sz="1100" i="1" dirty="0" smtClean="0">
                <a:solidFill>
                  <a:schemeClr val="tx1"/>
                </a:solidFill>
                <a:latin typeface="Georgia" pitchFamily="18" charset="0"/>
              </a:rPr>
              <a:t>CEO of PetroSeychelles</a:t>
            </a:r>
            <a:endParaRPr lang="en-US" sz="1100" i="1" dirty="0">
              <a:solidFill>
                <a:schemeClr val="tx1"/>
              </a:solidFill>
              <a:latin typeface="Georgia" pitchFamily="18" charset="0"/>
            </a:endParaRPr>
          </a:p>
        </p:txBody>
      </p:sp>
      <p:sp>
        <p:nvSpPr>
          <p:cNvPr id="5" name="Freeform 10">
            <a:hlinkClick r:id="rId2" action="ppaction://hlinksldjump"/>
          </p:cNvPr>
          <p:cNvSpPr/>
          <p:nvPr/>
        </p:nvSpPr>
        <p:spPr>
          <a:xfrm>
            <a:off x="524668" y="5085184"/>
            <a:ext cx="8229600" cy="540089"/>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algn="ctr" defTabSz="1555750">
              <a:lnSpc>
                <a:spcPct val="90000"/>
              </a:lnSpc>
              <a:spcAft>
                <a:spcPct val="35000"/>
              </a:spcAft>
            </a:pPr>
            <a:r>
              <a:rPr lang="en-US" sz="2000" dirty="0"/>
              <a:t>Recommendations for speeding up capacity in </a:t>
            </a:r>
            <a:r>
              <a:rPr lang="en-US" sz="2000" dirty="0" smtClean="0"/>
              <a:t>oversight</a:t>
            </a:r>
            <a:endParaRPr lang="en-GB" sz="2000" dirty="0">
              <a:cs typeface="Arial"/>
            </a:endParaRPr>
          </a:p>
        </p:txBody>
      </p:sp>
      <p:grpSp>
        <p:nvGrpSpPr>
          <p:cNvPr id="12" name="Group 11"/>
          <p:cNvGrpSpPr/>
          <p:nvPr/>
        </p:nvGrpSpPr>
        <p:grpSpPr>
          <a:xfrm>
            <a:off x="7668000" y="5742000"/>
            <a:ext cx="1007451" cy="580847"/>
            <a:chOff x="7596219" y="5733058"/>
            <a:chExt cx="1007451" cy="580847"/>
          </a:xfrm>
        </p:grpSpPr>
        <p:sp>
          <p:nvSpPr>
            <p:cNvPr id="13" name="Action Button: Return 12">
              <a:hlinkClick r:id="rId3" action="ppaction://hlinksldjump" highlightClick="1"/>
            </p:cNvPr>
            <p:cNvSpPr/>
            <p:nvPr/>
          </p:nvSpPr>
          <p:spPr bwMode="auto">
            <a:xfrm>
              <a:off x="7787504" y="5733256"/>
              <a:ext cx="360040" cy="298800"/>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4" name="Action Button: Home 13">
              <a:hlinkClick r:id="rId4" action="ppaction://hlinksldjump" highlightClick="1"/>
            </p:cNvPr>
            <p:cNvSpPr/>
            <p:nvPr/>
          </p:nvSpPr>
          <p:spPr bwMode="auto">
            <a:xfrm>
              <a:off x="8243630" y="5733058"/>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5" name="TextBox 14">
              <a:hlinkClick r:id="" action="ppaction://noaction"/>
            </p:cNvPr>
            <p:cNvSpPr txBox="1"/>
            <p:nvPr/>
          </p:nvSpPr>
          <p:spPr>
            <a:xfrm>
              <a:off x="7596219" y="6059989"/>
              <a:ext cx="792205" cy="253916"/>
            </a:xfrm>
            <a:prstGeom prst="actionButtonReturn">
              <a:avLst/>
            </a:prstGeom>
            <a:noFill/>
          </p:spPr>
          <p:txBody>
            <a:bodyPr wrap="none" rtlCol="0">
              <a:spAutoFit/>
            </a:bodyPr>
            <a:lstStyle/>
            <a:p>
              <a:pPr algn="ctr"/>
              <a:r>
                <a:rPr lang="en-US" sz="1050" i="1" dirty="0" smtClean="0"/>
                <a:t>Objective 6</a:t>
              </a:r>
              <a:endParaRPr lang="en-US" sz="1050" i="1" dirty="0"/>
            </a:p>
          </p:txBody>
        </p:sp>
      </p:grpSp>
      <p:cxnSp>
        <p:nvCxnSpPr>
          <p:cNvPr id="16" name="Straight Connector 15"/>
          <p:cNvCxnSpPr/>
          <p:nvPr/>
        </p:nvCxnSpPr>
        <p:spPr>
          <a:xfrm>
            <a:off x="468000" y="6310800"/>
            <a:ext cx="8208000" cy="0"/>
          </a:xfrm>
          <a:prstGeom prst="line">
            <a:avLst/>
          </a:prstGeom>
          <a:ln w="19050" cmpd="thickThi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Slide Number Placeholder 2"/>
          <p:cNvSpPr>
            <a:spLocks noGrp="1"/>
          </p:cNvSpPr>
          <p:nvPr>
            <p:ph type="sldNum" sz="quarter" idx="4294967295"/>
          </p:nvPr>
        </p:nvSpPr>
        <p:spPr>
          <a:xfrm>
            <a:off x="6553200" y="6356350"/>
            <a:ext cx="2133600" cy="365125"/>
          </a:xfrm>
        </p:spPr>
        <p:txBody>
          <a:bodyPr/>
          <a:lstStyle/>
          <a:p>
            <a:fld id="{418A78CD-E27B-441A-A2B1-21C1D5FFEB65}" type="slidenum">
              <a:rPr lang="en-US" sz="1200" smtClean="0">
                <a:solidFill>
                  <a:prstClr val="black"/>
                </a:solidFill>
                <a:latin typeface="Georgia" pitchFamily="18" charset="0"/>
              </a:rPr>
              <a:pPr/>
              <a:t>53</a:t>
            </a:fld>
            <a:endParaRPr lang="en-US" sz="1200" dirty="0">
              <a:solidFill>
                <a:prstClr val="black"/>
              </a:solidFill>
              <a:latin typeface="Georgia" pitchFamily="18" charset="0"/>
            </a:endParaRPr>
          </a:p>
        </p:txBody>
      </p:sp>
      <p:sp>
        <p:nvSpPr>
          <p:cNvPr id="18"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Tree>
    <p:extLst>
      <p:ext uri="{BB962C8B-B14F-4D97-AF65-F5344CB8AC3E}">
        <p14:creationId xmlns:p14="http://schemas.microsoft.com/office/powerpoint/2010/main" val="234587367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4" name="Text Placeholder 3"/>
          <p:cNvSpPr>
            <a:spLocks noGrp="1"/>
          </p:cNvSpPr>
          <p:nvPr>
            <p:ph type="body" sz="quarter" idx="10"/>
          </p:nvPr>
        </p:nvSpPr>
        <p:spPr>
          <a:xfrm>
            <a:off x="468313" y="116632"/>
            <a:ext cx="8208143" cy="648072"/>
          </a:xfrm>
        </p:spPr>
        <p:txBody>
          <a:bodyPr>
            <a:noAutofit/>
          </a:bodyPr>
          <a:lstStyle/>
          <a:p>
            <a:r>
              <a:rPr lang="en-GB" sz="2400" dirty="0" smtClean="0"/>
              <a:t>Recommendations for speeding up capacity-building in oversight functions (1/3)</a:t>
            </a:r>
            <a:endParaRPr lang="en-GB" sz="2400" dirty="0"/>
          </a:p>
        </p:txBody>
      </p:sp>
      <p:sp>
        <p:nvSpPr>
          <p:cNvPr id="5" name="Text Placeholder 4"/>
          <p:cNvSpPr>
            <a:spLocks noGrp="1"/>
          </p:cNvSpPr>
          <p:nvPr>
            <p:ph type="body" sz="quarter" idx="11"/>
          </p:nvPr>
        </p:nvSpPr>
        <p:spPr>
          <a:xfrm>
            <a:off x="467308" y="1295482"/>
            <a:ext cx="8208143" cy="4464496"/>
          </a:xfrm>
        </p:spPr>
        <p:txBody>
          <a:bodyPr>
            <a:noAutofit/>
          </a:bodyPr>
          <a:lstStyle/>
          <a:p>
            <a:pPr>
              <a:buFont typeface="Arial"/>
              <a:buChar char="•"/>
            </a:pPr>
            <a:r>
              <a:rPr lang="en-US" sz="2000" dirty="0" smtClean="0"/>
              <a:t>Low capacity? </a:t>
            </a:r>
          </a:p>
          <a:p>
            <a:pPr lvl="1">
              <a:buFont typeface="Arial"/>
              <a:buChar char="•"/>
            </a:pPr>
            <a:r>
              <a:rPr lang="en-US" sz="1800" b="1" dirty="0" smtClean="0"/>
              <a:t>Concentrate</a:t>
            </a:r>
            <a:r>
              <a:rPr lang="en-US" sz="1800" dirty="0" smtClean="0"/>
              <a:t> </a:t>
            </a:r>
            <a:r>
              <a:rPr lang="en-US" sz="1800" dirty="0"/>
              <a:t>responsibilities in either the ministry of energy or the </a:t>
            </a:r>
            <a:r>
              <a:rPr lang="en-US" sz="1800" dirty="0" smtClean="0"/>
              <a:t>NOC</a:t>
            </a:r>
            <a:endParaRPr lang="en-US" sz="1800" dirty="0"/>
          </a:p>
          <a:p>
            <a:pPr>
              <a:buFont typeface="Arial"/>
              <a:buChar char="•"/>
            </a:pPr>
            <a:r>
              <a:rPr lang="en-US" sz="2000" dirty="0" smtClean="0"/>
              <a:t>Early stage? </a:t>
            </a:r>
          </a:p>
          <a:p>
            <a:pPr lvl="1">
              <a:buFont typeface="Arial"/>
              <a:buChar char="•"/>
            </a:pPr>
            <a:r>
              <a:rPr lang="en-US" sz="1800" dirty="0" smtClean="0"/>
              <a:t>Build capacity </a:t>
            </a:r>
            <a:r>
              <a:rPr lang="en-US" sz="1800" dirty="0"/>
              <a:t>at the revenue authority in order to establish effective tax </a:t>
            </a:r>
            <a:r>
              <a:rPr lang="en-US" sz="1800" dirty="0" smtClean="0"/>
              <a:t>policies</a:t>
            </a:r>
          </a:p>
          <a:p>
            <a:pPr lvl="1">
              <a:buFont typeface="Arial"/>
              <a:buChar char="•"/>
            </a:pPr>
            <a:r>
              <a:rPr lang="en-US" sz="1800" dirty="0" smtClean="0"/>
              <a:t>Allocate </a:t>
            </a:r>
            <a:r>
              <a:rPr lang="en-US" sz="1800" dirty="0"/>
              <a:t>data, licensing and promotion authorities to a single entity</a:t>
            </a:r>
          </a:p>
          <a:p>
            <a:pPr>
              <a:buFont typeface="Arial"/>
              <a:buChar char="•"/>
            </a:pPr>
            <a:r>
              <a:rPr lang="en-US" sz="2000" dirty="0"/>
              <a:t>After </a:t>
            </a:r>
            <a:r>
              <a:rPr lang="en-US" sz="2000" dirty="0" smtClean="0"/>
              <a:t>discoveries?</a:t>
            </a:r>
          </a:p>
          <a:p>
            <a:pPr lvl="1">
              <a:buFont typeface="Arial"/>
              <a:buChar char="•"/>
            </a:pPr>
            <a:r>
              <a:rPr lang="en-US" sz="1800" dirty="0" smtClean="0"/>
              <a:t> </a:t>
            </a:r>
            <a:r>
              <a:rPr lang="en-US" sz="1800" dirty="0"/>
              <a:t>F</a:t>
            </a:r>
            <a:r>
              <a:rPr lang="en-US" sz="1800" dirty="0" smtClean="0"/>
              <a:t>ocus </a:t>
            </a:r>
            <a:r>
              <a:rPr lang="en-US" sz="1800" dirty="0"/>
              <a:t>on capacity to </a:t>
            </a:r>
            <a:r>
              <a:rPr lang="en-US" sz="1800" b="1" dirty="0"/>
              <a:t>audit</a:t>
            </a:r>
            <a:r>
              <a:rPr lang="en-US" sz="1800" dirty="0"/>
              <a:t> and </a:t>
            </a:r>
            <a:r>
              <a:rPr lang="en-US" sz="1800" b="1" dirty="0"/>
              <a:t>monitor</a:t>
            </a:r>
            <a:r>
              <a:rPr lang="en-US" sz="1800" dirty="0"/>
              <a:t> operations</a:t>
            </a:r>
          </a:p>
          <a:p>
            <a:pPr>
              <a:buFont typeface="Arial"/>
              <a:buChar char="•"/>
            </a:pPr>
            <a:r>
              <a:rPr lang="en-US" sz="2000" dirty="0" smtClean="0"/>
              <a:t>Big discoveries? </a:t>
            </a:r>
          </a:p>
          <a:p>
            <a:pPr lvl="1">
              <a:buFont typeface="Arial"/>
              <a:buChar char="•"/>
            </a:pPr>
            <a:r>
              <a:rPr lang="en-US" sz="1800" dirty="0" smtClean="0"/>
              <a:t>Boost administrative </a:t>
            </a:r>
            <a:r>
              <a:rPr lang="en-US" sz="1800" dirty="0"/>
              <a:t>capabilities and </a:t>
            </a:r>
            <a:r>
              <a:rPr lang="en-US" sz="1800" dirty="0" smtClean="0"/>
              <a:t>petroleum</a:t>
            </a:r>
            <a:r>
              <a:rPr lang="en-US" sz="1800" dirty="0"/>
              <a:t>-sector knowledge in </a:t>
            </a:r>
            <a:r>
              <a:rPr lang="en-US" sz="1800" b="1" dirty="0" smtClean="0"/>
              <a:t>government</a:t>
            </a:r>
          </a:p>
          <a:p>
            <a:pPr lvl="1">
              <a:buFont typeface="Arial"/>
              <a:buChar char="•"/>
            </a:pPr>
            <a:r>
              <a:rPr lang="en-US" sz="1800" dirty="0" smtClean="0"/>
              <a:t>NOC wants to be an operator? </a:t>
            </a:r>
            <a:r>
              <a:rPr lang="en-US" sz="1800" dirty="0"/>
              <a:t>T</a:t>
            </a:r>
            <a:r>
              <a:rPr lang="en-US" sz="1800" dirty="0" smtClean="0"/>
              <a:t>ransfer </a:t>
            </a:r>
            <a:r>
              <a:rPr lang="en-US" sz="1800" dirty="0"/>
              <a:t>its regulatory responsibilities to the government to avoid a conflict of interest</a:t>
            </a:r>
          </a:p>
          <a:p>
            <a:pPr marL="0" indent="0">
              <a:buNone/>
            </a:pPr>
            <a:endParaRPr lang="en-GB" sz="700" dirty="0"/>
          </a:p>
        </p:txBody>
      </p:sp>
      <p:grpSp>
        <p:nvGrpSpPr>
          <p:cNvPr id="10" name="Group 9"/>
          <p:cNvGrpSpPr/>
          <p:nvPr/>
        </p:nvGrpSpPr>
        <p:grpSpPr>
          <a:xfrm>
            <a:off x="7668000" y="5742000"/>
            <a:ext cx="1007451" cy="580847"/>
            <a:chOff x="7596219" y="5733058"/>
            <a:chExt cx="1007451" cy="580847"/>
          </a:xfrm>
        </p:grpSpPr>
        <p:sp>
          <p:nvSpPr>
            <p:cNvPr id="11" name="Action Button: Return 10">
              <a:hlinkClick r:id="rId2" action="ppaction://hlinksldjump" highlightClick="1"/>
            </p:cNvPr>
            <p:cNvSpPr/>
            <p:nvPr/>
          </p:nvSpPr>
          <p:spPr bwMode="auto">
            <a:xfrm>
              <a:off x="7787504" y="5733256"/>
              <a:ext cx="360040" cy="298800"/>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2" name="Action Button: Home 11">
              <a:hlinkClick r:id="rId3" action="ppaction://hlinksldjump" highlightClick="1"/>
            </p:cNvPr>
            <p:cNvSpPr/>
            <p:nvPr/>
          </p:nvSpPr>
          <p:spPr bwMode="auto">
            <a:xfrm>
              <a:off x="8243630" y="5733058"/>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3" name="TextBox 12">
              <a:hlinkClick r:id="" action="ppaction://noaction"/>
            </p:cNvPr>
            <p:cNvSpPr txBox="1"/>
            <p:nvPr/>
          </p:nvSpPr>
          <p:spPr>
            <a:xfrm>
              <a:off x="7596219" y="6059989"/>
              <a:ext cx="792205" cy="253916"/>
            </a:xfrm>
            <a:prstGeom prst="actionButtonReturn">
              <a:avLst/>
            </a:prstGeom>
            <a:noFill/>
          </p:spPr>
          <p:txBody>
            <a:bodyPr wrap="none" rtlCol="0">
              <a:spAutoFit/>
            </a:bodyPr>
            <a:lstStyle/>
            <a:p>
              <a:pPr algn="ctr"/>
              <a:r>
                <a:rPr lang="en-US" sz="1050" i="1" dirty="0" smtClean="0"/>
                <a:t>Objective 6</a:t>
              </a:r>
              <a:endParaRPr lang="en-US" sz="1050" i="1" dirty="0"/>
            </a:p>
          </p:txBody>
        </p:sp>
      </p:grpSp>
      <p:sp>
        <p:nvSpPr>
          <p:cNvPr id="14" name="Slide Number Placeholder 2"/>
          <p:cNvSpPr>
            <a:spLocks noGrp="1"/>
          </p:cNvSpPr>
          <p:nvPr>
            <p:ph type="sldNum" sz="quarter" idx="4294967295"/>
          </p:nvPr>
        </p:nvSpPr>
        <p:spPr>
          <a:xfrm>
            <a:off x="6553200" y="6356350"/>
            <a:ext cx="2133600" cy="365125"/>
          </a:xfrm>
        </p:spPr>
        <p:txBody>
          <a:bodyPr/>
          <a:lstStyle/>
          <a:p>
            <a:fld id="{418A78CD-E27B-441A-A2B1-21C1D5FFEB65}" type="slidenum">
              <a:rPr lang="en-US" sz="1200" smtClean="0">
                <a:solidFill>
                  <a:prstClr val="black"/>
                </a:solidFill>
                <a:latin typeface="Georgia" pitchFamily="18" charset="0"/>
              </a:rPr>
              <a:pPr/>
              <a:t>54</a:t>
            </a:fld>
            <a:endParaRPr lang="en-US" sz="1200" dirty="0">
              <a:solidFill>
                <a:prstClr val="black"/>
              </a:solidFill>
              <a:latin typeface="Georgia" pitchFamily="18" charset="0"/>
            </a:endParaRPr>
          </a:p>
        </p:txBody>
      </p:sp>
    </p:spTree>
    <p:extLst>
      <p:ext uri="{BB962C8B-B14F-4D97-AF65-F5344CB8AC3E}">
        <p14:creationId xmlns:p14="http://schemas.microsoft.com/office/powerpoint/2010/main" val="407099753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55</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a:xfrm>
            <a:off x="468313" y="116632"/>
            <a:ext cx="8208143" cy="720080"/>
          </a:xfrm>
        </p:spPr>
        <p:txBody>
          <a:bodyPr>
            <a:noAutofit/>
          </a:bodyPr>
          <a:lstStyle/>
          <a:p>
            <a:r>
              <a:rPr lang="en-GB" sz="2400" dirty="0"/>
              <a:t>Recommendations for speeding up capacity-building in oversight functions </a:t>
            </a:r>
            <a:r>
              <a:rPr lang="en-GB" sz="2400" dirty="0" smtClean="0"/>
              <a:t>(2/</a:t>
            </a:r>
            <a:r>
              <a:rPr lang="en-GB" sz="2400" dirty="0"/>
              <a:t>3)</a:t>
            </a:r>
          </a:p>
        </p:txBody>
      </p:sp>
      <p:sp>
        <p:nvSpPr>
          <p:cNvPr id="5" name="Text Placeholder 4"/>
          <p:cNvSpPr>
            <a:spLocks noGrp="1"/>
          </p:cNvSpPr>
          <p:nvPr>
            <p:ph type="body" sz="quarter" idx="11"/>
          </p:nvPr>
        </p:nvSpPr>
        <p:spPr>
          <a:xfrm>
            <a:off x="399294" y="1772816"/>
            <a:ext cx="8208143" cy="3600400"/>
          </a:xfrm>
        </p:spPr>
        <p:txBody>
          <a:bodyPr>
            <a:noAutofit/>
          </a:bodyPr>
          <a:lstStyle/>
          <a:p>
            <a:pPr marL="0" indent="0">
              <a:buNone/>
            </a:pPr>
            <a:r>
              <a:rPr lang="en-GB" sz="2200" dirty="0" smtClean="0"/>
              <a:t>When entrusting NOC with a  </a:t>
            </a:r>
          </a:p>
          <a:p>
            <a:endParaRPr lang="en-GB" sz="2400" dirty="0" smtClean="0"/>
          </a:p>
          <a:p>
            <a:r>
              <a:rPr lang="en-GB" sz="2200" dirty="0" smtClean="0"/>
              <a:t>Ensure the role has clear scope and limits </a:t>
            </a:r>
          </a:p>
          <a:p>
            <a:r>
              <a:rPr lang="en-GB" sz="2200" dirty="0" smtClean="0"/>
              <a:t>Clarify when state will take back responsibilities (ex., triggers)</a:t>
            </a:r>
          </a:p>
          <a:p>
            <a:r>
              <a:rPr lang="en-GB" sz="2200" dirty="0" smtClean="0"/>
              <a:t>NOC must build skills to be a capable regulator</a:t>
            </a:r>
          </a:p>
          <a:p>
            <a:r>
              <a:rPr lang="en-GB" sz="2200" dirty="0" smtClean="0"/>
              <a:t>Government must provide it with explicit financial model</a:t>
            </a:r>
          </a:p>
          <a:p>
            <a:r>
              <a:rPr lang="en-GB" sz="2200" dirty="0" smtClean="0"/>
              <a:t>Government must invest in own auditing capacity and demand strong reporting and accounting standards in the NOC</a:t>
            </a:r>
          </a:p>
        </p:txBody>
      </p:sp>
      <p:sp>
        <p:nvSpPr>
          <p:cNvPr id="10" name="Freeform 10">
            <a:hlinkClick r:id="rId2" action="ppaction://hlinksldjump"/>
          </p:cNvPr>
          <p:cNvSpPr/>
          <p:nvPr/>
        </p:nvSpPr>
        <p:spPr>
          <a:xfrm>
            <a:off x="4071702" y="1772816"/>
            <a:ext cx="4820778" cy="540089"/>
          </a:xfrm>
          <a:prstGeom prst="roundRect">
            <a:avLst/>
          </a:prstGeom>
          <a:solidFill>
            <a:schemeClr val="bg1"/>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defTabSz="1555750">
              <a:lnSpc>
                <a:spcPct val="90000"/>
              </a:lnSpc>
              <a:spcAft>
                <a:spcPct val="35000"/>
              </a:spcAft>
            </a:pPr>
            <a:r>
              <a:rPr lang="en-US" sz="2200" kern="1200" dirty="0" smtClean="0">
                <a:solidFill>
                  <a:schemeClr val="accent2"/>
                </a:solidFill>
                <a:latin typeface="Georgia" pitchFamily="18" charset="0"/>
              </a:rPr>
              <a:t>*</a:t>
            </a:r>
            <a:r>
              <a:rPr lang="en-US" sz="2200" dirty="0" smtClean="0">
                <a:solidFill>
                  <a:schemeClr val="accent2"/>
                </a:solidFill>
                <a:latin typeface="Georgia" pitchFamily="18" charset="0"/>
              </a:rPr>
              <a:t>Governance Role</a:t>
            </a:r>
            <a:endParaRPr lang="en-US" sz="2200" kern="1200" dirty="0">
              <a:solidFill>
                <a:schemeClr val="accent2"/>
              </a:solidFill>
              <a:latin typeface="Georgia" pitchFamily="18" charset="0"/>
            </a:endParaRPr>
          </a:p>
        </p:txBody>
      </p:sp>
      <p:grpSp>
        <p:nvGrpSpPr>
          <p:cNvPr id="15" name="Group 14"/>
          <p:cNvGrpSpPr/>
          <p:nvPr/>
        </p:nvGrpSpPr>
        <p:grpSpPr>
          <a:xfrm>
            <a:off x="7668000" y="5742000"/>
            <a:ext cx="1007451" cy="580847"/>
            <a:chOff x="7596219" y="5733058"/>
            <a:chExt cx="1007451" cy="580847"/>
          </a:xfrm>
        </p:grpSpPr>
        <p:sp>
          <p:nvSpPr>
            <p:cNvPr id="16" name="Action Button: Return 15">
              <a:hlinkClick r:id="rId3" action="ppaction://hlinksldjump" highlightClick="1"/>
            </p:cNvPr>
            <p:cNvSpPr/>
            <p:nvPr/>
          </p:nvSpPr>
          <p:spPr bwMode="auto">
            <a:xfrm>
              <a:off x="7787504" y="5733256"/>
              <a:ext cx="360040" cy="298800"/>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7" name="Action Button: Home 16">
              <a:hlinkClick r:id="rId4" action="ppaction://hlinksldjump" highlightClick="1"/>
            </p:cNvPr>
            <p:cNvSpPr/>
            <p:nvPr/>
          </p:nvSpPr>
          <p:spPr bwMode="auto">
            <a:xfrm>
              <a:off x="8243630" y="5733058"/>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8" name="TextBox 17">
              <a:hlinkClick r:id="" action="ppaction://noaction"/>
            </p:cNvPr>
            <p:cNvSpPr txBox="1"/>
            <p:nvPr/>
          </p:nvSpPr>
          <p:spPr>
            <a:xfrm>
              <a:off x="7596219" y="6059989"/>
              <a:ext cx="792205" cy="253916"/>
            </a:xfrm>
            <a:prstGeom prst="actionButtonReturn">
              <a:avLst/>
            </a:prstGeom>
            <a:noFill/>
          </p:spPr>
          <p:txBody>
            <a:bodyPr wrap="none" rtlCol="0">
              <a:spAutoFit/>
            </a:bodyPr>
            <a:lstStyle/>
            <a:p>
              <a:pPr algn="ctr"/>
              <a:r>
                <a:rPr lang="en-US" sz="1050" i="1" dirty="0" smtClean="0"/>
                <a:t>Objective 6</a:t>
              </a:r>
              <a:endParaRPr lang="en-US" sz="1050" i="1" dirty="0"/>
            </a:p>
          </p:txBody>
        </p:sp>
      </p:grpSp>
    </p:spTree>
    <p:extLst>
      <p:ext uri="{BB962C8B-B14F-4D97-AF65-F5344CB8AC3E}">
        <p14:creationId xmlns:p14="http://schemas.microsoft.com/office/powerpoint/2010/main" val="264944960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56</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p:txBody>
          <a:bodyPr>
            <a:normAutofit fontScale="85000" lnSpcReduction="20000"/>
          </a:bodyPr>
          <a:lstStyle/>
          <a:p>
            <a:r>
              <a:rPr lang="en-GB" dirty="0" smtClean="0"/>
              <a:t>What are ‘governance roles’ ?</a:t>
            </a:r>
            <a:endParaRPr lang="en-GB" dirty="0"/>
          </a:p>
        </p:txBody>
      </p:sp>
      <p:sp>
        <p:nvSpPr>
          <p:cNvPr id="6" name="Parallelogram 5"/>
          <p:cNvSpPr/>
          <p:nvPr/>
        </p:nvSpPr>
        <p:spPr>
          <a:xfrm>
            <a:off x="2417737" y="3071316"/>
            <a:ext cx="3954463" cy="504056"/>
          </a:xfrm>
          <a:prstGeom prst="parallelogram">
            <a:avLst/>
          </a:prstGeom>
          <a:solidFill>
            <a:srgbClr val="006699">
              <a:alpha val="60000"/>
            </a:srgbClr>
          </a:solidFill>
          <a:ln>
            <a:solidFill>
              <a:srgbClr val="0066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200"/>
              </a:spcBef>
              <a:defRPr/>
            </a:pPr>
            <a:r>
              <a:rPr lang="en-GB" sz="1800" dirty="0">
                <a:solidFill>
                  <a:schemeClr val="bg1"/>
                </a:solidFill>
              </a:rPr>
              <a:t>Monitoring operators</a:t>
            </a:r>
          </a:p>
        </p:txBody>
      </p:sp>
      <p:sp>
        <p:nvSpPr>
          <p:cNvPr id="7" name="Parallelogram 6"/>
          <p:cNvSpPr/>
          <p:nvPr/>
        </p:nvSpPr>
        <p:spPr>
          <a:xfrm>
            <a:off x="2417737" y="3719389"/>
            <a:ext cx="3954463" cy="504056"/>
          </a:xfrm>
          <a:prstGeom prst="parallelogram">
            <a:avLst/>
          </a:prstGeom>
          <a:solidFill>
            <a:srgbClr val="006699">
              <a:alpha val="60000"/>
            </a:srgbClr>
          </a:solidFill>
          <a:ln>
            <a:solidFill>
              <a:srgbClr val="0066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200"/>
              </a:spcBef>
              <a:defRPr/>
            </a:pPr>
            <a:r>
              <a:rPr lang="en-GB" sz="1800" dirty="0">
                <a:solidFill>
                  <a:schemeClr val="bg1"/>
                </a:solidFill>
              </a:rPr>
              <a:t>Managing data</a:t>
            </a:r>
          </a:p>
        </p:txBody>
      </p:sp>
      <p:sp>
        <p:nvSpPr>
          <p:cNvPr id="8" name="Parallelogram 7"/>
          <p:cNvSpPr/>
          <p:nvPr/>
        </p:nvSpPr>
        <p:spPr>
          <a:xfrm>
            <a:off x="2419325" y="1628800"/>
            <a:ext cx="3952875" cy="506412"/>
          </a:xfrm>
          <a:prstGeom prst="parallelogram">
            <a:avLst/>
          </a:prstGeom>
          <a:solidFill>
            <a:srgbClr val="006699"/>
          </a:solidFill>
          <a:ln>
            <a:solidFill>
              <a:srgbClr val="0066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200"/>
              </a:spcBef>
              <a:defRPr/>
            </a:pPr>
            <a:r>
              <a:rPr lang="en-GB" sz="1800" b="1" dirty="0">
                <a:solidFill>
                  <a:schemeClr val="bg1"/>
                </a:solidFill>
              </a:rPr>
              <a:t>Potential governance roles</a:t>
            </a:r>
          </a:p>
        </p:txBody>
      </p:sp>
      <p:sp>
        <p:nvSpPr>
          <p:cNvPr id="9" name="Parallelogram 8"/>
          <p:cNvSpPr/>
          <p:nvPr/>
        </p:nvSpPr>
        <p:spPr>
          <a:xfrm>
            <a:off x="2417737" y="4367460"/>
            <a:ext cx="3954463" cy="504378"/>
          </a:xfrm>
          <a:prstGeom prst="parallelogram">
            <a:avLst/>
          </a:prstGeom>
          <a:solidFill>
            <a:srgbClr val="006699">
              <a:alpha val="60000"/>
            </a:srgbClr>
          </a:solidFill>
          <a:ln>
            <a:solidFill>
              <a:srgbClr val="0066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200"/>
              </a:spcBef>
              <a:defRPr/>
            </a:pPr>
            <a:r>
              <a:rPr lang="en-GB" sz="1800" dirty="0">
                <a:solidFill>
                  <a:schemeClr val="bg1"/>
                </a:solidFill>
              </a:rPr>
              <a:t>Promotion of resources</a:t>
            </a:r>
          </a:p>
        </p:txBody>
      </p:sp>
      <p:sp>
        <p:nvSpPr>
          <p:cNvPr id="10" name="Parallelogram 9"/>
          <p:cNvSpPr/>
          <p:nvPr/>
        </p:nvSpPr>
        <p:spPr>
          <a:xfrm>
            <a:off x="2417737" y="5015533"/>
            <a:ext cx="3954463" cy="504056"/>
          </a:xfrm>
          <a:prstGeom prst="parallelogram">
            <a:avLst/>
          </a:prstGeom>
          <a:solidFill>
            <a:srgbClr val="006699">
              <a:alpha val="60000"/>
            </a:srgbClr>
          </a:solidFill>
          <a:ln>
            <a:solidFill>
              <a:srgbClr val="0066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200"/>
              </a:spcBef>
              <a:defRPr/>
            </a:pPr>
            <a:r>
              <a:rPr lang="en-GB" sz="1800" dirty="0" smtClean="0">
                <a:solidFill>
                  <a:schemeClr val="bg1"/>
                </a:solidFill>
              </a:rPr>
              <a:t>Negotiation of licenses</a:t>
            </a:r>
            <a:endParaRPr lang="en-GB" sz="1800" dirty="0">
              <a:solidFill>
                <a:schemeClr val="bg1"/>
              </a:solidFill>
            </a:endParaRPr>
          </a:p>
        </p:txBody>
      </p:sp>
      <p:sp>
        <p:nvSpPr>
          <p:cNvPr id="11" name="Parallelogram 10"/>
          <p:cNvSpPr/>
          <p:nvPr/>
        </p:nvSpPr>
        <p:spPr>
          <a:xfrm>
            <a:off x="2417737" y="2423244"/>
            <a:ext cx="3954463" cy="504130"/>
          </a:xfrm>
          <a:prstGeom prst="parallelogram">
            <a:avLst/>
          </a:prstGeom>
          <a:solidFill>
            <a:srgbClr val="006699">
              <a:alpha val="60000"/>
            </a:srgbClr>
          </a:solidFill>
          <a:ln>
            <a:solidFill>
              <a:srgbClr val="0066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200"/>
              </a:spcBef>
              <a:defRPr/>
            </a:pPr>
            <a:r>
              <a:rPr lang="en-GB" sz="1800" dirty="0">
                <a:solidFill>
                  <a:schemeClr val="bg1"/>
                </a:solidFill>
              </a:rPr>
              <a:t>Advising government on oversight of sector</a:t>
            </a:r>
          </a:p>
        </p:txBody>
      </p:sp>
      <p:grpSp>
        <p:nvGrpSpPr>
          <p:cNvPr id="5" name="Group 4"/>
          <p:cNvGrpSpPr/>
          <p:nvPr/>
        </p:nvGrpSpPr>
        <p:grpSpPr>
          <a:xfrm>
            <a:off x="7308000" y="5733256"/>
            <a:ext cx="1296144" cy="541948"/>
            <a:chOff x="7380312" y="5733256"/>
            <a:chExt cx="1296144" cy="541948"/>
          </a:xfrm>
        </p:grpSpPr>
        <p:grpSp>
          <p:nvGrpSpPr>
            <p:cNvPr id="29" name="Group 28"/>
            <p:cNvGrpSpPr/>
            <p:nvPr/>
          </p:nvGrpSpPr>
          <p:grpSpPr>
            <a:xfrm>
              <a:off x="7380312" y="5742000"/>
              <a:ext cx="863435" cy="533204"/>
              <a:chOff x="7740235" y="5733058"/>
              <a:chExt cx="863435" cy="533204"/>
            </a:xfrm>
          </p:grpSpPr>
          <p:sp>
            <p:nvSpPr>
              <p:cNvPr id="30" name="Action Button: Return 29">
                <a:hlinkClick r:id="rId2" action="ppaction://hlinksldjump" highlightClick="1"/>
              </p:cNvPr>
              <p:cNvSpPr/>
              <p:nvPr/>
            </p:nvSpPr>
            <p:spPr bwMode="auto">
              <a:xfrm>
                <a:off x="7787504" y="5733256"/>
                <a:ext cx="360040" cy="298800"/>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31" name="Action Button: Home 30">
                <a:hlinkClick r:id="rId3" action="ppaction://hlinksldjump" highlightClick="1"/>
              </p:cNvPr>
              <p:cNvSpPr/>
              <p:nvPr/>
            </p:nvSpPr>
            <p:spPr bwMode="auto">
              <a:xfrm>
                <a:off x="8243630" y="5733058"/>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32" name="TextBox 31">
                <a:hlinkClick r:id="" action="ppaction://noaction"/>
              </p:cNvPr>
              <p:cNvSpPr txBox="1"/>
              <p:nvPr/>
            </p:nvSpPr>
            <p:spPr>
              <a:xfrm>
                <a:off x="7740235" y="6012346"/>
                <a:ext cx="444352" cy="253916"/>
              </a:xfrm>
              <a:prstGeom prst="actionButtonReturn">
                <a:avLst/>
              </a:prstGeom>
              <a:noFill/>
            </p:spPr>
            <p:txBody>
              <a:bodyPr wrap="none" rtlCol="0">
                <a:spAutoFit/>
              </a:bodyPr>
              <a:lstStyle/>
              <a:p>
                <a:pPr algn="ctr"/>
                <a:r>
                  <a:rPr lang="en-US" sz="1050" i="1" dirty="0" smtClean="0"/>
                  <a:t>Back</a:t>
                </a:r>
                <a:endParaRPr lang="en-US" sz="1050" i="1" dirty="0"/>
              </a:p>
            </p:txBody>
          </p:sp>
        </p:grpSp>
        <p:sp>
          <p:nvSpPr>
            <p:cNvPr id="15" name="Action Button: Forward or Next 14">
              <a:hlinkClick r:id="" action="ppaction://hlinkshowjump?jump=nextslide" highlightClick="1"/>
            </p:cNvPr>
            <p:cNvSpPr/>
            <p:nvPr/>
          </p:nvSpPr>
          <p:spPr>
            <a:xfrm>
              <a:off x="8316456" y="5733256"/>
              <a:ext cx="360000" cy="298800"/>
            </a:xfrm>
            <a:prstGeom prst="actionButtonForwardNex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81466721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57</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a:xfrm>
            <a:off x="468313" y="116632"/>
            <a:ext cx="8208143" cy="504056"/>
          </a:xfrm>
        </p:spPr>
        <p:txBody>
          <a:bodyPr>
            <a:noAutofit/>
          </a:bodyPr>
          <a:lstStyle/>
          <a:p>
            <a:r>
              <a:rPr lang="en-GB" sz="2400" dirty="0" smtClean="0"/>
              <a:t>Recommendations </a:t>
            </a:r>
            <a:r>
              <a:rPr lang="en-GB" sz="2400" dirty="0"/>
              <a:t>for speeding up capacity-building in oversight functions </a:t>
            </a:r>
            <a:r>
              <a:rPr lang="en-GB" sz="2400" dirty="0" smtClean="0"/>
              <a:t>(3/</a:t>
            </a:r>
            <a:r>
              <a:rPr lang="en-GB" sz="2400" dirty="0"/>
              <a:t>3</a:t>
            </a:r>
            <a:r>
              <a:rPr lang="en-GB" sz="2400" dirty="0" smtClean="0"/>
              <a:t>)</a:t>
            </a:r>
            <a:endParaRPr lang="en-GB" sz="2400" dirty="0"/>
          </a:p>
        </p:txBody>
      </p:sp>
      <p:sp>
        <p:nvSpPr>
          <p:cNvPr id="5" name="Text Placeholder 4"/>
          <p:cNvSpPr>
            <a:spLocks noGrp="1"/>
          </p:cNvSpPr>
          <p:nvPr>
            <p:ph type="body" sz="quarter" idx="11"/>
          </p:nvPr>
        </p:nvSpPr>
        <p:spPr>
          <a:xfrm>
            <a:off x="467308" y="1340768"/>
            <a:ext cx="8208143" cy="3600400"/>
          </a:xfrm>
        </p:spPr>
        <p:txBody>
          <a:bodyPr>
            <a:noAutofit/>
          </a:bodyPr>
          <a:lstStyle/>
          <a:p>
            <a:pPr marL="0" indent="0">
              <a:buNone/>
            </a:pPr>
            <a:r>
              <a:rPr lang="en-GB" sz="2100" dirty="0" smtClean="0"/>
              <a:t>When establish a regulatory agency:</a:t>
            </a:r>
          </a:p>
          <a:p>
            <a:pPr marL="0" indent="0">
              <a:buNone/>
            </a:pPr>
            <a:endParaRPr lang="en-GB" sz="2100" dirty="0" smtClean="0"/>
          </a:p>
          <a:p>
            <a:pPr algn="just">
              <a:buFont typeface="Arial"/>
              <a:buChar char="•"/>
            </a:pPr>
            <a:r>
              <a:rPr lang="en-US" sz="2100" dirty="0" smtClean="0"/>
              <a:t>Get support from external </a:t>
            </a:r>
            <a:r>
              <a:rPr lang="en-US" sz="2100" dirty="0"/>
              <a:t>technical </a:t>
            </a:r>
            <a:r>
              <a:rPr lang="en-US" sz="2100" dirty="0" smtClean="0"/>
              <a:t>assistance when state </a:t>
            </a:r>
            <a:r>
              <a:rPr lang="en-US" sz="2100" dirty="0"/>
              <a:t>capacity is low</a:t>
            </a:r>
          </a:p>
          <a:p>
            <a:pPr algn="just">
              <a:buFont typeface="Arial"/>
              <a:buChar char="•"/>
            </a:pPr>
            <a:r>
              <a:rPr lang="en-US" sz="2100" dirty="0" smtClean="0"/>
              <a:t>Must have strong </a:t>
            </a:r>
            <a:r>
              <a:rPr lang="en-US" sz="2100" dirty="0"/>
              <a:t>political will </a:t>
            </a:r>
            <a:endParaRPr lang="en-US" sz="2100" dirty="0" smtClean="0"/>
          </a:p>
          <a:p>
            <a:pPr algn="just">
              <a:buFont typeface="Arial"/>
              <a:buChar char="•"/>
            </a:pPr>
            <a:r>
              <a:rPr lang="en-US" sz="2100" dirty="0" smtClean="0"/>
              <a:t>Create one agency to take on data management, licensing, devising regulations, monitoring operations and technical review of development proposals – especially when capacity is low and the resources uncertain</a:t>
            </a:r>
          </a:p>
          <a:p>
            <a:pPr algn="just">
              <a:buFont typeface="Arial"/>
              <a:buChar char="•"/>
            </a:pPr>
            <a:r>
              <a:rPr lang="en-US" sz="2100" dirty="0" smtClean="0"/>
              <a:t>When state </a:t>
            </a:r>
            <a:r>
              <a:rPr lang="en-US" sz="2100" dirty="0"/>
              <a:t>capacity, establish specialized units at the appropriate ministries for environmental monitoring and tax collection</a:t>
            </a:r>
          </a:p>
          <a:p>
            <a:pPr algn="just">
              <a:buFont typeface="Arial"/>
              <a:buChar char="•"/>
            </a:pPr>
            <a:r>
              <a:rPr lang="en-US" sz="2100" dirty="0" smtClean="0"/>
              <a:t>Pay regulators well</a:t>
            </a:r>
            <a:endParaRPr lang="en-GB" sz="2100" dirty="0"/>
          </a:p>
        </p:txBody>
      </p:sp>
      <p:grpSp>
        <p:nvGrpSpPr>
          <p:cNvPr id="9" name="Group 8"/>
          <p:cNvGrpSpPr/>
          <p:nvPr/>
        </p:nvGrpSpPr>
        <p:grpSpPr>
          <a:xfrm>
            <a:off x="7668000" y="5742000"/>
            <a:ext cx="1007451" cy="580847"/>
            <a:chOff x="7596219" y="5733058"/>
            <a:chExt cx="1007451" cy="580847"/>
          </a:xfrm>
        </p:grpSpPr>
        <p:sp>
          <p:nvSpPr>
            <p:cNvPr id="10" name="Action Button: Return 9">
              <a:hlinkClick r:id="rId2" action="ppaction://hlinksldjump" highlightClick="1"/>
            </p:cNvPr>
            <p:cNvSpPr/>
            <p:nvPr/>
          </p:nvSpPr>
          <p:spPr bwMode="auto">
            <a:xfrm>
              <a:off x="7787504" y="5733256"/>
              <a:ext cx="360040" cy="298800"/>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1" name="Action Button: Home 10">
              <a:hlinkClick r:id="rId3" action="ppaction://hlinksldjump" highlightClick="1"/>
            </p:cNvPr>
            <p:cNvSpPr/>
            <p:nvPr/>
          </p:nvSpPr>
          <p:spPr bwMode="auto">
            <a:xfrm>
              <a:off x="8243630" y="5733058"/>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2" name="TextBox 11">
              <a:hlinkClick r:id="" action="ppaction://noaction"/>
            </p:cNvPr>
            <p:cNvSpPr txBox="1"/>
            <p:nvPr/>
          </p:nvSpPr>
          <p:spPr>
            <a:xfrm>
              <a:off x="7596219" y="6059989"/>
              <a:ext cx="792205" cy="253916"/>
            </a:xfrm>
            <a:prstGeom prst="actionButtonReturn">
              <a:avLst/>
            </a:prstGeom>
            <a:noFill/>
          </p:spPr>
          <p:txBody>
            <a:bodyPr wrap="none" rtlCol="0">
              <a:spAutoFit/>
            </a:bodyPr>
            <a:lstStyle/>
            <a:p>
              <a:pPr algn="ctr"/>
              <a:r>
                <a:rPr lang="en-US" sz="1050" i="1" dirty="0" smtClean="0"/>
                <a:t>Objective 6</a:t>
              </a:r>
              <a:endParaRPr lang="en-US" sz="1050" i="1" dirty="0"/>
            </a:p>
          </p:txBody>
        </p:sp>
      </p:grpSp>
    </p:spTree>
    <p:extLst>
      <p:ext uri="{BB962C8B-B14F-4D97-AF65-F5344CB8AC3E}">
        <p14:creationId xmlns:p14="http://schemas.microsoft.com/office/powerpoint/2010/main" val="196620490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
          <p:cNvSpPr/>
          <p:nvPr/>
        </p:nvSpPr>
        <p:spPr>
          <a:xfrm>
            <a:off x="467544" y="332598"/>
            <a:ext cx="8035925" cy="792146"/>
          </a:xfrm>
          <a:prstGeom prst="roundRect">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algn="ctr" defTabSz="1555750">
              <a:lnSpc>
                <a:spcPct val="90000"/>
              </a:lnSpc>
              <a:spcAft>
                <a:spcPct val="35000"/>
              </a:spcAft>
            </a:pPr>
            <a:r>
              <a:rPr lang="en-US" dirty="0" smtClean="0"/>
              <a:t>Challenge 3: Is the NOC’s mandate clear and is it affordable? </a:t>
            </a:r>
            <a:endParaRPr lang="en-US" dirty="0"/>
          </a:p>
        </p:txBody>
      </p:sp>
      <p:sp>
        <p:nvSpPr>
          <p:cNvPr id="3" name="Rectangle 2"/>
          <p:cNvSpPr/>
          <p:nvPr/>
        </p:nvSpPr>
        <p:spPr>
          <a:xfrm>
            <a:off x="467543" y="1268760"/>
            <a:ext cx="8035925" cy="1323439"/>
          </a:xfrm>
          <a:prstGeom prst="rect">
            <a:avLst/>
          </a:prstGeom>
        </p:spPr>
        <p:txBody>
          <a:bodyPr wrap="square">
            <a:spAutoFit/>
          </a:bodyPr>
          <a:lstStyle/>
          <a:p>
            <a:r>
              <a:rPr lang="en-US" sz="2000" dirty="0">
                <a:latin typeface="Georgia" pitchFamily="18" charset="0"/>
              </a:rPr>
              <a:t>There is a growing interest in national participation, particularly through license stakes and an operational role for the NOC</a:t>
            </a:r>
          </a:p>
          <a:p>
            <a:r>
              <a:rPr lang="en-US" sz="2000" dirty="0">
                <a:latin typeface="Georgia" pitchFamily="18" charset="0"/>
              </a:rPr>
              <a:t>But the government should first consider whether it can afford an NOC that </a:t>
            </a:r>
            <a:r>
              <a:rPr lang="en-US" sz="2000" dirty="0" smtClean="0">
                <a:latin typeface="Georgia" pitchFamily="18" charset="0"/>
              </a:rPr>
              <a:t>is an                 .           </a:t>
            </a:r>
            <a:endParaRPr lang="en-US" sz="2000" dirty="0">
              <a:latin typeface="Georgia" pitchFamily="18" charset="0"/>
            </a:endParaRPr>
          </a:p>
        </p:txBody>
      </p:sp>
      <p:graphicFrame>
        <p:nvGraphicFramePr>
          <p:cNvPr id="5" name="Diagram 4"/>
          <p:cNvGraphicFramePr/>
          <p:nvPr>
            <p:extLst>
              <p:ext uri="{D42A27DB-BD31-4B8C-83A1-F6EECF244321}">
                <p14:modId xmlns:p14="http://schemas.microsoft.com/office/powerpoint/2010/main" val="1342698854"/>
              </p:ext>
            </p:extLst>
          </p:nvPr>
        </p:nvGraphicFramePr>
        <p:xfrm>
          <a:off x="1331640" y="2492896"/>
          <a:ext cx="6264918" cy="23889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Freeform 10">
            <a:hlinkClick r:id="rId7" action="ppaction://hlinksldjump"/>
          </p:cNvPr>
          <p:cNvSpPr/>
          <p:nvPr/>
        </p:nvSpPr>
        <p:spPr>
          <a:xfrm>
            <a:off x="457200" y="5067138"/>
            <a:ext cx="8229600" cy="540089"/>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algn="ctr" defTabSz="1555750">
              <a:lnSpc>
                <a:spcPct val="90000"/>
              </a:lnSpc>
              <a:spcAft>
                <a:spcPct val="35000"/>
              </a:spcAft>
            </a:pPr>
            <a:r>
              <a:rPr lang="en-US" sz="2000" dirty="0" smtClean="0"/>
              <a:t>Recommendations for the setting the NOC’s role</a:t>
            </a:r>
          </a:p>
        </p:txBody>
      </p:sp>
      <p:sp>
        <p:nvSpPr>
          <p:cNvPr id="9" name="TextBox 8">
            <a:hlinkClick r:id="rId8" action="ppaction://hlinksldjump"/>
          </p:cNvPr>
          <p:cNvSpPr txBox="1"/>
          <p:nvPr/>
        </p:nvSpPr>
        <p:spPr>
          <a:xfrm>
            <a:off x="2176304" y="2176849"/>
            <a:ext cx="1224136" cy="400110"/>
          </a:xfrm>
          <a:prstGeom prst="rect">
            <a:avLst/>
          </a:prstGeom>
          <a:noFill/>
        </p:spPr>
        <p:txBody>
          <a:bodyPr wrap="square" rtlCol="0">
            <a:spAutoFit/>
          </a:bodyPr>
          <a:lstStyle/>
          <a:p>
            <a:r>
              <a:rPr lang="en-US" sz="2000" u="sng" dirty="0" smtClean="0">
                <a:solidFill>
                  <a:schemeClr val="accent2">
                    <a:lumMod val="75000"/>
                  </a:schemeClr>
                </a:solidFill>
                <a:latin typeface="Georgia" pitchFamily="18" charset="0"/>
              </a:rPr>
              <a:t>operator</a:t>
            </a:r>
            <a:endParaRPr lang="en-US" sz="2000" u="sng" dirty="0">
              <a:solidFill>
                <a:schemeClr val="accent2">
                  <a:lumMod val="75000"/>
                </a:schemeClr>
              </a:solidFill>
              <a:latin typeface="Georgia" pitchFamily="18" charset="0"/>
            </a:endParaRPr>
          </a:p>
        </p:txBody>
      </p:sp>
      <p:grpSp>
        <p:nvGrpSpPr>
          <p:cNvPr id="15" name="Group 14"/>
          <p:cNvGrpSpPr/>
          <p:nvPr/>
        </p:nvGrpSpPr>
        <p:grpSpPr>
          <a:xfrm>
            <a:off x="7668000" y="5742000"/>
            <a:ext cx="1007451" cy="580847"/>
            <a:chOff x="7596219" y="5733058"/>
            <a:chExt cx="1007451" cy="580847"/>
          </a:xfrm>
        </p:grpSpPr>
        <p:sp>
          <p:nvSpPr>
            <p:cNvPr id="16" name="Action Button: Return 15">
              <a:hlinkClick r:id="rId9" action="ppaction://hlinksldjump" highlightClick="1"/>
            </p:cNvPr>
            <p:cNvSpPr/>
            <p:nvPr/>
          </p:nvSpPr>
          <p:spPr bwMode="auto">
            <a:xfrm>
              <a:off x="7787504" y="5733256"/>
              <a:ext cx="360040" cy="298800"/>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7" name="Action Button: Home 16">
              <a:hlinkClick r:id="rId10" action="ppaction://hlinksldjump" highlightClick="1"/>
            </p:cNvPr>
            <p:cNvSpPr/>
            <p:nvPr/>
          </p:nvSpPr>
          <p:spPr bwMode="auto">
            <a:xfrm>
              <a:off x="8243630" y="5733058"/>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8" name="TextBox 17">
              <a:hlinkClick r:id="" action="ppaction://noaction"/>
            </p:cNvPr>
            <p:cNvSpPr txBox="1"/>
            <p:nvPr/>
          </p:nvSpPr>
          <p:spPr>
            <a:xfrm>
              <a:off x="7596219" y="6059989"/>
              <a:ext cx="792205" cy="253916"/>
            </a:xfrm>
            <a:prstGeom prst="actionButtonReturn">
              <a:avLst/>
            </a:prstGeom>
            <a:noFill/>
          </p:spPr>
          <p:txBody>
            <a:bodyPr wrap="none" rtlCol="0">
              <a:spAutoFit/>
            </a:bodyPr>
            <a:lstStyle/>
            <a:p>
              <a:pPr algn="ctr"/>
              <a:r>
                <a:rPr lang="en-US" sz="1050" i="1" dirty="0" smtClean="0"/>
                <a:t>Objective 6</a:t>
              </a:r>
              <a:endParaRPr lang="en-US" sz="1050" i="1" dirty="0"/>
            </a:p>
          </p:txBody>
        </p:sp>
      </p:grpSp>
      <p:cxnSp>
        <p:nvCxnSpPr>
          <p:cNvPr id="19" name="Straight Connector 18"/>
          <p:cNvCxnSpPr/>
          <p:nvPr/>
        </p:nvCxnSpPr>
        <p:spPr>
          <a:xfrm>
            <a:off x="468000" y="6310800"/>
            <a:ext cx="8208000" cy="0"/>
          </a:xfrm>
          <a:prstGeom prst="line">
            <a:avLst/>
          </a:prstGeom>
          <a:ln w="19050" cmpd="thickThi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Slide Number Placeholder 2"/>
          <p:cNvSpPr>
            <a:spLocks noGrp="1"/>
          </p:cNvSpPr>
          <p:nvPr>
            <p:ph type="sldNum" sz="quarter" idx="4294967295"/>
          </p:nvPr>
        </p:nvSpPr>
        <p:spPr>
          <a:xfrm>
            <a:off x="6553200" y="6356350"/>
            <a:ext cx="2133600" cy="365125"/>
          </a:xfrm>
        </p:spPr>
        <p:txBody>
          <a:bodyPr/>
          <a:lstStyle/>
          <a:p>
            <a:fld id="{418A78CD-E27B-441A-A2B1-21C1D5FFEB65}" type="slidenum">
              <a:rPr lang="en-US" sz="1200" smtClean="0">
                <a:solidFill>
                  <a:prstClr val="black"/>
                </a:solidFill>
                <a:latin typeface="Georgia" pitchFamily="18" charset="0"/>
              </a:rPr>
              <a:pPr/>
              <a:t>58</a:t>
            </a:fld>
            <a:endParaRPr lang="en-US" sz="1200" dirty="0">
              <a:solidFill>
                <a:prstClr val="black"/>
              </a:solidFill>
              <a:latin typeface="Georgia" pitchFamily="18" charset="0"/>
            </a:endParaRPr>
          </a:p>
        </p:txBody>
      </p:sp>
      <p:sp>
        <p:nvSpPr>
          <p:cNvPr id="21"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Tree>
    <p:extLst>
      <p:ext uri="{BB962C8B-B14F-4D97-AF65-F5344CB8AC3E}">
        <p14:creationId xmlns:p14="http://schemas.microsoft.com/office/powerpoint/2010/main" val="119022925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59</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p:txBody>
          <a:bodyPr>
            <a:normAutofit fontScale="70000" lnSpcReduction="20000"/>
          </a:bodyPr>
          <a:lstStyle/>
          <a:p>
            <a:r>
              <a:rPr lang="en-GB" dirty="0" smtClean="0"/>
              <a:t>What steps are involved in developing operational capabilities?</a:t>
            </a:r>
            <a:endParaRPr lang="en-GB" dirty="0"/>
          </a:p>
        </p:txBody>
      </p:sp>
      <p:graphicFrame>
        <p:nvGraphicFramePr>
          <p:cNvPr id="6" name="Content Placeholder 4"/>
          <p:cNvGraphicFramePr>
            <a:graphicFrameLocks noGrp="1"/>
          </p:cNvGraphicFramePr>
          <p:nvPr>
            <p:ph idx="1"/>
            <p:extLst>
              <p:ext uri="{D42A27DB-BD31-4B8C-83A1-F6EECF244321}">
                <p14:modId xmlns:p14="http://schemas.microsoft.com/office/powerpoint/2010/main" val="65376537"/>
              </p:ext>
            </p:extLst>
          </p:nvPr>
        </p:nvGraphicFramePr>
        <p:xfrm>
          <a:off x="457200" y="1124744"/>
          <a:ext cx="8035925" cy="37897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p:cNvSpPr txBox="1"/>
          <p:nvPr/>
        </p:nvSpPr>
        <p:spPr>
          <a:xfrm>
            <a:off x="460224" y="4653136"/>
            <a:ext cx="8229600" cy="1200329"/>
          </a:xfrm>
          <a:prstGeom prst="rect">
            <a:avLst/>
          </a:prstGeom>
          <a:noFill/>
        </p:spPr>
        <p:txBody>
          <a:bodyPr wrap="square" rtlCol="0">
            <a:spAutoFit/>
          </a:bodyPr>
          <a:lstStyle/>
          <a:p>
            <a:r>
              <a:rPr lang="en-GB" sz="1800" dirty="0" smtClean="0">
                <a:latin typeface="Georgia" pitchFamily="18" charset="0"/>
              </a:rPr>
              <a:t>An </a:t>
            </a:r>
            <a:r>
              <a:rPr lang="en-GB" sz="1800" b="1" dirty="0" smtClean="0">
                <a:latin typeface="Georgia" pitchFamily="18" charset="0"/>
              </a:rPr>
              <a:t>operator</a:t>
            </a:r>
            <a:r>
              <a:rPr lang="en-GB" sz="1800" dirty="0" smtClean="0">
                <a:latin typeface="Georgia" pitchFamily="18" charset="0"/>
              </a:rPr>
              <a:t> has legal authority to explore </a:t>
            </a:r>
            <a:r>
              <a:rPr lang="en-GB" sz="1800" dirty="0">
                <a:latin typeface="Georgia" pitchFamily="18" charset="0"/>
              </a:rPr>
              <a:t>for and </a:t>
            </a:r>
            <a:r>
              <a:rPr lang="en-GB" sz="1800" dirty="0" smtClean="0">
                <a:latin typeface="Georgia" pitchFamily="18" charset="0"/>
              </a:rPr>
              <a:t>produce </a:t>
            </a:r>
            <a:r>
              <a:rPr lang="en-GB" sz="1800" dirty="0">
                <a:latin typeface="Georgia" pitchFamily="18" charset="0"/>
              </a:rPr>
              <a:t>petroleum resources in a given </a:t>
            </a:r>
            <a:r>
              <a:rPr lang="en-GB" sz="1800" dirty="0" smtClean="0">
                <a:latin typeface="Georgia" pitchFamily="18" charset="0"/>
              </a:rPr>
              <a:t>field. It must be able to select the appropriate technology, propose a development plan, raise finance, manage a large project, and assess geological and financial risks. </a:t>
            </a:r>
            <a:endParaRPr lang="en-GB" sz="1800" dirty="0">
              <a:latin typeface="Georgia" pitchFamily="18" charset="0"/>
            </a:endParaRPr>
          </a:p>
        </p:txBody>
      </p:sp>
      <p:sp>
        <p:nvSpPr>
          <p:cNvPr id="16"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grpSp>
        <p:nvGrpSpPr>
          <p:cNvPr id="2" name="Group 1"/>
          <p:cNvGrpSpPr/>
          <p:nvPr/>
        </p:nvGrpSpPr>
        <p:grpSpPr>
          <a:xfrm>
            <a:off x="7452320" y="5733256"/>
            <a:ext cx="1295840" cy="541948"/>
            <a:chOff x="7524632" y="5733256"/>
            <a:chExt cx="1295840" cy="541948"/>
          </a:xfrm>
        </p:grpSpPr>
        <p:grpSp>
          <p:nvGrpSpPr>
            <p:cNvPr id="12" name="Group 11"/>
            <p:cNvGrpSpPr/>
            <p:nvPr/>
          </p:nvGrpSpPr>
          <p:grpSpPr>
            <a:xfrm>
              <a:off x="7524632" y="5742000"/>
              <a:ext cx="863131" cy="533204"/>
              <a:chOff x="7740539" y="5733058"/>
              <a:chExt cx="863131" cy="533204"/>
            </a:xfrm>
          </p:grpSpPr>
          <p:sp>
            <p:nvSpPr>
              <p:cNvPr id="13" name="Action Button: Return 12">
                <a:hlinkClick r:id="rId7" action="ppaction://hlinksldjump" highlightClick="1"/>
              </p:cNvPr>
              <p:cNvSpPr/>
              <p:nvPr/>
            </p:nvSpPr>
            <p:spPr bwMode="auto">
              <a:xfrm>
                <a:off x="7787504" y="5733256"/>
                <a:ext cx="360040" cy="298800"/>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4" name="Action Button: Home 13">
                <a:hlinkClick r:id="rId8" action="ppaction://hlinksldjump" highlightClick="1"/>
              </p:cNvPr>
              <p:cNvSpPr/>
              <p:nvPr/>
            </p:nvSpPr>
            <p:spPr bwMode="auto">
              <a:xfrm>
                <a:off x="8243630" y="5733058"/>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5" name="TextBox 14">
                <a:hlinkClick r:id="" action="ppaction://noaction"/>
              </p:cNvPr>
              <p:cNvSpPr txBox="1"/>
              <p:nvPr/>
            </p:nvSpPr>
            <p:spPr>
              <a:xfrm>
                <a:off x="7740539" y="6012346"/>
                <a:ext cx="444352" cy="253916"/>
              </a:xfrm>
              <a:prstGeom prst="actionButtonReturn">
                <a:avLst/>
              </a:prstGeom>
              <a:noFill/>
            </p:spPr>
            <p:txBody>
              <a:bodyPr wrap="none" rtlCol="0">
                <a:spAutoFit/>
              </a:bodyPr>
              <a:lstStyle/>
              <a:p>
                <a:pPr algn="ctr"/>
                <a:r>
                  <a:rPr lang="en-US" sz="1050" i="1" dirty="0" smtClean="0"/>
                  <a:t>Back</a:t>
                </a:r>
                <a:endParaRPr lang="en-US" sz="1050" i="1" dirty="0"/>
              </a:p>
            </p:txBody>
          </p:sp>
        </p:grpSp>
        <p:sp>
          <p:nvSpPr>
            <p:cNvPr id="11" name="Action Button: Forward or Next 10">
              <a:hlinkClick r:id="" action="ppaction://hlinkshowjump?jump=nextslide" highlightClick="1"/>
            </p:cNvPr>
            <p:cNvSpPr/>
            <p:nvPr/>
          </p:nvSpPr>
          <p:spPr>
            <a:xfrm>
              <a:off x="8460472" y="5733256"/>
              <a:ext cx="360000" cy="298800"/>
            </a:xfrm>
            <a:prstGeom prst="actionButtonForwardNex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6522727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60</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p:txBody>
          <a:bodyPr>
            <a:normAutofit fontScale="85000" lnSpcReduction="20000"/>
          </a:bodyPr>
          <a:lstStyle/>
          <a:p>
            <a:r>
              <a:rPr lang="en-GB" dirty="0" smtClean="0"/>
              <a:t>Recommendations for setting the NOC’s role</a:t>
            </a:r>
            <a:endParaRPr lang="en-GB" dirty="0"/>
          </a:p>
        </p:txBody>
      </p:sp>
      <p:sp>
        <p:nvSpPr>
          <p:cNvPr id="5" name="Text Placeholder 4"/>
          <p:cNvSpPr>
            <a:spLocks noGrp="1"/>
          </p:cNvSpPr>
          <p:nvPr>
            <p:ph type="body" sz="quarter" idx="11"/>
          </p:nvPr>
        </p:nvSpPr>
        <p:spPr>
          <a:xfrm>
            <a:off x="468312" y="980728"/>
            <a:ext cx="8208143" cy="3168352"/>
          </a:xfrm>
        </p:spPr>
        <p:txBody>
          <a:bodyPr>
            <a:normAutofit fontScale="92500" lnSpcReduction="20000"/>
          </a:bodyPr>
          <a:lstStyle/>
          <a:p>
            <a:pPr algn="just">
              <a:buFont typeface="Arial"/>
              <a:buChar char="•"/>
            </a:pPr>
            <a:r>
              <a:rPr lang="en-US" sz="2000" dirty="0" smtClean="0"/>
              <a:t>Review resource base, available technical and financial resources and task NOC with role it can realistically play and state can afford</a:t>
            </a:r>
          </a:p>
          <a:p>
            <a:pPr algn="just">
              <a:buFont typeface="Arial"/>
              <a:buChar char="•"/>
            </a:pPr>
            <a:r>
              <a:rPr lang="en-US" sz="2000" dirty="0" smtClean="0"/>
              <a:t>Ensure the NOC strategy is robust in a changing market</a:t>
            </a:r>
          </a:p>
          <a:p>
            <a:pPr algn="just">
              <a:buFont typeface="Arial"/>
              <a:buChar char="•"/>
            </a:pPr>
            <a:r>
              <a:rPr lang="en-US" sz="2000" dirty="0" smtClean="0"/>
              <a:t>Government should direct any NOC growth strategy</a:t>
            </a:r>
          </a:p>
          <a:p>
            <a:pPr algn="just">
              <a:buFont typeface="Arial"/>
              <a:buChar char="•"/>
            </a:pPr>
            <a:r>
              <a:rPr lang="en-US" sz="2000" dirty="0" smtClean="0"/>
              <a:t>Wait </a:t>
            </a:r>
            <a:r>
              <a:rPr lang="en-US" sz="2000" dirty="0"/>
              <a:t>to make significant investments in developing an NOC’s operational capabilities until discoveries establish a reserves lifespan of at least 15 years</a:t>
            </a:r>
          </a:p>
          <a:p>
            <a:pPr algn="just">
              <a:buFont typeface="Arial"/>
              <a:buChar char="•"/>
            </a:pPr>
            <a:r>
              <a:rPr lang="en-US" sz="2000" dirty="0"/>
              <a:t>Until this reserve base is established, train nationals to raise general human and state capacity. Provide the NOC with only a limited budget for building operational </a:t>
            </a:r>
            <a:r>
              <a:rPr lang="en-US" sz="2000" dirty="0" smtClean="0"/>
              <a:t>skills</a:t>
            </a:r>
          </a:p>
          <a:p>
            <a:pPr algn="just">
              <a:buFont typeface="Arial"/>
              <a:buChar char="•"/>
            </a:pPr>
            <a:r>
              <a:rPr lang="en-US" sz="2000" dirty="0" smtClean="0"/>
              <a:t>Be strategic about capacity building</a:t>
            </a:r>
          </a:p>
          <a:p>
            <a:pPr algn="just">
              <a:buFont typeface="Arial"/>
              <a:buChar char="•"/>
            </a:pPr>
            <a:r>
              <a:rPr lang="en-US" sz="2000" dirty="0" smtClean="0"/>
              <a:t>Approve an explicit financial model for the NOC and introduce strong accounting and reporting standards</a:t>
            </a:r>
            <a:endParaRPr lang="en-US" sz="2000" dirty="0"/>
          </a:p>
          <a:p>
            <a:pPr marL="0" indent="0">
              <a:buNone/>
            </a:pPr>
            <a:endParaRPr lang="en-GB" dirty="0"/>
          </a:p>
        </p:txBody>
      </p:sp>
      <p:graphicFrame>
        <p:nvGraphicFramePr>
          <p:cNvPr id="6" name="Diagram 5"/>
          <p:cNvGraphicFramePr/>
          <p:nvPr>
            <p:extLst>
              <p:ext uri="{D42A27DB-BD31-4B8C-83A1-F6EECF244321}">
                <p14:modId xmlns:p14="http://schemas.microsoft.com/office/powerpoint/2010/main" val="4045304729"/>
              </p:ext>
            </p:extLst>
          </p:nvPr>
        </p:nvGraphicFramePr>
        <p:xfrm>
          <a:off x="1475656" y="4205312"/>
          <a:ext cx="6504384" cy="18879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10" name="Group 9"/>
          <p:cNvGrpSpPr/>
          <p:nvPr/>
        </p:nvGrpSpPr>
        <p:grpSpPr>
          <a:xfrm>
            <a:off x="7668000" y="5742000"/>
            <a:ext cx="1007451" cy="580847"/>
            <a:chOff x="7596219" y="5733058"/>
            <a:chExt cx="1007451" cy="580847"/>
          </a:xfrm>
        </p:grpSpPr>
        <p:sp>
          <p:nvSpPr>
            <p:cNvPr id="12" name="Action Button: Return 11">
              <a:hlinkClick r:id="rId7" action="ppaction://hlinksldjump" highlightClick="1"/>
            </p:cNvPr>
            <p:cNvSpPr/>
            <p:nvPr/>
          </p:nvSpPr>
          <p:spPr bwMode="auto">
            <a:xfrm>
              <a:off x="7787504" y="5733256"/>
              <a:ext cx="360040" cy="298800"/>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3" name="Action Button: Home 12">
              <a:hlinkClick r:id="rId8" action="ppaction://hlinksldjump" highlightClick="1"/>
            </p:cNvPr>
            <p:cNvSpPr/>
            <p:nvPr/>
          </p:nvSpPr>
          <p:spPr bwMode="auto">
            <a:xfrm>
              <a:off x="8243630" y="5733058"/>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4" name="TextBox 13">
              <a:hlinkClick r:id="" action="ppaction://noaction"/>
            </p:cNvPr>
            <p:cNvSpPr txBox="1"/>
            <p:nvPr/>
          </p:nvSpPr>
          <p:spPr>
            <a:xfrm>
              <a:off x="7596219" y="6059989"/>
              <a:ext cx="792205" cy="253916"/>
            </a:xfrm>
            <a:prstGeom prst="actionButtonReturn">
              <a:avLst/>
            </a:prstGeom>
            <a:noFill/>
          </p:spPr>
          <p:txBody>
            <a:bodyPr wrap="none" rtlCol="0">
              <a:spAutoFit/>
            </a:bodyPr>
            <a:lstStyle/>
            <a:p>
              <a:pPr algn="ctr"/>
              <a:r>
                <a:rPr lang="en-US" sz="1050" i="1" dirty="0" smtClean="0"/>
                <a:t>Objective 6</a:t>
              </a:r>
              <a:endParaRPr lang="en-US" sz="1050" i="1" dirty="0"/>
            </a:p>
          </p:txBody>
        </p:sp>
      </p:grpSp>
    </p:spTree>
    <p:extLst>
      <p:ext uri="{BB962C8B-B14F-4D97-AF65-F5344CB8AC3E}">
        <p14:creationId xmlns:p14="http://schemas.microsoft.com/office/powerpoint/2010/main" val="408100469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203848" y="332656"/>
            <a:ext cx="2929987" cy="2929987"/>
            <a:chOff x="2552968" y="0"/>
            <a:chExt cx="2929987" cy="2929987"/>
          </a:xfrm>
        </p:grpSpPr>
        <p:sp>
          <p:nvSpPr>
            <p:cNvPr id="3" name="Oval 2"/>
            <p:cNvSpPr/>
            <p:nvPr/>
          </p:nvSpPr>
          <p:spPr>
            <a:xfrm>
              <a:off x="2552968" y="0"/>
              <a:ext cx="2929987" cy="2929987"/>
            </a:xfrm>
            <a:prstGeom prst="ellipse">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4" name="Oval 4"/>
            <p:cNvSpPr/>
            <p:nvPr/>
          </p:nvSpPr>
          <p:spPr>
            <a:xfrm>
              <a:off x="2982055" y="429087"/>
              <a:ext cx="2071813" cy="207181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1750" tIns="31750" rIns="31750" bIns="31750" numCol="1" spcCol="1270" anchor="ctr" anchorCtr="0">
              <a:noAutofit/>
            </a:bodyPr>
            <a:lstStyle/>
            <a:p>
              <a:pPr lvl="0" algn="ctr" defTabSz="1111250">
                <a:lnSpc>
                  <a:spcPct val="90000"/>
                </a:lnSpc>
                <a:spcBef>
                  <a:spcPct val="0"/>
                </a:spcBef>
                <a:spcAft>
                  <a:spcPct val="35000"/>
                </a:spcAft>
              </a:pPr>
              <a:r>
                <a:rPr lang="en-US" sz="2500" kern="1200" dirty="0" smtClean="0"/>
                <a:t>Objective 7: Increase Accountability</a:t>
              </a:r>
              <a:endParaRPr lang="en-US" sz="2500" kern="1200" dirty="0"/>
            </a:p>
          </p:txBody>
        </p:sp>
      </p:grpSp>
      <p:sp>
        <p:nvSpPr>
          <p:cNvPr id="6" name="Freeform 9">
            <a:hlinkClick r:id="rId2" action="ppaction://hlinksldjump"/>
          </p:cNvPr>
          <p:cNvSpPr/>
          <p:nvPr/>
        </p:nvSpPr>
        <p:spPr>
          <a:xfrm>
            <a:off x="755576" y="3429000"/>
            <a:ext cx="7848872" cy="720080"/>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defTabSz="1555750">
              <a:lnSpc>
                <a:spcPct val="90000"/>
              </a:lnSpc>
              <a:spcAft>
                <a:spcPct val="35000"/>
              </a:spcAft>
            </a:pPr>
            <a:r>
              <a:rPr lang="en-US" sz="2000" dirty="0"/>
              <a:t>Policy </a:t>
            </a:r>
            <a:r>
              <a:rPr lang="en-US" sz="2000" dirty="0" smtClean="0"/>
              <a:t>Option: Take regulatory responsibilities away from the NOC</a:t>
            </a:r>
            <a:endParaRPr lang="en-US" sz="2000" i="1" kern="1200" dirty="0"/>
          </a:p>
        </p:txBody>
      </p:sp>
      <p:sp>
        <p:nvSpPr>
          <p:cNvPr id="12" name="Freeform 10">
            <a:hlinkClick r:id="rId3" action="ppaction://hlinksldjump"/>
          </p:cNvPr>
          <p:cNvSpPr/>
          <p:nvPr/>
        </p:nvSpPr>
        <p:spPr>
          <a:xfrm>
            <a:off x="755576" y="4221088"/>
            <a:ext cx="7859216" cy="720080"/>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defTabSz="1555750">
              <a:lnSpc>
                <a:spcPct val="90000"/>
              </a:lnSpc>
              <a:spcAft>
                <a:spcPct val="35000"/>
              </a:spcAft>
            </a:pPr>
            <a:r>
              <a:rPr lang="en-US" sz="2000" dirty="0"/>
              <a:t>Recommendations </a:t>
            </a:r>
            <a:r>
              <a:rPr lang="en-US" sz="2000" dirty="0" smtClean="0"/>
              <a:t>for</a:t>
            </a:r>
            <a:r>
              <a:rPr lang="en-GB" sz="2000" dirty="0" smtClean="0">
                <a:cs typeface="Arial Black"/>
              </a:rPr>
              <a:t> overcoming entrenched interests in a reform</a:t>
            </a:r>
            <a:endParaRPr lang="en-US" sz="2000" kern="1200" dirty="0"/>
          </a:p>
        </p:txBody>
      </p:sp>
      <p:sp>
        <p:nvSpPr>
          <p:cNvPr id="13" name="Freeform 10">
            <a:hlinkClick r:id="rId4" action="ppaction://hlinksldjump"/>
          </p:cNvPr>
          <p:cNvSpPr/>
          <p:nvPr/>
        </p:nvSpPr>
        <p:spPr>
          <a:xfrm>
            <a:off x="755576" y="5013176"/>
            <a:ext cx="7848872" cy="684105"/>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r>
              <a:rPr lang="en-US" sz="2000" dirty="0" smtClean="0"/>
              <a:t>Recommendations for weeding out corruption</a:t>
            </a:r>
            <a:endParaRPr lang="en-GB" sz="2000" dirty="0">
              <a:cs typeface="Arial"/>
            </a:endParaRPr>
          </a:p>
        </p:txBody>
      </p:sp>
      <p:sp>
        <p:nvSpPr>
          <p:cNvPr id="14" name="Action Button: Home 13">
            <a:hlinkClick r:id="rId5" action="ppaction://hlinksldjump" highlightClick="1"/>
          </p:cNvPr>
          <p:cNvSpPr/>
          <p:nvPr/>
        </p:nvSpPr>
        <p:spPr bwMode="auto">
          <a:xfrm>
            <a:off x="8317754" y="5937346"/>
            <a:ext cx="360040" cy="288032"/>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cxnSp>
        <p:nvCxnSpPr>
          <p:cNvPr id="15" name="Straight Connector 14"/>
          <p:cNvCxnSpPr/>
          <p:nvPr/>
        </p:nvCxnSpPr>
        <p:spPr>
          <a:xfrm>
            <a:off x="468000" y="6310800"/>
            <a:ext cx="8208000" cy="0"/>
          </a:xfrm>
          <a:prstGeom prst="line">
            <a:avLst/>
          </a:prstGeom>
          <a:ln w="19050" cmpd="thickThi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Slide Number Placeholder 2"/>
          <p:cNvSpPr>
            <a:spLocks noGrp="1"/>
          </p:cNvSpPr>
          <p:nvPr>
            <p:ph type="sldNum" sz="quarter" idx="4294967295"/>
          </p:nvPr>
        </p:nvSpPr>
        <p:spPr>
          <a:xfrm>
            <a:off x="6553200" y="6356350"/>
            <a:ext cx="2133600" cy="365125"/>
          </a:xfrm>
        </p:spPr>
        <p:txBody>
          <a:bodyPr/>
          <a:lstStyle/>
          <a:p>
            <a:fld id="{418A78CD-E27B-441A-A2B1-21C1D5FFEB65}" type="slidenum">
              <a:rPr lang="en-US" sz="1200" smtClean="0">
                <a:solidFill>
                  <a:prstClr val="black"/>
                </a:solidFill>
                <a:latin typeface="Georgia" pitchFamily="18" charset="0"/>
              </a:rPr>
              <a:pPr/>
              <a:t>61</a:t>
            </a:fld>
            <a:endParaRPr lang="en-US" sz="1200" dirty="0">
              <a:solidFill>
                <a:prstClr val="black"/>
              </a:solidFill>
              <a:latin typeface="Georgia" pitchFamily="18" charset="0"/>
            </a:endParaRPr>
          </a:p>
        </p:txBody>
      </p:sp>
      <p:sp>
        <p:nvSpPr>
          <p:cNvPr id="17"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Tree>
    <p:extLst>
      <p:ext uri="{BB962C8B-B14F-4D97-AF65-F5344CB8AC3E}">
        <p14:creationId xmlns:p14="http://schemas.microsoft.com/office/powerpoint/2010/main" val="60449574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62</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p:txBody>
          <a:bodyPr>
            <a:normAutofit fontScale="70000" lnSpcReduction="20000"/>
          </a:bodyPr>
          <a:lstStyle/>
          <a:p>
            <a:r>
              <a:rPr lang="en-GB" dirty="0" smtClean="0"/>
              <a:t>Policy option: Taking regulatory responsibilities from the NOC</a:t>
            </a:r>
            <a:endParaRPr lang="en-GB" dirty="0"/>
          </a:p>
        </p:txBody>
      </p:sp>
      <p:sp>
        <p:nvSpPr>
          <p:cNvPr id="5" name="Text Placeholder 4"/>
          <p:cNvSpPr>
            <a:spLocks noGrp="1"/>
          </p:cNvSpPr>
          <p:nvPr>
            <p:ph type="body" sz="quarter" idx="11"/>
          </p:nvPr>
        </p:nvSpPr>
        <p:spPr>
          <a:xfrm>
            <a:off x="415699" y="1412776"/>
            <a:ext cx="8208143" cy="1512168"/>
          </a:xfrm>
        </p:spPr>
        <p:txBody>
          <a:bodyPr>
            <a:normAutofit/>
          </a:bodyPr>
          <a:lstStyle/>
          <a:p>
            <a:r>
              <a:rPr lang="en-US" sz="2200" dirty="0"/>
              <a:t>To increase accountability, governments can introduce more checks and balances into the system</a:t>
            </a:r>
          </a:p>
          <a:p>
            <a:r>
              <a:rPr lang="en-US" sz="2200" dirty="0"/>
              <a:t>This can mean taking some or all governance roles away from the NOC and creating an independent regulatory </a:t>
            </a:r>
            <a:r>
              <a:rPr lang="en-US" sz="2200" dirty="0" smtClean="0"/>
              <a:t>agency</a:t>
            </a:r>
          </a:p>
          <a:p>
            <a:pPr marL="0" indent="0">
              <a:buNone/>
            </a:pPr>
            <a:endParaRPr lang="en-US" sz="2400" dirty="0" smtClean="0"/>
          </a:p>
          <a:p>
            <a:pPr marL="0" indent="0">
              <a:buNone/>
            </a:pPr>
            <a:endParaRPr lang="en-US" sz="2400" dirty="0" smtClean="0"/>
          </a:p>
          <a:p>
            <a:pPr marL="0" indent="0">
              <a:buNone/>
            </a:pPr>
            <a:endParaRPr lang="en-US" sz="2500" dirty="0"/>
          </a:p>
        </p:txBody>
      </p:sp>
      <p:sp>
        <p:nvSpPr>
          <p:cNvPr id="6" name="Freeform 10">
            <a:hlinkClick r:id="rId2" action="ppaction://hlinksldjump"/>
          </p:cNvPr>
          <p:cNvSpPr/>
          <p:nvPr/>
        </p:nvSpPr>
        <p:spPr>
          <a:xfrm>
            <a:off x="683567" y="4977143"/>
            <a:ext cx="7940275" cy="612097"/>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algn="ctr" defTabSz="1555750">
              <a:lnSpc>
                <a:spcPct val="90000"/>
              </a:lnSpc>
              <a:spcAft>
                <a:spcPct val="35000"/>
              </a:spcAft>
            </a:pPr>
            <a:r>
              <a:rPr lang="en-US" sz="2000" kern="1200" dirty="0" smtClean="0"/>
              <a:t>Recommendations for overcoming entrenched interests</a:t>
            </a:r>
            <a:endParaRPr lang="en-US" sz="2000" kern="1200" dirty="0"/>
          </a:p>
        </p:txBody>
      </p:sp>
      <p:grpSp>
        <p:nvGrpSpPr>
          <p:cNvPr id="8" name="Group 7"/>
          <p:cNvGrpSpPr/>
          <p:nvPr/>
        </p:nvGrpSpPr>
        <p:grpSpPr>
          <a:xfrm>
            <a:off x="7668000" y="5742000"/>
            <a:ext cx="955616" cy="542146"/>
            <a:chOff x="7668227" y="5733058"/>
            <a:chExt cx="955616" cy="542146"/>
          </a:xfrm>
        </p:grpSpPr>
        <p:sp>
          <p:nvSpPr>
            <p:cNvPr id="7" name="Action Button: Return 6">
              <a:hlinkClick r:id="rId3" action="ppaction://hlinksldjump" highlightClick="1"/>
            </p:cNvPr>
            <p:cNvSpPr/>
            <p:nvPr/>
          </p:nvSpPr>
          <p:spPr bwMode="auto">
            <a:xfrm>
              <a:off x="7873682" y="5733058"/>
              <a:ext cx="360040" cy="298800"/>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9" name="TextBox 8">
              <a:hlinkClick r:id="" action="ppaction://noaction"/>
            </p:cNvPr>
            <p:cNvSpPr txBox="1"/>
            <p:nvPr/>
          </p:nvSpPr>
          <p:spPr>
            <a:xfrm>
              <a:off x="7668227" y="6021288"/>
              <a:ext cx="792205" cy="253916"/>
            </a:xfrm>
            <a:prstGeom prst="actionButtonReturn">
              <a:avLst/>
            </a:prstGeom>
            <a:noFill/>
          </p:spPr>
          <p:txBody>
            <a:bodyPr wrap="none" rtlCol="0">
              <a:spAutoFit/>
            </a:bodyPr>
            <a:lstStyle/>
            <a:p>
              <a:pPr algn="ctr"/>
              <a:r>
                <a:rPr lang="en-US" sz="1050" i="1" dirty="0" smtClean="0"/>
                <a:t>Objective </a:t>
              </a:r>
              <a:r>
                <a:rPr lang="en-US" sz="1050" i="1" dirty="0"/>
                <a:t>7</a:t>
              </a:r>
            </a:p>
          </p:txBody>
        </p:sp>
        <p:sp>
          <p:nvSpPr>
            <p:cNvPr id="10" name="Action Button: Home 9">
              <a:hlinkClick r:id="rId4" action="ppaction://hlinksldjump" highlightClick="1"/>
            </p:cNvPr>
            <p:cNvSpPr/>
            <p:nvPr/>
          </p:nvSpPr>
          <p:spPr bwMode="auto">
            <a:xfrm>
              <a:off x="8263803" y="5742558"/>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
        <p:nvSpPr>
          <p:cNvPr id="11" name="TextBox 10"/>
          <p:cNvSpPr txBox="1"/>
          <p:nvPr/>
        </p:nvSpPr>
        <p:spPr>
          <a:xfrm>
            <a:off x="448150" y="3390091"/>
            <a:ext cx="8228306" cy="830997"/>
          </a:xfrm>
          <a:prstGeom prst="rect">
            <a:avLst/>
          </a:prstGeom>
          <a:noFill/>
        </p:spPr>
        <p:txBody>
          <a:bodyPr wrap="square" rtlCol="0">
            <a:spAutoFit/>
          </a:bodyPr>
          <a:lstStyle/>
          <a:p>
            <a:pPr lvl="0"/>
            <a:r>
              <a:rPr lang="en-US" sz="2400" dirty="0">
                <a:solidFill>
                  <a:prstClr val="black"/>
                </a:solidFill>
                <a:latin typeface="Georgia" pitchFamily="18" charset="0"/>
              </a:rPr>
              <a:t>Challenge: Reforms that upset entrenched interests are likely to be opposed</a:t>
            </a:r>
          </a:p>
        </p:txBody>
      </p:sp>
    </p:spTree>
    <p:extLst>
      <p:ext uri="{BB962C8B-B14F-4D97-AF65-F5344CB8AC3E}">
        <p14:creationId xmlns:p14="http://schemas.microsoft.com/office/powerpoint/2010/main" val="72344224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63</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a:xfrm>
            <a:off x="468313" y="116632"/>
            <a:ext cx="8208143" cy="576064"/>
          </a:xfrm>
        </p:spPr>
        <p:txBody>
          <a:bodyPr>
            <a:noAutofit/>
          </a:bodyPr>
          <a:lstStyle/>
          <a:p>
            <a:r>
              <a:rPr lang="en-GB" sz="2400" dirty="0" smtClean="0"/>
              <a:t>Recommendations for overcoming entrenched interests in a reform</a:t>
            </a:r>
            <a:endParaRPr lang="en-GB" sz="2400" dirty="0"/>
          </a:p>
        </p:txBody>
      </p:sp>
      <p:sp>
        <p:nvSpPr>
          <p:cNvPr id="5" name="Text Placeholder 4"/>
          <p:cNvSpPr>
            <a:spLocks noGrp="1"/>
          </p:cNvSpPr>
          <p:nvPr>
            <p:ph type="body" sz="quarter" idx="11"/>
          </p:nvPr>
        </p:nvSpPr>
        <p:spPr>
          <a:xfrm>
            <a:off x="415473" y="1268760"/>
            <a:ext cx="8208143" cy="4176464"/>
          </a:xfrm>
        </p:spPr>
        <p:txBody>
          <a:bodyPr>
            <a:normAutofit/>
          </a:bodyPr>
          <a:lstStyle/>
          <a:p>
            <a:pPr algn="just"/>
            <a:r>
              <a:rPr lang="en-US" sz="2200" dirty="0" smtClean="0"/>
              <a:t>Early stage: start with one credible body to regulate</a:t>
            </a:r>
          </a:p>
          <a:p>
            <a:pPr algn="just"/>
            <a:endParaRPr lang="en-US" sz="1400" dirty="0" smtClean="0"/>
          </a:p>
          <a:p>
            <a:pPr algn="just"/>
            <a:r>
              <a:rPr lang="en-US" sz="2200" dirty="0" smtClean="0"/>
              <a:t>Over time build capacity elsewhere to create checks</a:t>
            </a:r>
          </a:p>
          <a:p>
            <a:pPr algn="just"/>
            <a:endParaRPr lang="en-US" sz="1400" dirty="0" smtClean="0"/>
          </a:p>
          <a:p>
            <a:pPr algn="just"/>
            <a:r>
              <a:rPr lang="en-US" sz="2200" dirty="0" smtClean="0"/>
              <a:t>Regulatory functions should be established from the beginning in functionally distinct units to allow easier spin off when reform comes</a:t>
            </a:r>
          </a:p>
          <a:p>
            <a:pPr algn="just"/>
            <a:endParaRPr lang="en-US" sz="1400" dirty="0" smtClean="0"/>
          </a:p>
          <a:p>
            <a:pPr algn="just"/>
            <a:r>
              <a:rPr lang="en-US" sz="2200" dirty="0" smtClean="0"/>
              <a:t>Require </a:t>
            </a:r>
            <a:r>
              <a:rPr lang="en-US" sz="2200" dirty="0" err="1" smtClean="0"/>
              <a:t>secondment</a:t>
            </a:r>
            <a:r>
              <a:rPr lang="en-US" sz="2200" dirty="0" smtClean="0"/>
              <a:t> of old regulator staff to new agency</a:t>
            </a:r>
          </a:p>
          <a:p>
            <a:pPr algn="just"/>
            <a:endParaRPr lang="en-US" sz="1400" dirty="0" smtClean="0"/>
          </a:p>
          <a:p>
            <a:r>
              <a:rPr lang="en-US" sz="2200" dirty="0"/>
              <a:t>E</a:t>
            </a:r>
            <a:r>
              <a:rPr lang="en-US" sz="2200" dirty="0" smtClean="0"/>
              <a:t>stablish </a:t>
            </a:r>
            <a:r>
              <a:rPr lang="en-US" sz="2200" dirty="0"/>
              <a:t>a credible, legitimate group to direct the pace and shape of incremental </a:t>
            </a:r>
            <a:r>
              <a:rPr lang="en-US" sz="2200" dirty="0" smtClean="0"/>
              <a:t>reform</a:t>
            </a:r>
            <a:endParaRPr lang="en-US" sz="2200" dirty="0"/>
          </a:p>
          <a:p>
            <a:pPr algn="just"/>
            <a:endParaRPr lang="en-US" sz="2400" dirty="0" smtClean="0"/>
          </a:p>
          <a:p>
            <a:pPr algn="just"/>
            <a:endParaRPr lang="en-US" sz="2400" dirty="0"/>
          </a:p>
          <a:p>
            <a:pPr marL="0" indent="0">
              <a:buNone/>
            </a:pPr>
            <a:endParaRPr lang="en-US" sz="2400" dirty="0"/>
          </a:p>
          <a:p>
            <a:pPr marL="0" indent="0" algn="just">
              <a:buNone/>
            </a:pPr>
            <a:endParaRPr lang="en-US" sz="1600" dirty="0"/>
          </a:p>
        </p:txBody>
      </p:sp>
      <p:grpSp>
        <p:nvGrpSpPr>
          <p:cNvPr id="12" name="Group 11"/>
          <p:cNvGrpSpPr/>
          <p:nvPr/>
        </p:nvGrpSpPr>
        <p:grpSpPr>
          <a:xfrm>
            <a:off x="7668000" y="5742000"/>
            <a:ext cx="955616" cy="542146"/>
            <a:chOff x="7668227" y="5733058"/>
            <a:chExt cx="955616" cy="542146"/>
          </a:xfrm>
        </p:grpSpPr>
        <p:sp>
          <p:nvSpPr>
            <p:cNvPr id="13" name="Action Button: Return 12">
              <a:hlinkClick r:id="rId2" action="ppaction://hlinksldjump" highlightClick="1"/>
            </p:cNvPr>
            <p:cNvSpPr/>
            <p:nvPr/>
          </p:nvSpPr>
          <p:spPr bwMode="auto">
            <a:xfrm>
              <a:off x="7873682" y="5733058"/>
              <a:ext cx="360040" cy="298800"/>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4" name="TextBox 13">
              <a:hlinkClick r:id="" action="ppaction://noaction"/>
            </p:cNvPr>
            <p:cNvSpPr txBox="1"/>
            <p:nvPr/>
          </p:nvSpPr>
          <p:spPr>
            <a:xfrm>
              <a:off x="7668227" y="6021288"/>
              <a:ext cx="792205" cy="253916"/>
            </a:xfrm>
            <a:prstGeom prst="actionButtonReturn">
              <a:avLst/>
            </a:prstGeom>
            <a:noFill/>
          </p:spPr>
          <p:txBody>
            <a:bodyPr wrap="none" rtlCol="0">
              <a:spAutoFit/>
            </a:bodyPr>
            <a:lstStyle/>
            <a:p>
              <a:pPr algn="ctr"/>
              <a:r>
                <a:rPr lang="en-US" sz="1050" i="1" dirty="0" smtClean="0"/>
                <a:t>Objective </a:t>
              </a:r>
              <a:r>
                <a:rPr lang="en-US" sz="1050" i="1" dirty="0"/>
                <a:t>7</a:t>
              </a:r>
            </a:p>
          </p:txBody>
        </p:sp>
        <p:sp>
          <p:nvSpPr>
            <p:cNvPr id="15" name="Action Button: Home 14">
              <a:hlinkClick r:id="rId3" action="ppaction://hlinksldjump" highlightClick="1"/>
            </p:cNvPr>
            <p:cNvSpPr/>
            <p:nvPr/>
          </p:nvSpPr>
          <p:spPr bwMode="auto">
            <a:xfrm>
              <a:off x="8263803" y="5742558"/>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Tree>
    <p:extLst>
      <p:ext uri="{BB962C8B-B14F-4D97-AF65-F5344CB8AC3E}">
        <p14:creationId xmlns:p14="http://schemas.microsoft.com/office/powerpoint/2010/main" val="103089538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64</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p:txBody>
          <a:bodyPr>
            <a:normAutofit fontScale="85000" lnSpcReduction="20000"/>
          </a:bodyPr>
          <a:lstStyle/>
          <a:p>
            <a:r>
              <a:rPr lang="en-GB" dirty="0" smtClean="0"/>
              <a:t>Challenge: Weeding out corruption</a:t>
            </a:r>
            <a:endParaRPr lang="en-GB" dirty="0"/>
          </a:p>
        </p:txBody>
      </p:sp>
      <p:sp>
        <p:nvSpPr>
          <p:cNvPr id="5" name="Text Placeholder 4"/>
          <p:cNvSpPr>
            <a:spLocks noGrp="1"/>
          </p:cNvSpPr>
          <p:nvPr>
            <p:ph type="body" sz="quarter" idx="11"/>
          </p:nvPr>
        </p:nvSpPr>
        <p:spPr>
          <a:xfrm>
            <a:off x="415699" y="2132856"/>
            <a:ext cx="8208143" cy="1656184"/>
          </a:xfrm>
        </p:spPr>
        <p:txBody>
          <a:bodyPr>
            <a:normAutofit/>
          </a:bodyPr>
          <a:lstStyle/>
          <a:p>
            <a:pPr marL="0" indent="0" algn="ctr">
              <a:buNone/>
            </a:pPr>
            <a:r>
              <a:rPr lang="en-US" sz="2400" dirty="0" smtClean="0"/>
              <a:t>International regulation against bribery and transparency measures have made a dent on corrupt practices, but it remains difficult to eliminate corruption where it has thrived. </a:t>
            </a:r>
            <a:endParaRPr lang="en-US" sz="2400" dirty="0"/>
          </a:p>
        </p:txBody>
      </p:sp>
      <p:sp>
        <p:nvSpPr>
          <p:cNvPr id="6" name="Freeform 10">
            <a:hlinkClick r:id="rId2" action="ppaction://hlinksldjump"/>
          </p:cNvPr>
          <p:cNvSpPr/>
          <p:nvPr/>
        </p:nvSpPr>
        <p:spPr>
          <a:xfrm>
            <a:off x="683567" y="4977143"/>
            <a:ext cx="7940275" cy="612097"/>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algn="ctr" defTabSz="1555750">
              <a:lnSpc>
                <a:spcPct val="90000"/>
              </a:lnSpc>
              <a:spcAft>
                <a:spcPct val="35000"/>
              </a:spcAft>
            </a:pPr>
            <a:r>
              <a:rPr lang="en-US" sz="2000" kern="1200" dirty="0" smtClean="0"/>
              <a:t>Recommendations for weeding out corruption</a:t>
            </a:r>
            <a:endParaRPr lang="en-US" sz="2000" kern="1200" dirty="0"/>
          </a:p>
        </p:txBody>
      </p:sp>
      <p:grpSp>
        <p:nvGrpSpPr>
          <p:cNvPr id="11" name="Group 10"/>
          <p:cNvGrpSpPr/>
          <p:nvPr/>
        </p:nvGrpSpPr>
        <p:grpSpPr>
          <a:xfrm>
            <a:off x="7668000" y="5742000"/>
            <a:ext cx="955616" cy="542146"/>
            <a:chOff x="7668227" y="5733058"/>
            <a:chExt cx="955616" cy="542146"/>
          </a:xfrm>
        </p:grpSpPr>
        <p:sp>
          <p:nvSpPr>
            <p:cNvPr id="12" name="Action Button: Return 11">
              <a:hlinkClick r:id="rId3" action="ppaction://hlinksldjump" highlightClick="1"/>
            </p:cNvPr>
            <p:cNvSpPr/>
            <p:nvPr/>
          </p:nvSpPr>
          <p:spPr bwMode="auto">
            <a:xfrm>
              <a:off x="7873682" y="5733058"/>
              <a:ext cx="360040" cy="298800"/>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3" name="TextBox 12">
              <a:hlinkClick r:id="" action="ppaction://noaction"/>
            </p:cNvPr>
            <p:cNvSpPr txBox="1"/>
            <p:nvPr/>
          </p:nvSpPr>
          <p:spPr>
            <a:xfrm>
              <a:off x="7668227" y="6021288"/>
              <a:ext cx="792205" cy="253916"/>
            </a:xfrm>
            <a:prstGeom prst="actionButtonReturn">
              <a:avLst/>
            </a:prstGeom>
            <a:noFill/>
          </p:spPr>
          <p:txBody>
            <a:bodyPr wrap="none" rtlCol="0">
              <a:spAutoFit/>
            </a:bodyPr>
            <a:lstStyle/>
            <a:p>
              <a:pPr algn="ctr"/>
              <a:r>
                <a:rPr lang="en-US" sz="1050" i="1" dirty="0" smtClean="0"/>
                <a:t>Objective </a:t>
              </a:r>
              <a:r>
                <a:rPr lang="en-US" sz="1050" i="1" dirty="0"/>
                <a:t>7</a:t>
              </a:r>
            </a:p>
          </p:txBody>
        </p:sp>
        <p:sp>
          <p:nvSpPr>
            <p:cNvPr id="14" name="Action Button: Home 13">
              <a:hlinkClick r:id="rId4" action="ppaction://hlinksldjump" highlightClick="1"/>
            </p:cNvPr>
            <p:cNvSpPr/>
            <p:nvPr/>
          </p:nvSpPr>
          <p:spPr bwMode="auto">
            <a:xfrm>
              <a:off x="8263803" y="5742558"/>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Tree>
    <p:extLst>
      <p:ext uri="{BB962C8B-B14F-4D97-AF65-F5344CB8AC3E}">
        <p14:creationId xmlns:p14="http://schemas.microsoft.com/office/powerpoint/2010/main" val="399181817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65</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a:xfrm>
            <a:off x="468313" y="188640"/>
            <a:ext cx="8208143" cy="576064"/>
          </a:xfrm>
        </p:spPr>
        <p:txBody>
          <a:bodyPr>
            <a:noAutofit/>
          </a:bodyPr>
          <a:lstStyle/>
          <a:p>
            <a:r>
              <a:rPr lang="en-GB" sz="2400" dirty="0" smtClean="0"/>
              <a:t>Recommendations for weeding out corruption</a:t>
            </a:r>
            <a:endParaRPr lang="en-GB" sz="2400" dirty="0"/>
          </a:p>
        </p:txBody>
      </p:sp>
      <p:sp>
        <p:nvSpPr>
          <p:cNvPr id="5" name="Text Placeholder 4"/>
          <p:cNvSpPr>
            <a:spLocks noGrp="1"/>
          </p:cNvSpPr>
          <p:nvPr>
            <p:ph type="body" sz="quarter" idx="11"/>
          </p:nvPr>
        </p:nvSpPr>
        <p:spPr>
          <a:xfrm>
            <a:off x="415473" y="1412776"/>
            <a:ext cx="8208143" cy="3696981"/>
          </a:xfrm>
        </p:spPr>
        <p:txBody>
          <a:bodyPr>
            <a:noAutofit/>
          </a:bodyPr>
          <a:lstStyle/>
          <a:p>
            <a:pPr algn="just"/>
            <a:r>
              <a:rPr lang="en-US" sz="2000" dirty="0" smtClean="0"/>
              <a:t>Governments and oil companies should view corruption as an enormously costly problem</a:t>
            </a:r>
          </a:p>
          <a:p>
            <a:pPr algn="just"/>
            <a:r>
              <a:rPr lang="en-US" sz="2000" dirty="0" smtClean="0"/>
              <a:t>Professionalism </a:t>
            </a:r>
            <a:r>
              <a:rPr lang="en-US" sz="2000" dirty="0"/>
              <a:t>and transparency are important antidotes to </a:t>
            </a:r>
            <a:r>
              <a:rPr lang="en-US" sz="2000" dirty="0" smtClean="0"/>
              <a:t>corruption</a:t>
            </a:r>
          </a:p>
          <a:p>
            <a:pPr algn="just"/>
            <a:r>
              <a:rPr lang="en-US" sz="2000" dirty="0" smtClean="0"/>
              <a:t>Transparency is especially needed in </a:t>
            </a:r>
            <a:r>
              <a:rPr lang="en-US" sz="2000" dirty="0"/>
              <a:t>transactions and </a:t>
            </a:r>
            <a:r>
              <a:rPr lang="en-US" sz="2000" dirty="0" smtClean="0"/>
              <a:t>procurement</a:t>
            </a:r>
            <a:endParaRPr lang="en-US" sz="2000" dirty="0"/>
          </a:p>
          <a:p>
            <a:pPr algn="just"/>
            <a:r>
              <a:rPr lang="en-US" sz="2000" dirty="0" smtClean="0"/>
              <a:t>Independent </a:t>
            </a:r>
            <a:r>
              <a:rPr lang="en-US" sz="2000" dirty="0"/>
              <a:t>and </a:t>
            </a:r>
            <a:r>
              <a:rPr lang="en-US" sz="2000" dirty="0" smtClean="0"/>
              <a:t>competent judiciary </a:t>
            </a:r>
            <a:r>
              <a:rPr lang="en-US" sz="2000" dirty="0"/>
              <a:t>and other state </a:t>
            </a:r>
            <a:r>
              <a:rPr lang="en-US" sz="2000" dirty="0" smtClean="0"/>
              <a:t>institutions ensure checks </a:t>
            </a:r>
            <a:r>
              <a:rPr lang="en-US" sz="2000" dirty="0"/>
              <a:t>and balances </a:t>
            </a:r>
            <a:endParaRPr lang="en-US" sz="2000" dirty="0" smtClean="0"/>
          </a:p>
          <a:p>
            <a:pPr algn="just"/>
            <a:r>
              <a:rPr lang="en-US" sz="2000" dirty="0"/>
              <a:t>E</a:t>
            </a:r>
            <a:r>
              <a:rPr lang="en-US" sz="2000" dirty="0" smtClean="0"/>
              <a:t>ngage </a:t>
            </a:r>
            <a:r>
              <a:rPr lang="en-US" sz="2000" dirty="0"/>
              <a:t>with civil society groups </a:t>
            </a:r>
            <a:r>
              <a:rPr lang="en-US" sz="2000" dirty="0" smtClean="0"/>
              <a:t>by informing </a:t>
            </a:r>
            <a:r>
              <a:rPr lang="en-US" sz="2000" dirty="0"/>
              <a:t>them and </a:t>
            </a:r>
            <a:r>
              <a:rPr lang="en-US" sz="2000" dirty="0" smtClean="0"/>
              <a:t>enabling them to demand higher standards </a:t>
            </a:r>
            <a:r>
              <a:rPr lang="en-US" sz="2000" dirty="0"/>
              <a:t>of </a:t>
            </a:r>
            <a:r>
              <a:rPr lang="en-US" sz="2000" dirty="0" smtClean="0"/>
              <a:t>performance</a:t>
            </a:r>
          </a:p>
          <a:p>
            <a:pPr algn="just"/>
            <a:r>
              <a:rPr lang="en-US" sz="2000" dirty="0" smtClean="0"/>
              <a:t>Oil companies and NOCs should implement </a:t>
            </a:r>
            <a:r>
              <a:rPr lang="en-GB" sz="2000" dirty="0"/>
              <a:t>anti-corruption compliance </a:t>
            </a:r>
            <a:r>
              <a:rPr lang="en-GB" sz="2000" dirty="0" smtClean="0"/>
              <a:t>programmes</a:t>
            </a:r>
          </a:p>
        </p:txBody>
      </p:sp>
      <p:grpSp>
        <p:nvGrpSpPr>
          <p:cNvPr id="11" name="Group 10"/>
          <p:cNvGrpSpPr/>
          <p:nvPr/>
        </p:nvGrpSpPr>
        <p:grpSpPr>
          <a:xfrm>
            <a:off x="7668000" y="5742000"/>
            <a:ext cx="955616" cy="542146"/>
            <a:chOff x="7668227" y="5733058"/>
            <a:chExt cx="955616" cy="542146"/>
          </a:xfrm>
        </p:grpSpPr>
        <p:sp>
          <p:nvSpPr>
            <p:cNvPr id="12" name="Action Button: Return 11">
              <a:hlinkClick r:id="rId2" action="ppaction://hlinksldjump" highlightClick="1"/>
            </p:cNvPr>
            <p:cNvSpPr/>
            <p:nvPr/>
          </p:nvSpPr>
          <p:spPr bwMode="auto">
            <a:xfrm>
              <a:off x="7873682" y="5733058"/>
              <a:ext cx="360040" cy="298800"/>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3" name="TextBox 12">
              <a:hlinkClick r:id="" action="ppaction://noaction"/>
            </p:cNvPr>
            <p:cNvSpPr txBox="1"/>
            <p:nvPr/>
          </p:nvSpPr>
          <p:spPr>
            <a:xfrm>
              <a:off x="7668227" y="6021288"/>
              <a:ext cx="792205" cy="253916"/>
            </a:xfrm>
            <a:prstGeom prst="actionButtonReturn">
              <a:avLst/>
            </a:prstGeom>
            <a:noFill/>
          </p:spPr>
          <p:txBody>
            <a:bodyPr wrap="none" rtlCol="0">
              <a:spAutoFit/>
            </a:bodyPr>
            <a:lstStyle/>
            <a:p>
              <a:pPr algn="ctr"/>
              <a:r>
                <a:rPr lang="en-US" sz="1050" i="1" dirty="0" smtClean="0"/>
                <a:t>Objective </a:t>
              </a:r>
              <a:r>
                <a:rPr lang="en-US" sz="1050" i="1" dirty="0"/>
                <a:t>7</a:t>
              </a:r>
            </a:p>
          </p:txBody>
        </p:sp>
        <p:sp>
          <p:nvSpPr>
            <p:cNvPr id="14" name="Action Button: Home 13">
              <a:hlinkClick r:id="rId3" action="ppaction://hlinksldjump" highlightClick="1"/>
            </p:cNvPr>
            <p:cNvSpPr/>
            <p:nvPr/>
          </p:nvSpPr>
          <p:spPr bwMode="auto">
            <a:xfrm>
              <a:off x="8263803" y="5742558"/>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Tree>
    <p:extLst>
      <p:ext uri="{BB962C8B-B14F-4D97-AF65-F5344CB8AC3E}">
        <p14:creationId xmlns:p14="http://schemas.microsoft.com/office/powerpoint/2010/main" val="212397888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203848" y="456087"/>
            <a:ext cx="2929987" cy="2929987"/>
            <a:chOff x="2552968" y="0"/>
            <a:chExt cx="2929987" cy="2929987"/>
          </a:xfrm>
        </p:grpSpPr>
        <p:sp>
          <p:nvSpPr>
            <p:cNvPr id="3" name="Oval 2"/>
            <p:cNvSpPr/>
            <p:nvPr/>
          </p:nvSpPr>
          <p:spPr>
            <a:xfrm>
              <a:off x="2552968" y="0"/>
              <a:ext cx="2929987" cy="2929987"/>
            </a:xfrm>
            <a:prstGeom prst="ellipse">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4" name="Oval 4"/>
            <p:cNvSpPr/>
            <p:nvPr/>
          </p:nvSpPr>
          <p:spPr>
            <a:xfrm>
              <a:off x="2982055" y="429087"/>
              <a:ext cx="2071813" cy="207181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1750" tIns="31750" rIns="31750" bIns="31750" numCol="1" spcCol="1270" anchor="ctr" anchorCtr="0">
              <a:noAutofit/>
            </a:bodyPr>
            <a:lstStyle/>
            <a:p>
              <a:pPr lvl="0" algn="ctr" defTabSz="1111250">
                <a:lnSpc>
                  <a:spcPct val="90000"/>
                </a:lnSpc>
                <a:spcBef>
                  <a:spcPct val="0"/>
                </a:spcBef>
                <a:spcAft>
                  <a:spcPct val="35000"/>
                </a:spcAft>
              </a:pPr>
              <a:r>
                <a:rPr lang="en-US" sz="2500" kern="1200" dirty="0" smtClean="0"/>
                <a:t>Objective </a:t>
              </a:r>
              <a:r>
                <a:rPr lang="en-US" sz="2500" dirty="0"/>
                <a:t>8</a:t>
              </a:r>
              <a:r>
                <a:rPr lang="en-US" sz="2500" kern="1200" dirty="0" smtClean="0"/>
                <a:t>: Safeguard the environment</a:t>
              </a:r>
              <a:endParaRPr lang="en-US" sz="2500" kern="1200" dirty="0"/>
            </a:p>
          </p:txBody>
        </p:sp>
      </p:grpSp>
      <p:sp>
        <p:nvSpPr>
          <p:cNvPr id="12" name="Freeform 10">
            <a:hlinkClick r:id="rId2" action="ppaction://hlinksldjump"/>
          </p:cNvPr>
          <p:cNvSpPr/>
          <p:nvPr/>
        </p:nvSpPr>
        <p:spPr>
          <a:xfrm>
            <a:off x="869207" y="4797152"/>
            <a:ext cx="7859216" cy="720080"/>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defTabSz="1555750">
              <a:lnSpc>
                <a:spcPct val="90000"/>
              </a:lnSpc>
              <a:spcAft>
                <a:spcPct val="35000"/>
              </a:spcAft>
            </a:pPr>
            <a:r>
              <a:rPr lang="en-US" sz="2000" dirty="0"/>
              <a:t>Recommendations </a:t>
            </a:r>
            <a:r>
              <a:rPr lang="en-US" sz="2000" dirty="0" smtClean="0"/>
              <a:t>to prevent flaring</a:t>
            </a:r>
            <a:endParaRPr lang="en-US" sz="2000" kern="1200" dirty="0"/>
          </a:p>
        </p:txBody>
      </p:sp>
      <p:sp>
        <p:nvSpPr>
          <p:cNvPr id="14" name="Freeform 10">
            <a:hlinkClick r:id="" action="ppaction://hlinkshowjump?jump=nextslide"/>
          </p:cNvPr>
          <p:cNvSpPr/>
          <p:nvPr/>
        </p:nvSpPr>
        <p:spPr>
          <a:xfrm>
            <a:off x="889248" y="3933056"/>
            <a:ext cx="7859216" cy="720080"/>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defTabSz="1555750">
              <a:lnSpc>
                <a:spcPct val="90000"/>
              </a:lnSpc>
              <a:spcAft>
                <a:spcPct val="35000"/>
              </a:spcAft>
            </a:pPr>
            <a:r>
              <a:rPr lang="en-US" sz="2000" dirty="0"/>
              <a:t>Recommendations for minimizing operational risk</a:t>
            </a:r>
          </a:p>
        </p:txBody>
      </p:sp>
      <p:sp>
        <p:nvSpPr>
          <p:cNvPr id="13" name="Action Button: Home 12">
            <a:hlinkClick r:id="rId3" action="ppaction://hlinksldjump" highlightClick="1"/>
          </p:cNvPr>
          <p:cNvSpPr/>
          <p:nvPr/>
        </p:nvSpPr>
        <p:spPr bwMode="auto">
          <a:xfrm>
            <a:off x="8317754" y="5937346"/>
            <a:ext cx="360040" cy="288032"/>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5" name="Slide Number Placeholder 2"/>
          <p:cNvSpPr>
            <a:spLocks noGrp="1"/>
          </p:cNvSpPr>
          <p:nvPr>
            <p:ph type="sldNum" sz="quarter" idx="4294967295"/>
          </p:nvPr>
        </p:nvSpPr>
        <p:spPr>
          <a:xfrm>
            <a:off x="6553200" y="6356350"/>
            <a:ext cx="2133600" cy="365125"/>
          </a:xfrm>
        </p:spPr>
        <p:txBody>
          <a:bodyPr/>
          <a:lstStyle/>
          <a:p>
            <a:fld id="{418A78CD-E27B-441A-A2B1-21C1D5FFEB65}" type="slidenum">
              <a:rPr lang="en-US" sz="1200" smtClean="0">
                <a:solidFill>
                  <a:prstClr val="black"/>
                </a:solidFill>
                <a:latin typeface="Georgia" pitchFamily="18" charset="0"/>
              </a:rPr>
              <a:pPr/>
              <a:t>66</a:t>
            </a:fld>
            <a:endParaRPr lang="en-US" sz="1200" dirty="0">
              <a:solidFill>
                <a:prstClr val="black"/>
              </a:solidFill>
              <a:latin typeface="Georgia" pitchFamily="18" charset="0"/>
            </a:endParaRPr>
          </a:p>
        </p:txBody>
      </p:sp>
      <p:sp>
        <p:nvSpPr>
          <p:cNvPr id="16"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cxnSp>
        <p:nvCxnSpPr>
          <p:cNvPr id="17" name="Straight Connector 16"/>
          <p:cNvCxnSpPr/>
          <p:nvPr/>
        </p:nvCxnSpPr>
        <p:spPr>
          <a:xfrm>
            <a:off x="468000" y="6310800"/>
            <a:ext cx="8208000" cy="0"/>
          </a:xfrm>
          <a:prstGeom prst="line">
            <a:avLst/>
          </a:prstGeom>
          <a:ln w="19050" cmpd="thickThi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544489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4294967295"/>
          </p:nvPr>
        </p:nvSpPr>
        <p:spPr>
          <a:xfrm>
            <a:off x="482797" y="1451608"/>
            <a:ext cx="8207375" cy="3600450"/>
          </a:xfrm>
        </p:spPr>
        <p:txBody>
          <a:bodyPr>
            <a:normAutofit/>
          </a:bodyPr>
          <a:lstStyle/>
          <a:p>
            <a:r>
              <a:rPr lang="en-GB" sz="2100" dirty="0"/>
              <a:t>Risks are </a:t>
            </a:r>
            <a:r>
              <a:rPr lang="en-GB" sz="2100" dirty="0" smtClean="0"/>
              <a:t>high </a:t>
            </a:r>
          </a:p>
          <a:p>
            <a:r>
              <a:rPr lang="en-GB" sz="2100" dirty="0" smtClean="0"/>
              <a:t>Regulating requires highly specialized knowledge</a:t>
            </a:r>
          </a:p>
          <a:p>
            <a:r>
              <a:rPr lang="en-GB" sz="2100" dirty="0" smtClean="0"/>
              <a:t>In </a:t>
            </a:r>
            <a:r>
              <a:rPr lang="en-GB" sz="2100" dirty="0"/>
              <a:t>practice </a:t>
            </a:r>
            <a:r>
              <a:rPr lang="en-GB" sz="2100" dirty="0" smtClean="0"/>
              <a:t>many </a:t>
            </a:r>
            <a:r>
              <a:rPr lang="en-GB" sz="2100" dirty="0"/>
              <a:t>governments must rely on foreign oil company operators to </a:t>
            </a:r>
            <a:r>
              <a:rPr lang="en-GB" sz="2100" dirty="0" smtClean="0"/>
              <a:t>self-regulate</a:t>
            </a:r>
            <a:endParaRPr lang="en-GB" sz="2100" dirty="0"/>
          </a:p>
          <a:p>
            <a:pPr marL="0" indent="0">
              <a:buNone/>
            </a:pPr>
            <a:endParaRPr lang="en-GB" sz="2100" i="1" dirty="0" smtClean="0">
              <a:latin typeface="+mn-lt"/>
            </a:endParaRPr>
          </a:p>
          <a:p>
            <a:pPr marL="0" indent="0">
              <a:buNone/>
            </a:pPr>
            <a:endParaRPr lang="en-GB" sz="2100" i="1" dirty="0"/>
          </a:p>
          <a:p>
            <a:pPr marL="0" indent="0">
              <a:buNone/>
            </a:pPr>
            <a:r>
              <a:rPr lang="en-GB" sz="2100" i="1" dirty="0" smtClean="0"/>
              <a:t>“We are just lucky that nothing has happened.”</a:t>
            </a:r>
          </a:p>
          <a:p>
            <a:pPr marL="0" indent="0" algn="r">
              <a:buNone/>
            </a:pPr>
            <a:r>
              <a:rPr lang="en-GB" sz="1800" i="1" dirty="0" smtClean="0"/>
              <a:t>- </a:t>
            </a:r>
            <a:r>
              <a:rPr lang="en-GB" sz="1400" i="1" dirty="0" smtClean="0"/>
              <a:t>A participant at the 2014 Discussion Group meeting</a:t>
            </a:r>
            <a:endParaRPr lang="en-GB" sz="1400" i="1" dirty="0"/>
          </a:p>
        </p:txBody>
      </p:sp>
      <p:sp>
        <p:nvSpPr>
          <p:cNvPr id="6" name="Freeform 9"/>
          <p:cNvSpPr/>
          <p:nvPr/>
        </p:nvSpPr>
        <p:spPr>
          <a:xfrm>
            <a:off x="568523" y="260648"/>
            <a:ext cx="8035925" cy="792146"/>
          </a:xfrm>
          <a:prstGeom prst="roundRect">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algn="ctr"/>
            <a:r>
              <a:rPr lang="en-US" sz="2000" dirty="0" smtClean="0"/>
              <a:t>Challenge: Regulating to minimize operational risk in a low capacity setting</a:t>
            </a:r>
            <a:endParaRPr lang="en-US" sz="2000" dirty="0"/>
          </a:p>
        </p:txBody>
      </p:sp>
      <p:sp>
        <p:nvSpPr>
          <p:cNvPr id="7" name="Freeform 10">
            <a:hlinkClick r:id="rId2" action="ppaction://hlinksldjump"/>
          </p:cNvPr>
          <p:cNvSpPr/>
          <p:nvPr/>
        </p:nvSpPr>
        <p:spPr>
          <a:xfrm>
            <a:off x="611560" y="5052058"/>
            <a:ext cx="7920879" cy="540089"/>
          </a:xfrm>
          <a:prstGeom prst="roundRect">
            <a:avLst/>
          </a:prstGeom>
          <a:solidFill>
            <a:srgbClr val="C0504D"/>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lvl="0" algn="ctr" defTabSz="1555750">
              <a:lnSpc>
                <a:spcPct val="90000"/>
              </a:lnSpc>
              <a:spcAft>
                <a:spcPct val="35000"/>
              </a:spcAft>
            </a:pPr>
            <a:r>
              <a:rPr lang="en-US" sz="2000" dirty="0"/>
              <a:t>Recommendations </a:t>
            </a:r>
            <a:r>
              <a:rPr lang="en-US" sz="2000" dirty="0" smtClean="0"/>
              <a:t>for minimizing operational risk</a:t>
            </a:r>
            <a:endParaRPr lang="en-US" sz="2000" kern="1200" dirty="0"/>
          </a:p>
        </p:txBody>
      </p:sp>
      <p:grpSp>
        <p:nvGrpSpPr>
          <p:cNvPr id="14" name="Group 13"/>
          <p:cNvGrpSpPr/>
          <p:nvPr/>
        </p:nvGrpSpPr>
        <p:grpSpPr>
          <a:xfrm>
            <a:off x="7668000" y="5742000"/>
            <a:ext cx="1014743" cy="566712"/>
            <a:chOff x="7524328" y="5708492"/>
            <a:chExt cx="1014743" cy="566712"/>
          </a:xfrm>
        </p:grpSpPr>
        <p:sp>
          <p:nvSpPr>
            <p:cNvPr id="8" name="Action Button: Return 7">
              <a:hlinkClick r:id="rId3" action="ppaction://hlinksldjump" highlightClick="1"/>
            </p:cNvPr>
            <p:cNvSpPr/>
            <p:nvPr/>
          </p:nvSpPr>
          <p:spPr bwMode="auto">
            <a:xfrm>
              <a:off x="7740352" y="5722488"/>
              <a:ext cx="360040" cy="298800"/>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9" name="TextBox 8">
              <a:hlinkClick r:id="" action="ppaction://noaction"/>
            </p:cNvPr>
            <p:cNvSpPr txBox="1"/>
            <p:nvPr/>
          </p:nvSpPr>
          <p:spPr>
            <a:xfrm>
              <a:off x="7524328" y="6021288"/>
              <a:ext cx="825949" cy="253916"/>
            </a:xfrm>
            <a:prstGeom prst="actionButtonReturn">
              <a:avLst/>
            </a:prstGeom>
            <a:noFill/>
          </p:spPr>
          <p:txBody>
            <a:bodyPr wrap="none" rtlCol="0">
              <a:spAutoFit/>
            </a:bodyPr>
            <a:lstStyle/>
            <a:p>
              <a:pPr algn="ctr"/>
              <a:r>
                <a:rPr lang="en-US" sz="1050" i="1" dirty="0" smtClean="0"/>
                <a:t>Objective 8</a:t>
              </a:r>
              <a:endParaRPr lang="en-US" sz="1050" i="1" dirty="0"/>
            </a:p>
          </p:txBody>
        </p:sp>
        <p:sp>
          <p:nvSpPr>
            <p:cNvPr id="10" name="Action Button: Home 9">
              <a:hlinkClick r:id="rId4" action="ppaction://hlinksldjump" highlightClick="1"/>
            </p:cNvPr>
            <p:cNvSpPr/>
            <p:nvPr/>
          </p:nvSpPr>
          <p:spPr bwMode="auto">
            <a:xfrm>
              <a:off x="8179031" y="5708492"/>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cxnSp>
        <p:nvCxnSpPr>
          <p:cNvPr id="11" name="Straight Connector 10"/>
          <p:cNvCxnSpPr/>
          <p:nvPr/>
        </p:nvCxnSpPr>
        <p:spPr>
          <a:xfrm>
            <a:off x="468000" y="6310800"/>
            <a:ext cx="8208000" cy="0"/>
          </a:xfrm>
          <a:prstGeom prst="line">
            <a:avLst/>
          </a:prstGeom>
          <a:ln w="19050" cmpd="thickThi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13" name="Slide Number Placeholder 2"/>
          <p:cNvSpPr>
            <a:spLocks noGrp="1"/>
          </p:cNvSpPr>
          <p:nvPr>
            <p:ph type="sldNum" sz="quarter" idx="4294967295"/>
          </p:nvPr>
        </p:nvSpPr>
        <p:spPr>
          <a:xfrm>
            <a:off x="6553200" y="6356350"/>
            <a:ext cx="2133600" cy="365125"/>
          </a:xfrm>
        </p:spPr>
        <p:txBody>
          <a:bodyPr/>
          <a:lstStyle/>
          <a:p>
            <a:fld id="{418A78CD-E27B-441A-A2B1-21C1D5FFEB65}" type="slidenum">
              <a:rPr lang="en-US" sz="1200" smtClean="0">
                <a:solidFill>
                  <a:prstClr val="black"/>
                </a:solidFill>
                <a:latin typeface="Georgia" pitchFamily="18" charset="0"/>
              </a:rPr>
              <a:pPr/>
              <a:t>67</a:t>
            </a:fld>
            <a:endParaRPr lang="en-US" sz="1200" dirty="0">
              <a:solidFill>
                <a:prstClr val="black"/>
              </a:solidFill>
              <a:latin typeface="Georgia" pitchFamily="18" charset="0"/>
            </a:endParaRPr>
          </a:p>
        </p:txBody>
      </p:sp>
    </p:spTree>
    <p:extLst>
      <p:ext uri="{BB962C8B-B14F-4D97-AF65-F5344CB8AC3E}">
        <p14:creationId xmlns:p14="http://schemas.microsoft.com/office/powerpoint/2010/main" val="393287906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68</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p:txBody>
          <a:bodyPr>
            <a:normAutofit fontScale="85000" lnSpcReduction="20000"/>
          </a:bodyPr>
          <a:lstStyle/>
          <a:p>
            <a:r>
              <a:rPr lang="en-GB" dirty="0"/>
              <a:t>Recommendations </a:t>
            </a:r>
            <a:r>
              <a:rPr lang="en-GB" dirty="0" smtClean="0"/>
              <a:t>to minimize operational risk</a:t>
            </a:r>
            <a:endParaRPr lang="en-GB" dirty="0"/>
          </a:p>
          <a:p>
            <a:endParaRPr lang="en-GB" dirty="0"/>
          </a:p>
        </p:txBody>
      </p:sp>
      <p:sp>
        <p:nvSpPr>
          <p:cNvPr id="5" name="Text Placeholder 4"/>
          <p:cNvSpPr>
            <a:spLocks noGrp="1"/>
          </p:cNvSpPr>
          <p:nvPr>
            <p:ph type="body" sz="quarter" idx="11"/>
          </p:nvPr>
        </p:nvSpPr>
        <p:spPr>
          <a:xfrm>
            <a:off x="474600" y="1556792"/>
            <a:ext cx="8208143" cy="3888432"/>
          </a:xfrm>
        </p:spPr>
        <p:txBody>
          <a:bodyPr>
            <a:normAutofit lnSpcReduction="10000"/>
          </a:bodyPr>
          <a:lstStyle/>
          <a:p>
            <a:pPr>
              <a:spcAft>
                <a:spcPts val="600"/>
              </a:spcAft>
            </a:pPr>
            <a:r>
              <a:rPr lang="en-GB" sz="2000" dirty="0" smtClean="0"/>
              <a:t>Adopt goals-based performance-focused regulatory regime (creates the right incentives)</a:t>
            </a:r>
          </a:p>
          <a:p>
            <a:pPr>
              <a:spcAft>
                <a:spcPts val="600"/>
              </a:spcAft>
            </a:pPr>
            <a:r>
              <a:rPr lang="en-GB" sz="2000" dirty="0" smtClean="0"/>
              <a:t>Not the check-box rules-based regime</a:t>
            </a:r>
          </a:p>
          <a:p>
            <a:pPr>
              <a:spcAft>
                <a:spcPts val="600"/>
              </a:spcAft>
            </a:pPr>
            <a:r>
              <a:rPr lang="en-GB" sz="2000" dirty="0" smtClean="0"/>
              <a:t>Invest in capacity building to understand technical risks</a:t>
            </a:r>
          </a:p>
          <a:p>
            <a:pPr>
              <a:spcAft>
                <a:spcPts val="600"/>
              </a:spcAft>
            </a:pPr>
            <a:r>
              <a:rPr lang="en-GB" sz="2000" dirty="0" smtClean="0"/>
              <a:t>Until have the capacity, access it by other means:</a:t>
            </a:r>
          </a:p>
          <a:p>
            <a:pPr lvl="1">
              <a:spcAft>
                <a:spcPts val="600"/>
              </a:spcAft>
            </a:pPr>
            <a:r>
              <a:rPr lang="en-GB" sz="2000" dirty="0" smtClean="0"/>
              <a:t>Network of regulators</a:t>
            </a:r>
          </a:p>
          <a:p>
            <a:pPr lvl="1">
              <a:spcAft>
                <a:spcPts val="600"/>
              </a:spcAft>
            </a:pPr>
            <a:r>
              <a:rPr lang="en-GB" sz="2000" dirty="0" smtClean="0"/>
              <a:t>Share technical experts with neighbours</a:t>
            </a:r>
          </a:p>
          <a:p>
            <a:pPr lvl="1">
              <a:spcAft>
                <a:spcPts val="600"/>
              </a:spcAft>
            </a:pPr>
            <a:r>
              <a:rPr lang="en-GB" sz="2000" dirty="0" smtClean="0"/>
              <a:t>Ask oil companies for their advice</a:t>
            </a:r>
          </a:p>
          <a:p>
            <a:pPr lvl="1">
              <a:spcAft>
                <a:spcPts val="600"/>
              </a:spcAft>
            </a:pPr>
            <a:r>
              <a:rPr lang="en-GB" sz="2000" dirty="0" smtClean="0"/>
              <a:t>Ask consultants for support</a:t>
            </a:r>
          </a:p>
          <a:p>
            <a:pPr lvl="1">
              <a:spcAft>
                <a:spcPts val="600"/>
              </a:spcAft>
            </a:pPr>
            <a:r>
              <a:rPr lang="en-GB" sz="2000" dirty="0" smtClean="0"/>
              <a:t>Draw on international standards to write your regulations</a:t>
            </a:r>
          </a:p>
          <a:p>
            <a:pPr>
              <a:spcAft>
                <a:spcPts val="600"/>
              </a:spcAft>
            </a:pPr>
            <a:r>
              <a:rPr lang="en-GB" sz="2000" dirty="0" smtClean="0"/>
              <a:t>Don’t forget provisions for decommissioning</a:t>
            </a:r>
            <a:endParaRPr lang="en-GB" sz="2000" dirty="0"/>
          </a:p>
        </p:txBody>
      </p:sp>
      <p:grpSp>
        <p:nvGrpSpPr>
          <p:cNvPr id="9" name="Group 8"/>
          <p:cNvGrpSpPr/>
          <p:nvPr/>
        </p:nvGrpSpPr>
        <p:grpSpPr>
          <a:xfrm>
            <a:off x="7668000" y="5742000"/>
            <a:ext cx="1014743" cy="566712"/>
            <a:chOff x="7524328" y="5708492"/>
            <a:chExt cx="1014743" cy="566712"/>
          </a:xfrm>
        </p:grpSpPr>
        <p:sp>
          <p:nvSpPr>
            <p:cNvPr id="10" name="Action Button: Return 9">
              <a:hlinkClick r:id="rId2" action="ppaction://hlinksldjump" highlightClick="1"/>
            </p:cNvPr>
            <p:cNvSpPr/>
            <p:nvPr/>
          </p:nvSpPr>
          <p:spPr bwMode="auto">
            <a:xfrm>
              <a:off x="7740352" y="5722488"/>
              <a:ext cx="360040" cy="298800"/>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1" name="TextBox 10">
              <a:hlinkClick r:id="" action="ppaction://noaction"/>
            </p:cNvPr>
            <p:cNvSpPr txBox="1"/>
            <p:nvPr/>
          </p:nvSpPr>
          <p:spPr>
            <a:xfrm>
              <a:off x="7524328" y="6021288"/>
              <a:ext cx="825949" cy="253916"/>
            </a:xfrm>
            <a:prstGeom prst="actionButtonReturn">
              <a:avLst/>
            </a:prstGeom>
            <a:noFill/>
          </p:spPr>
          <p:txBody>
            <a:bodyPr wrap="none" rtlCol="0">
              <a:spAutoFit/>
            </a:bodyPr>
            <a:lstStyle/>
            <a:p>
              <a:pPr algn="ctr"/>
              <a:r>
                <a:rPr lang="en-US" sz="1050" i="1" dirty="0" smtClean="0"/>
                <a:t>Objective 8</a:t>
              </a:r>
              <a:endParaRPr lang="en-US" sz="1050" i="1" dirty="0"/>
            </a:p>
          </p:txBody>
        </p:sp>
        <p:sp>
          <p:nvSpPr>
            <p:cNvPr id="12" name="Action Button: Home 11">
              <a:hlinkClick r:id="rId3" action="ppaction://hlinksldjump" highlightClick="1"/>
            </p:cNvPr>
            <p:cNvSpPr/>
            <p:nvPr/>
          </p:nvSpPr>
          <p:spPr bwMode="auto">
            <a:xfrm>
              <a:off x="8179031" y="5708492"/>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Tree>
    <p:extLst>
      <p:ext uri="{BB962C8B-B14F-4D97-AF65-F5344CB8AC3E}">
        <p14:creationId xmlns:p14="http://schemas.microsoft.com/office/powerpoint/2010/main" val="1875885310"/>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
          <p:cNvSpPr/>
          <p:nvPr/>
        </p:nvSpPr>
        <p:spPr>
          <a:xfrm>
            <a:off x="467544" y="332598"/>
            <a:ext cx="8035925" cy="792146"/>
          </a:xfrm>
          <a:prstGeom prst="roundRect">
            <a:avLst/>
          </a:prstGeom>
          <a:solidFill>
            <a:srgbClr val="00669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33350" tIns="133350" rIns="133350" bIns="133350" numCol="1" spcCol="1270" anchor="ctr" anchorCtr="0">
            <a:noAutofit/>
          </a:bodyPr>
          <a:lstStyle/>
          <a:p>
            <a:pPr defTabSz="1555750">
              <a:lnSpc>
                <a:spcPct val="90000"/>
              </a:lnSpc>
              <a:spcAft>
                <a:spcPct val="35000"/>
              </a:spcAft>
            </a:pPr>
            <a:endParaRPr lang="en-US" dirty="0" smtClean="0"/>
          </a:p>
          <a:p>
            <a:pPr algn="ctr" defTabSz="1555750">
              <a:lnSpc>
                <a:spcPct val="90000"/>
              </a:lnSpc>
              <a:spcAft>
                <a:spcPct val="35000"/>
              </a:spcAft>
            </a:pPr>
            <a:r>
              <a:rPr lang="en-US" sz="2000" dirty="0" smtClean="0"/>
              <a:t>Challenge 2: Prevention of flaring</a:t>
            </a:r>
          </a:p>
          <a:p>
            <a:pPr defTabSz="1555750">
              <a:lnSpc>
                <a:spcPct val="90000"/>
              </a:lnSpc>
              <a:spcAft>
                <a:spcPct val="35000"/>
              </a:spcAft>
            </a:pPr>
            <a:endParaRPr lang="en-US" dirty="0"/>
          </a:p>
        </p:txBody>
      </p:sp>
      <p:sp>
        <p:nvSpPr>
          <p:cNvPr id="4" name="Rectangle 3"/>
          <p:cNvSpPr/>
          <p:nvPr/>
        </p:nvSpPr>
        <p:spPr>
          <a:xfrm>
            <a:off x="3080119" y="1403639"/>
            <a:ext cx="5222512" cy="1200329"/>
          </a:xfrm>
          <a:prstGeom prst="rect">
            <a:avLst/>
          </a:prstGeom>
        </p:spPr>
        <p:txBody>
          <a:bodyPr wrap="square">
            <a:spAutoFit/>
          </a:bodyPr>
          <a:lstStyle/>
          <a:p>
            <a:r>
              <a:rPr lang="en-GB" sz="2400" dirty="0">
                <a:latin typeface="Georgia" pitchFamily="18" charset="0"/>
              </a:rPr>
              <a:t>w</a:t>
            </a:r>
            <a:r>
              <a:rPr lang="en-GB" sz="2400" dirty="0" smtClean="0">
                <a:latin typeface="Georgia" pitchFamily="18" charset="0"/>
              </a:rPr>
              <a:t>hen gas </a:t>
            </a:r>
            <a:r>
              <a:rPr lang="en-GB" sz="2400" dirty="0">
                <a:latin typeface="Georgia" pitchFamily="18" charset="0"/>
              </a:rPr>
              <a:t>found in oil (or sometimes condensate) reservoirs is not used by the operator</a:t>
            </a:r>
            <a:endParaRPr lang="en-US" sz="2400" dirty="0">
              <a:latin typeface="Georgia" pitchFamily="18" charset="0"/>
            </a:endParaRPr>
          </a:p>
        </p:txBody>
      </p:sp>
      <p:sp>
        <p:nvSpPr>
          <p:cNvPr id="5" name="TextBox 4"/>
          <p:cNvSpPr txBox="1"/>
          <p:nvPr/>
        </p:nvSpPr>
        <p:spPr>
          <a:xfrm>
            <a:off x="813912" y="1665040"/>
            <a:ext cx="1728192" cy="461665"/>
          </a:xfrm>
          <a:prstGeom prst="rect">
            <a:avLst/>
          </a:prstGeom>
          <a:noFill/>
        </p:spPr>
        <p:txBody>
          <a:bodyPr wrap="square" rtlCol="0">
            <a:spAutoFit/>
          </a:bodyPr>
          <a:lstStyle/>
          <a:p>
            <a:r>
              <a:rPr lang="en-US" sz="2400" dirty="0" smtClean="0">
                <a:latin typeface="Georgia" pitchFamily="18" charset="0"/>
              </a:rPr>
              <a:t>Flaring</a:t>
            </a:r>
            <a:endParaRPr lang="en-US" sz="2400" dirty="0">
              <a:latin typeface="Georgia" pitchFamily="18" charset="0"/>
            </a:endParaRPr>
          </a:p>
        </p:txBody>
      </p:sp>
      <p:sp>
        <p:nvSpPr>
          <p:cNvPr id="6" name="Right Arrow 5"/>
          <p:cNvSpPr/>
          <p:nvPr/>
        </p:nvSpPr>
        <p:spPr>
          <a:xfrm>
            <a:off x="2110056" y="1603568"/>
            <a:ext cx="864096" cy="6480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642091" y="2996952"/>
            <a:ext cx="7660540" cy="2308324"/>
          </a:xfrm>
          <a:prstGeom prst="rect">
            <a:avLst/>
          </a:prstGeom>
          <a:noFill/>
        </p:spPr>
        <p:txBody>
          <a:bodyPr wrap="square" rtlCol="0">
            <a:spAutoFit/>
          </a:bodyPr>
          <a:lstStyle/>
          <a:p>
            <a:pPr marL="285750" indent="-285750">
              <a:buFont typeface="Arial" pitchFamily="34" charset="0"/>
              <a:buChar char="•"/>
            </a:pPr>
            <a:r>
              <a:rPr lang="en-GB" sz="2100" dirty="0">
                <a:latin typeface="Georgia" pitchFamily="18" charset="0"/>
              </a:rPr>
              <a:t>C</a:t>
            </a:r>
            <a:r>
              <a:rPr lang="en-GB" sz="2100" dirty="0" smtClean="0">
                <a:latin typeface="Georgia" pitchFamily="18" charset="0"/>
              </a:rPr>
              <a:t>ostly </a:t>
            </a:r>
            <a:r>
              <a:rPr lang="en-GB" sz="2100" dirty="0">
                <a:latin typeface="Georgia" pitchFamily="18" charset="0"/>
              </a:rPr>
              <a:t>in terms </a:t>
            </a:r>
            <a:r>
              <a:rPr lang="en-GB" sz="2100" dirty="0" smtClean="0">
                <a:latin typeface="Georgia" pitchFamily="18" charset="0"/>
              </a:rPr>
              <a:t>of </a:t>
            </a:r>
            <a:r>
              <a:rPr lang="en-GB" sz="2100" dirty="0">
                <a:latin typeface="Georgia" pitchFamily="18" charset="0"/>
              </a:rPr>
              <a:t>environmental damage </a:t>
            </a:r>
            <a:r>
              <a:rPr lang="en-GB" sz="2100" dirty="0" smtClean="0">
                <a:latin typeface="Georgia" pitchFamily="18" charset="0"/>
              </a:rPr>
              <a:t>and missed economic opportunity</a:t>
            </a:r>
          </a:p>
          <a:p>
            <a:pPr marL="285750" indent="-285750">
              <a:buFont typeface="Arial" pitchFamily="34" charset="0"/>
              <a:buChar char="•"/>
            </a:pPr>
            <a:r>
              <a:rPr lang="en-US" sz="2100" dirty="0" smtClean="0">
                <a:latin typeface="Georgia" pitchFamily="18" charset="0"/>
              </a:rPr>
              <a:t>Difficult </a:t>
            </a:r>
            <a:r>
              <a:rPr lang="en-US" sz="2100" dirty="0">
                <a:latin typeface="Georgia" pitchFamily="18" charset="0"/>
              </a:rPr>
              <a:t>to avoid flaring once production begins without the right legal framework already in </a:t>
            </a:r>
            <a:r>
              <a:rPr lang="en-US" sz="2100" dirty="0" smtClean="0">
                <a:latin typeface="Georgia" pitchFamily="18" charset="0"/>
              </a:rPr>
              <a:t>place</a:t>
            </a:r>
          </a:p>
          <a:p>
            <a:pPr marL="285750" indent="-285750">
              <a:buFont typeface="Arial" pitchFamily="34" charset="0"/>
              <a:buChar char="•"/>
            </a:pPr>
            <a:r>
              <a:rPr lang="en-GB" sz="2100" dirty="0">
                <a:latin typeface="Georgia" pitchFamily="18" charset="0"/>
              </a:rPr>
              <a:t>Anticipating and preventing flaring at an early stage </a:t>
            </a:r>
            <a:endParaRPr lang="en-GB" sz="2100" dirty="0" smtClean="0">
              <a:latin typeface="Georgia" pitchFamily="18" charset="0"/>
            </a:endParaRPr>
          </a:p>
          <a:p>
            <a:r>
              <a:rPr lang="en-GB" sz="2100" dirty="0">
                <a:latin typeface="Georgia" pitchFamily="18" charset="0"/>
              </a:rPr>
              <a:t> </a:t>
            </a:r>
            <a:r>
              <a:rPr lang="en-GB" sz="2100" dirty="0" smtClean="0">
                <a:latin typeface="Georgia" pitchFamily="18" charset="0"/>
              </a:rPr>
              <a:t>   of </a:t>
            </a:r>
            <a:r>
              <a:rPr lang="en-GB" sz="2100" dirty="0">
                <a:latin typeface="Georgia" pitchFamily="18" charset="0"/>
              </a:rPr>
              <a:t>development is </a:t>
            </a:r>
            <a:r>
              <a:rPr lang="en-GB" sz="2100" dirty="0" smtClean="0">
                <a:latin typeface="Georgia" pitchFamily="18" charset="0"/>
              </a:rPr>
              <a:t>key</a:t>
            </a:r>
            <a:r>
              <a:rPr lang="en-GB" sz="2100" dirty="0">
                <a:latin typeface="Georgia" pitchFamily="18" charset="0"/>
              </a:rPr>
              <a:t>!</a:t>
            </a:r>
            <a:endParaRPr lang="en-US" sz="2100" dirty="0">
              <a:latin typeface="Georgia" pitchFamily="18" charset="0"/>
            </a:endParaRPr>
          </a:p>
          <a:p>
            <a:endParaRPr lang="en-US" dirty="0"/>
          </a:p>
        </p:txBody>
      </p:sp>
      <p:graphicFrame>
        <p:nvGraphicFramePr>
          <p:cNvPr id="15" name="Diagram 14">
            <a:hlinkClick r:id="rId2" action="ppaction://hlinksldjump"/>
          </p:cNvPr>
          <p:cNvGraphicFramePr/>
          <p:nvPr>
            <p:extLst>
              <p:ext uri="{D42A27DB-BD31-4B8C-83A1-F6EECF244321}">
                <p14:modId xmlns:p14="http://schemas.microsoft.com/office/powerpoint/2010/main" val="1600400195"/>
              </p:ext>
            </p:extLst>
          </p:nvPr>
        </p:nvGraphicFramePr>
        <p:xfrm>
          <a:off x="7236296" y="4437112"/>
          <a:ext cx="1521429" cy="10801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6" name="Group 15"/>
          <p:cNvGrpSpPr/>
          <p:nvPr/>
        </p:nvGrpSpPr>
        <p:grpSpPr>
          <a:xfrm>
            <a:off x="7668000" y="5742000"/>
            <a:ext cx="1014743" cy="566712"/>
            <a:chOff x="7524328" y="5708492"/>
            <a:chExt cx="1014743" cy="566712"/>
          </a:xfrm>
        </p:grpSpPr>
        <p:sp>
          <p:nvSpPr>
            <p:cNvPr id="17" name="Action Button: Return 16">
              <a:hlinkClick r:id="rId8" action="ppaction://hlinksldjump" highlightClick="1"/>
            </p:cNvPr>
            <p:cNvSpPr/>
            <p:nvPr/>
          </p:nvSpPr>
          <p:spPr bwMode="auto">
            <a:xfrm>
              <a:off x="7740352" y="5722488"/>
              <a:ext cx="360040" cy="298800"/>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8" name="TextBox 17">
              <a:hlinkClick r:id="" action="ppaction://noaction"/>
            </p:cNvPr>
            <p:cNvSpPr txBox="1"/>
            <p:nvPr/>
          </p:nvSpPr>
          <p:spPr>
            <a:xfrm>
              <a:off x="7524328" y="6021288"/>
              <a:ext cx="825949" cy="253916"/>
            </a:xfrm>
            <a:prstGeom prst="actionButtonReturn">
              <a:avLst/>
            </a:prstGeom>
            <a:noFill/>
          </p:spPr>
          <p:txBody>
            <a:bodyPr wrap="none" rtlCol="0">
              <a:spAutoFit/>
            </a:bodyPr>
            <a:lstStyle/>
            <a:p>
              <a:pPr algn="ctr"/>
              <a:r>
                <a:rPr lang="en-US" sz="1050" i="1" dirty="0" smtClean="0"/>
                <a:t>Objective 8</a:t>
              </a:r>
              <a:endParaRPr lang="en-US" sz="1050" i="1" dirty="0"/>
            </a:p>
          </p:txBody>
        </p:sp>
        <p:sp>
          <p:nvSpPr>
            <p:cNvPr id="19" name="Action Button: Home 18">
              <a:hlinkClick r:id="rId9" action="ppaction://hlinksldjump" highlightClick="1"/>
            </p:cNvPr>
            <p:cNvSpPr/>
            <p:nvPr/>
          </p:nvSpPr>
          <p:spPr bwMode="auto">
            <a:xfrm>
              <a:off x="8179031" y="5708492"/>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cxnSp>
        <p:nvCxnSpPr>
          <p:cNvPr id="20" name="Straight Connector 19"/>
          <p:cNvCxnSpPr/>
          <p:nvPr/>
        </p:nvCxnSpPr>
        <p:spPr>
          <a:xfrm>
            <a:off x="468000" y="6310800"/>
            <a:ext cx="8208000" cy="0"/>
          </a:xfrm>
          <a:prstGeom prst="line">
            <a:avLst/>
          </a:prstGeom>
          <a:ln w="19050" cmpd="thickThi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Slide Number Placeholder 2"/>
          <p:cNvSpPr>
            <a:spLocks noGrp="1"/>
          </p:cNvSpPr>
          <p:nvPr>
            <p:ph type="sldNum" sz="quarter" idx="4294967295"/>
          </p:nvPr>
        </p:nvSpPr>
        <p:spPr>
          <a:xfrm>
            <a:off x="6553200" y="6356350"/>
            <a:ext cx="2133600" cy="365125"/>
          </a:xfrm>
        </p:spPr>
        <p:txBody>
          <a:bodyPr/>
          <a:lstStyle/>
          <a:p>
            <a:fld id="{418A78CD-E27B-441A-A2B1-21C1D5FFEB65}" type="slidenum">
              <a:rPr lang="en-US" sz="1200" smtClean="0">
                <a:solidFill>
                  <a:prstClr val="black"/>
                </a:solidFill>
                <a:latin typeface="Georgia" pitchFamily="18" charset="0"/>
              </a:rPr>
              <a:pPr/>
              <a:t>69</a:t>
            </a:fld>
            <a:endParaRPr lang="en-US" sz="1200" dirty="0">
              <a:solidFill>
                <a:prstClr val="black"/>
              </a:solidFill>
              <a:latin typeface="Georgia" pitchFamily="18" charset="0"/>
            </a:endParaRPr>
          </a:p>
        </p:txBody>
      </p:sp>
      <p:sp>
        <p:nvSpPr>
          <p:cNvPr id="2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Tree>
    <p:extLst>
      <p:ext uri="{BB962C8B-B14F-4D97-AF65-F5344CB8AC3E}">
        <p14:creationId xmlns:p14="http://schemas.microsoft.com/office/powerpoint/2010/main" val="3307938270"/>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prstClr val="black"/>
                </a:solidFill>
                <a:latin typeface="Georgia" pitchFamily="18" charset="0"/>
              </a:rPr>
              <a:t>Chatham House  |  The Royal Institute of International Affairs </a:t>
            </a:r>
            <a:endParaRPr lang="en-US" dirty="0">
              <a:solidFill>
                <a:prstClr val="black"/>
              </a:solidFill>
              <a:latin typeface="Georgia" pitchFamily="18" charset="0"/>
            </a:endParaRP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prstClr val="black"/>
                </a:solidFill>
                <a:latin typeface="Georgia" pitchFamily="18" charset="0"/>
              </a:rPr>
              <a:pPr/>
              <a:t>70</a:t>
            </a:fld>
            <a:endParaRPr lang="en-US" sz="1200" dirty="0">
              <a:solidFill>
                <a:prstClr val="black"/>
              </a:solidFill>
              <a:latin typeface="Georgia" pitchFamily="18" charset="0"/>
            </a:endParaRPr>
          </a:p>
        </p:txBody>
      </p:sp>
      <p:sp>
        <p:nvSpPr>
          <p:cNvPr id="4" name="Text Placeholder 3"/>
          <p:cNvSpPr>
            <a:spLocks noGrp="1"/>
          </p:cNvSpPr>
          <p:nvPr>
            <p:ph type="body" sz="quarter" idx="10"/>
          </p:nvPr>
        </p:nvSpPr>
        <p:spPr/>
        <p:txBody>
          <a:bodyPr>
            <a:normAutofit fontScale="85000" lnSpcReduction="20000"/>
          </a:bodyPr>
          <a:lstStyle/>
          <a:p>
            <a:r>
              <a:rPr lang="en-GB" dirty="0" smtClean="0"/>
              <a:t>Prevention of flaring</a:t>
            </a:r>
            <a:endParaRPr lang="en-GB" dirty="0"/>
          </a:p>
        </p:txBody>
      </p:sp>
      <p:sp>
        <p:nvSpPr>
          <p:cNvPr id="5" name="Text Placeholder 4"/>
          <p:cNvSpPr>
            <a:spLocks noGrp="1"/>
          </p:cNvSpPr>
          <p:nvPr>
            <p:ph type="body" sz="quarter" idx="11"/>
          </p:nvPr>
        </p:nvSpPr>
        <p:spPr>
          <a:xfrm>
            <a:off x="474600" y="1700808"/>
            <a:ext cx="8208143" cy="3600400"/>
          </a:xfrm>
        </p:spPr>
        <p:txBody>
          <a:bodyPr>
            <a:normAutofit/>
          </a:bodyPr>
          <a:lstStyle/>
          <a:p>
            <a:pPr marL="0" indent="0" algn="ctr">
              <a:buNone/>
            </a:pPr>
            <a:r>
              <a:rPr lang="en-US" sz="2400" i="1" dirty="0"/>
              <a:t>Questions for further discussion</a:t>
            </a:r>
            <a:r>
              <a:rPr lang="en-US" sz="2400" i="1" dirty="0" smtClean="0"/>
              <a:t>:</a:t>
            </a:r>
          </a:p>
          <a:p>
            <a:pPr marL="0" indent="0">
              <a:buNone/>
            </a:pPr>
            <a:endParaRPr lang="en-US" sz="2400" dirty="0"/>
          </a:p>
          <a:p>
            <a:pPr>
              <a:buFont typeface="Wingdings" pitchFamily="2" charset="2"/>
              <a:buChar char="Ø"/>
            </a:pPr>
            <a:r>
              <a:rPr lang="en-US" sz="2400" dirty="0" smtClean="0"/>
              <a:t>When </a:t>
            </a:r>
            <a:r>
              <a:rPr lang="en-US" sz="2400" dirty="0"/>
              <a:t>is the right time to start planning around the necessary infrastructure to use associated gas</a:t>
            </a:r>
            <a:r>
              <a:rPr lang="en-US" sz="2400" dirty="0" smtClean="0"/>
              <a:t>?</a:t>
            </a:r>
          </a:p>
          <a:p>
            <a:pPr>
              <a:buFont typeface="Wingdings" pitchFamily="2" charset="2"/>
              <a:buChar char="Ø"/>
            </a:pPr>
            <a:r>
              <a:rPr lang="en-US" sz="2400" dirty="0" smtClean="0"/>
              <a:t>How stringent should regulations be on flaring without creating disincentive for investors?</a:t>
            </a:r>
            <a:endParaRPr lang="en-US" sz="2400" dirty="0"/>
          </a:p>
          <a:p>
            <a:pPr marL="457200" lvl="1" indent="0">
              <a:buNone/>
            </a:pPr>
            <a:endParaRPr lang="en-GB" dirty="0"/>
          </a:p>
        </p:txBody>
      </p:sp>
      <p:grpSp>
        <p:nvGrpSpPr>
          <p:cNvPr id="10" name="Group 9"/>
          <p:cNvGrpSpPr/>
          <p:nvPr/>
        </p:nvGrpSpPr>
        <p:grpSpPr>
          <a:xfrm>
            <a:off x="7812360" y="5742000"/>
            <a:ext cx="870383" cy="566712"/>
            <a:chOff x="7668688" y="5708492"/>
            <a:chExt cx="870383" cy="566712"/>
          </a:xfrm>
        </p:grpSpPr>
        <p:sp>
          <p:nvSpPr>
            <p:cNvPr id="11" name="Action Button: Return 10">
              <a:hlinkClick r:id="rId2" action="ppaction://hlinksldjump" highlightClick="1"/>
            </p:cNvPr>
            <p:cNvSpPr/>
            <p:nvPr/>
          </p:nvSpPr>
          <p:spPr bwMode="auto">
            <a:xfrm>
              <a:off x="7740352" y="5722488"/>
              <a:ext cx="360040" cy="298800"/>
            </a:xfrm>
            <a:prstGeom prst="actionButtonReturn">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sp>
          <p:nvSpPr>
            <p:cNvPr id="12" name="TextBox 11">
              <a:hlinkClick r:id="" action="ppaction://noaction"/>
            </p:cNvPr>
            <p:cNvSpPr txBox="1"/>
            <p:nvPr/>
          </p:nvSpPr>
          <p:spPr>
            <a:xfrm>
              <a:off x="7668688" y="6021288"/>
              <a:ext cx="444352" cy="253916"/>
            </a:xfrm>
            <a:prstGeom prst="actionButtonReturn">
              <a:avLst/>
            </a:prstGeom>
            <a:noFill/>
          </p:spPr>
          <p:txBody>
            <a:bodyPr wrap="none" rtlCol="0">
              <a:spAutoFit/>
            </a:bodyPr>
            <a:lstStyle/>
            <a:p>
              <a:pPr algn="ctr"/>
              <a:r>
                <a:rPr lang="en-US" sz="1050" i="1" dirty="0" smtClean="0"/>
                <a:t>Back</a:t>
              </a:r>
              <a:endParaRPr lang="en-US" sz="1050" i="1" dirty="0"/>
            </a:p>
          </p:txBody>
        </p:sp>
        <p:sp>
          <p:nvSpPr>
            <p:cNvPr id="13" name="Action Button: Home 12">
              <a:hlinkClick r:id="rId3" action="ppaction://hlinksldjump" highlightClick="1"/>
            </p:cNvPr>
            <p:cNvSpPr/>
            <p:nvPr/>
          </p:nvSpPr>
          <p:spPr bwMode="auto">
            <a:xfrm>
              <a:off x="8179031" y="5708492"/>
              <a:ext cx="360040" cy="298800"/>
            </a:xfrm>
            <a:prstGeom prst="actionButtonHome">
              <a:avLst/>
            </a:prstGeom>
            <a:solidFill>
              <a:srgbClr val="C0504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6699"/>
                </a:solidFill>
                <a:effectLst/>
                <a:latin typeface="Arial" charset="0"/>
              </a:endParaRPr>
            </a:p>
          </p:txBody>
        </p:sp>
      </p:grpSp>
    </p:spTree>
    <p:extLst>
      <p:ext uri="{BB962C8B-B14F-4D97-AF65-F5344CB8AC3E}">
        <p14:creationId xmlns:p14="http://schemas.microsoft.com/office/powerpoint/2010/main" val="426605463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4294967295"/>
          </p:nvPr>
        </p:nvSpPr>
        <p:spPr>
          <a:xfrm>
            <a:off x="467544" y="6356350"/>
            <a:ext cx="5552256" cy="365125"/>
          </a:xfrm>
        </p:spPr>
        <p:txBody>
          <a:bodyPr/>
          <a:lstStyle/>
          <a:p>
            <a:pPr algn="l"/>
            <a:r>
              <a:rPr lang="en-US" dirty="0" smtClean="0">
                <a:solidFill>
                  <a:schemeClr val="bg1"/>
                </a:solidFill>
                <a:latin typeface="Georgia" pitchFamily="18" charset="0"/>
              </a:rPr>
              <a:t>Chatham House  |  The Royal Institute of International Affairs </a:t>
            </a:r>
            <a:endParaRPr lang="en-US" dirty="0">
              <a:solidFill>
                <a:schemeClr val="bg1"/>
              </a:solidFill>
              <a:latin typeface="Georgia" pitchFamily="18" charset="0"/>
            </a:endParaRPr>
          </a:p>
        </p:txBody>
      </p:sp>
      <p:sp>
        <p:nvSpPr>
          <p:cNvPr id="4" name="Text Placeholder 3"/>
          <p:cNvSpPr txBox="1">
            <a:spLocks noGrp="1"/>
          </p:cNvSpPr>
          <p:nvPr>
            <p:ph type="body" sz="quarter" idx="10"/>
          </p:nvPr>
        </p:nvSpPr>
        <p:spPr>
          <a:xfrm>
            <a:off x="468312" y="1196975"/>
            <a:ext cx="8208143" cy="2209836"/>
          </a:xfrm>
          <a:prstGeom prst="rect">
            <a:avLst/>
          </a:prstGeom>
          <a:noFill/>
        </p:spPr>
        <p:txBody>
          <a:bodyPr wrap="square">
            <a:spAutoFit/>
          </a:bodyPr>
          <a:lstStyle/>
          <a:p>
            <a:pPr>
              <a:defRPr/>
            </a:pPr>
            <a:r>
              <a:rPr lang="en-US" sz="1600" dirty="0" smtClean="0">
                <a:cs typeface="Geneva" charset="0"/>
              </a:rPr>
              <a:t>For the full text of the Guidelines </a:t>
            </a:r>
            <a:r>
              <a:rPr lang="en-US" sz="1600" dirty="0">
                <a:cs typeface="Geneva" charset="0"/>
              </a:rPr>
              <a:t>for Good Governance in Emerging Oil and </a:t>
            </a:r>
            <a:r>
              <a:rPr lang="en-US" sz="1600" dirty="0" smtClean="0">
                <a:cs typeface="Geneva" charset="0"/>
              </a:rPr>
              <a:t>Gas Producers (3</a:t>
            </a:r>
            <a:r>
              <a:rPr lang="en-US" sz="1600" baseline="30000" dirty="0" smtClean="0">
                <a:cs typeface="Geneva" charset="0"/>
              </a:rPr>
              <a:t>rd</a:t>
            </a:r>
            <a:r>
              <a:rPr lang="en-US" sz="1600" dirty="0" smtClean="0">
                <a:cs typeface="Geneva" charset="0"/>
              </a:rPr>
              <a:t> Edition, 2016) please visit </a:t>
            </a:r>
            <a:r>
              <a:rPr lang="en-US" sz="1600" dirty="0" smtClean="0"/>
              <a:t>the </a:t>
            </a:r>
            <a:r>
              <a:rPr lang="en-US" sz="1600" dirty="0" smtClean="0">
                <a:hlinkClick r:id="rId2"/>
              </a:rPr>
              <a:t>Chatham House website</a:t>
            </a:r>
            <a:r>
              <a:rPr lang="en-US" sz="1600" dirty="0" smtClean="0">
                <a:cs typeface="Geneva" charset="0"/>
              </a:rPr>
              <a:t>.</a:t>
            </a:r>
            <a:endParaRPr lang="en-US" sz="1600" dirty="0">
              <a:cs typeface="Geneva" charset="0"/>
            </a:endParaRPr>
          </a:p>
          <a:p>
            <a:pPr>
              <a:defRPr/>
            </a:pPr>
            <a:endParaRPr lang="en-US" sz="1600" dirty="0" smtClean="0">
              <a:cs typeface="Geneva" charset="0"/>
            </a:endParaRPr>
          </a:p>
          <a:p>
            <a:pPr>
              <a:defRPr/>
            </a:pPr>
            <a:r>
              <a:rPr lang="en-US" sz="1600" dirty="0">
                <a:cs typeface="Geneva" charset="0"/>
              </a:rPr>
              <a:t>To discuss how your </a:t>
            </a:r>
            <a:r>
              <a:rPr lang="en-US" sz="1600" dirty="0" err="1">
                <a:cs typeface="Geneva" charset="0"/>
              </a:rPr>
              <a:t>organisation</a:t>
            </a:r>
            <a:r>
              <a:rPr lang="en-US" sz="1600" dirty="0">
                <a:cs typeface="Geneva" charset="0"/>
              </a:rPr>
              <a:t> can use the Guidelines as a roadmap for preparing the country for oil and gas, a checklist for benchmarking purposes, or a training or discussion tool, please contact </a:t>
            </a:r>
            <a:r>
              <a:rPr lang="en-US" sz="1600" dirty="0" err="1">
                <a:cs typeface="Geneva" charset="0"/>
              </a:rPr>
              <a:t>Dr</a:t>
            </a:r>
            <a:r>
              <a:rPr lang="en-US" sz="1600" dirty="0">
                <a:cs typeface="Geneva" charset="0"/>
              </a:rPr>
              <a:t> Valerie Marcel, </a:t>
            </a:r>
            <a:r>
              <a:rPr lang="en-US" sz="1600" dirty="0">
                <a:cs typeface="Geneva" charset="0"/>
                <a:hlinkClick r:id="rId3"/>
              </a:rPr>
              <a:t>vmarcel@chathamhouse.org</a:t>
            </a:r>
            <a:endParaRPr lang="en-US" sz="1600" dirty="0">
              <a:cs typeface="Geneva" charset="0"/>
            </a:endParaRPr>
          </a:p>
          <a:p>
            <a:pPr>
              <a:defRPr/>
            </a:pPr>
            <a:r>
              <a:rPr lang="en-US" sz="1600" dirty="0">
                <a:cs typeface="Geneva" charset="0"/>
              </a:rPr>
              <a:t>We would also like to hear how you used the Guidelines presentation and adapted its content to your national context. </a:t>
            </a:r>
          </a:p>
        </p:txBody>
      </p:sp>
      <p:sp>
        <p:nvSpPr>
          <p:cNvPr id="3" name="Slide Number Placeholder 2"/>
          <p:cNvSpPr>
            <a:spLocks noGrp="1"/>
          </p:cNvSpPr>
          <p:nvPr>
            <p:ph type="sldNum" sz="quarter" idx="4294967295"/>
          </p:nvPr>
        </p:nvSpPr>
        <p:spPr/>
        <p:txBody>
          <a:bodyPr/>
          <a:lstStyle/>
          <a:p>
            <a:fld id="{418A78CD-E27B-441A-A2B1-21C1D5FFEB65}" type="slidenum">
              <a:rPr lang="en-US" sz="1200" smtClean="0">
                <a:solidFill>
                  <a:schemeClr val="bg1"/>
                </a:solidFill>
                <a:latin typeface="Georgia" pitchFamily="18" charset="0"/>
              </a:rPr>
              <a:pPr/>
              <a:t>71</a:t>
            </a:fld>
            <a:endParaRPr lang="en-US" sz="1200" dirty="0">
              <a:solidFill>
                <a:schemeClr val="bg1"/>
              </a:solidFill>
              <a:latin typeface="Georgia" pitchFamily="18" charset="0"/>
            </a:endParaRPr>
          </a:p>
        </p:txBody>
      </p:sp>
    </p:spTree>
    <p:extLst>
      <p:ext uri="{BB962C8B-B14F-4D97-AF65-F5344CB8AC3E}">
        <p14:creationId xmlns:p14="http://schemas.microsoft.com/office/powerpoint/2010/main" val="365516277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25469</TotalTime>
  <Words>5894</Words>
  <Application>Microsoft Office PowerPoint</Application>
  <PresentationFormat>On-screen Show (4:3)</PresentationFormat>
  <Paragraphs>762</Paragraphs>
  <Slides>71</Slides>
  <Notes>6</Notes>
  <HiddenSlides>0</HiddenSlides>
  <MMClips>0</MMClips>
  <ScaleCrop>false</ScaleCrop>
  <HeadingPairs>
    <vt:vector size="4" baseType="variant">
      <vt:variant>
        <vt:lpstr>Theme</vt:lpstr>
      </vt:variant>
      <vt:variant>
        <vt:i4>1</vt:i4>
      </vt:variant>
      <vt:variant>
        <vt:lpstr>Slide Titles</vt:lpstr>
      </vt:variant>
      <vt:variant>
        <vt:i4>71</vt:i4>
      </vt:variant>
    </vt:vector>
  </HeadingPairs>
  <TitlesOfParts>
    <vt:vector size="7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Chatham House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Anthony Cunningham</dc:creator>
  <cp:lastModifiedBy>Sam Airey </cp:lastModifiedBy>
  <cp:revision>301</cp:revision>
  <dcterms:created xsi:type="dcterms:W3CDTF">2014-03-26T11:28:29Z</dcterms:created>
  <dcterms:modified xsi:type="dcterms:W3CDTF">2016-07-12T12:44:12Z</dcterms:modified>
</cp:coreProperties>
</file>